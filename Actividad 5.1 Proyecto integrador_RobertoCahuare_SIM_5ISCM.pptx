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0" r:id="rId4"/>
    <p:sldId id="287" r:id="rId5"/>
    <p:sldId id="286" r:id="rId6"/>
    <p:sldId id="291" r:id="rId7"/>
    <p:sldId id="292" r:id="rId8"/>
    <p:sldId id="293" r:id="rId9"/>
    <p:sldId id="294" r:id="rId10"/>
    <p:sldId id="295" r:id="rId11"/>
    <p:sldId id="296" r:id="rId12"/>
    <p:sldId id="258" r:id="rId13"/>
    <p:sldId id="259" r:id="rId14"/>
    <p:sldId id="260" r:id="rId15"/>
    <p:sldId id="261" r:id="rId16"/>
    <p:sldId id="264" r:id="rId17"/>
    <p:sldId id="265" r:id="rId18"/>
    <p:sldId id="263" r:id="rId19"/>
    <p:sldId id="262" r:id="rId20"/>
    <p:sldId id="266" r:id="rId21"/>
    <p:sldId id="267" r:id="rId22"/>
    <p:sldId id="268" r:id="rId23"/>
    <p:sldId id="269" r:id="rId24"/>
    <p:sldId id="271" r:id="rId25"/>
    <p:sldId id="272" r:id="rId26"/>
    <p:sldId id="270" r:id="rId27"/>
    <p:sldId id="273" r:id="rId28"/>
    <p:sldId id="274" r:id="rId29"/>
    <p:sldId id="275" r:id="rId30"/>
    <p:sldId id="276" r:id="rId31"/>
    <p:sldId id="278" r:id="rId32"/>
    <p:sldId id="279" r:id="rId33"/>
    <p:sldId id="280" r:id="rId34"/>
    <p:sldId id="281" r:id="rId35"/>
    <p:sldId id="282" r:id="rId36"/>
    <p:sldId id="283" r:id="rId37"/>
    <p:sldId id="284" r:id="rId38"/>
    <p:sldId id="277" r:id="rId39"/>
    <p:sldId id="285" r:id="rId40"/>
    <p:sldId id="297" r:id="rId41"/>
    <p:sldId id="288" r:id="rId42"/>
    <p:sldId id="289" r:id="rId4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3FA9061C-AA20-4253-BF99-D5691A3A0BFB}"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334300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3FA9061C-AA20-4253-BF99-D5691A3A0BFB}"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1710860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3FA9061C-AA20-4253-BF99-D5691A3A0BFB}"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3845870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3FA9061C-AA20-4253-BF99-D5691A3A0BFB}" type="datetimeFigureOut">
              <a:rPr lang="es-MX" smtClean="0"/>
              <a:t>03/10/2026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436565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3FA9061C-AA20-4253-BF99-D5691A3A0BFB}" type="datetimeFigureOut">
              <a:rPr lang="es-MX" smtClean="0"/>
              <a:t>03/10/2026</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2331140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3FA9061C-AA20-4253-BF99-D5691A3A0BFB}" type="datetimeFigureOut">
              <a:rPr lang="es-MX" smtClean="0"/>
              <a:t>03/10/2026</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2710161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FA9061C-AA20-4253-BF99-D5691A3A0BFB}" type="datetimeFigureOut">
              <a:rPr lang="es-MX" smtClean="0"/>
              <a:t>03/10/2026</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465579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3FA9061C-AA20-4253-BF99-D5691A3A0BFB}" type="datetimeFigureOut">
              <a:rPr lang="es-MX" smtClean="0"/>
              <a:t>03/10/2026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695952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3FA9061C-AA20-4253-BF99-D5691A3A0BFB}" type="datetimeFigureOut">
              <a:rPr lang="es-MX" smtClean="0"/>
              <a:t>03/10/2026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3028692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3FA9061C-AA20-4253-BF99-D5691A3A0BFB}"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141189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3FA9061C-AA20-4253-BF99-D5691A3A0BFB}"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BDCC3E18-CD05-4E55-9622-5C616CD4A235}" type="slidenum">
              <a:rPr lang="es-MX" smtClean="0"/>
              <a:t>‹Nº›</a:t>
            </a:fld>
            <a:endParaRPr lang="es-MX"/>
          </a:p>
        </p:txBody>
      </p:sp>
    </p:spTree>
    <p:extLst>
      <p:ext uri="{BB962C8B-B14F-4D97-AF65-F5344CB8AC3E}">
        <p14:creationId xmlns:p14="http://schemas.microsoft.com/office/powerpoint/2010/main" val="303418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A9061C-AA20-4253-BF99-D5691A3A0BFB}" type="datetimeFigureOut">
              <a:rPr lang="es-MX" smtClean="0"/>
              <a:t>03/10/2026</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C3E18-CD05-4E55-9622-5C616CD4A235}" type="slidenum">
              <a:rPr lang="es-MX" smtClean="0"/>
              <a:t>‹Nº›</a:t>
            </a:fld>
            <a:endParaRPr lang="es-MX"/>
          </a:p>
        </p:txBody>
      </p:sp>
    </p:spTree>
    <p:extLst>
      <p:ext uri="{BB962C8B-B14F-4D97-AF65-F5344CB8AC3E}">
        <p14:creationId xmlns:p14="http://schemas.microsoft.com/office/powerpoint/2010/main" val="2542593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hyperlink" Target="https://help.bizagi.com/platform/es/simulation_in_bizagi_st.htm" TargetMode="External"/><Relationship Id="rId2" Type="http://schemas.openxmlformats.org/officeDocument/2006/relationships/hyperlink" Target="https://help.bizagi.com/platform/es/intro_welcome.htm" TargetMode="External"/><Relationship Id="rId1" Type="http://schemas.openxmlformats.org/officeDocument/2006/relationships/slideLayout" Target="../slideLayouts/slideLayout1.xml"/><Relationship Id="rId5" Type="http://schemas.openxmlformats.org/officeDocument/2006/relationships/hyperlink" Target="https://es.scribd.com/document/95680252/Bonita-Open-Solution" TargetMode="External"/><Relationship Id="rId4" Type="http://schemas.openxmlformats.org/officeDocument/2006/relationships/hyperlink" Target="https://gobiernoygestionpublica.edu.pe/iggp/wp-content/uploads/2020/03/4.A_Manual_De_BizAgi.pdf"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p:cNvGraphicFramePr>
            <a:graphicFrameLocks noGrp="1"/>
          </p:cNvGraphicFramePr>
          <p:nvPr>
            <p:extLst>
              <p:ext uri="{D42A27DB-BD31-4B8C-83A1-F6EECF244321}">
                <p14:modId xmlns:p14="http://schemas.microsoft.com/office/powerpoint/2010/main" val="2918314986"/>
              </p:ext>
            </p:extLst>
          </p:nvPr>
        </p:nvGraphicFramePr>
        <p:xfrm>
          <a:off x="3025815" y="4355458"/>
          <a:ext cx="6407552" cy="621241"/>
        </p:xfrm>
        <a:graphic>
          <a:graphicData uri="http://schemas.openxmlformats.org/drawingml/2006/table">
            <a:tbl>
              <a:tblPr/>
              <a:tblGrid>
                <a:gridCol w="3203776">
                  <a:extLst>
                    <a:ext uri="{9D8B030D-6E8A-4147-A177-3AD203B41FA5}">
                      <a16:colId xmlns:a16="http://schemas.microsoft.com/office/drawing/2014/main" val="3868017447"/>
                    </a:ext>
                  </a:extLst>
                </a:gridCol>
                <a:gridCol w="3203776">
                  <a:extLst>
                    <a:ext uri="{9D8B030D-6E8A-4147-A177-3AD203B41FA5}">
                      <a16:colId xmlns:a16="http://schemas.microsoft.com/office/drawing/2014/main" val="590965609"/>
                    </a:ext>
                  </a:extLst>
                </a:gridCol>
              </a:tblGrid>
              <a:tr h="282067">
                <a:tc>
                  <a:txBody>
                    <a:bodyPr/>
                    <a:lstStyle/>
                    <a:p>
                      <a:r>
                        <a:rPr lang="es-MX" sz="1400" b="1">
                          <a:effectLst/>
                        </a:rPr>
                        <a:t>NOMBRE DEL ALUMNO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tc>
                  <a:txBody>
                    <a:bodyPr/>
                    <a:lstStyle/>
                    <a:p>
                      <a:r>
                        <a:rPr lang="es-MX" sz="1400" b="1" dirty="0">
                          <a:effectLst/>
                        </a:rPr>
                        <a:t>MATRICULA</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extLst>
                  <a:ext uri="{0D108BD9-81ED-4DB2-BD59-A6C34878D82A}">
                    <a16:rowId xmlns:a16="http://schemas.microsoft.com/office/drawing/2014/main" val="106463554"/>
                  </a:ext>
                </a:extLst>
              </a:tr>
              <a:tr h="316441">
                <a:tc>
                  <a:txBody>
                    <a:bodyPr/>
                    <a:lstStyle/>
                    <a:p>
                      <a:r>
                        <a:rPr lang="es-MX" sz="1400" b="1" dirty="0">
                          <a:effectLst/>
                        </a:rPr>
                        <a:t>ROBERTO CARLOS CAHUARE MORENO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sz="1400" b="1" dirty="0">
                          <a:effectLst/>
                        </a:rPr>
                        <a:t>241260048</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8367146"/>
                  </a:ext>
                </a:extLst>
              </a:tr>
            </a:tbl>
          </a:graphicData>
        </a:graphic>
      </p:graphicFrame>
      <p:sp>
        <p:nvSpPr>
          <p:cNvPr id="5" name="Freeform 3"/>
          <p:cNvSpPr/>
          <p:nvPr/>
        </p:nvSpPr>
        <p:spPr>
          <a:xfrm>
            <a:off x="993976" y="278001"/>
            <a:ext cx="2490004" cy="983241"/>
          </a:xfrm>
          <a:custGeom>
            <a:avLst/>
            <a:gdLst/>
            <a:ahLst/>
            <a:cxnLst/>
            <a:rect l="l" t="t" r="r" b="b"/>
            <a:pathLst>
              <a:path w="3657995" h="1617378">
                <a:moveTo>
                  <a:pt x="0" y="0"/>
                </a:moveTo>
                <a:lnTo>
                  <a:pt x="3657995" y="0"/>
                </a:lnTo>
                <a:lnTo>
                  <a:pt x="3657995" y="1617378"/>
                </a:lnTo>
                <a:lnTo>
                  <a:pt x="0" y="1617378"/>
                </a:lnTo>
                <a:lnTo>
                  <a:pt x="0" y="0"/>
                </a:lnTo>
                <a:close/>
              </a:path>
            </a:pathLst>
          </a:custGeom>
          <a:blipFill>
            <a:blip r:embed="rId2"/>
            <a:stretch>
              <a:fillRect/>
            </a:stretch>
          </a:blipFill>
        </p:spPr>
      </p:sp>
      <p:sp>
        <p:nvSpPr>
          <p:cNvPr id="6" name="Freeform 4"/>
          <p:cNvSpPr/>
          <p:nvPr/>
        </p:nvSpPr>
        <p:spPr>
          <a:xfrm>
            <a:off x="9433367" y="433955"/>
            <a:ext cx="1569954" cy="1186503"/>
          </a:xfrm>
          <a:custGeom>
            <a:avLst/>
            <a:gdLst/>
            <a:ahLst/>
            <a:cxnLst/>
            <a:rect l="l" t="t" r="r" b="b"/>
            <a:pathLst>
              <a:path w="2777579" h="2263213">
                <a:moveTo>
                  <a:pt x="0" y="0"/>
                </a:moveTo>
                <a:lnTo>
                  <a:pt x="2777579" y="0"/>
                </a:lnTo>
                <a:lnTo>
                  <a:pt x="2777579" y="2263212"/>
                </a:lnTo>
                <a:lnTo>
                  <a:pt x="0" y="2263212"/>
                </a:lnTo>
                <a:lnTo>
                  <a:pt x="0" y="0"/>
                </a:lnTo>
                <a:close/>
              </a:path>
            </a:pathLst>
          </a:custGeom>
          <a:blipFill>
            <a:blip r:embed="rId3"/>
            <a:stretch>
              <a:fillRect/>
            </a:stretch>
          </a:blipFill>
        </p:spPr>
      </p:sp>
      <p:sp>
        <p:nvSpPr>
          <p:cNvPr id="7" name="TextBox 2"/>
          <p:cNvSpPr txBox="1"/>
          <p:nvPr/>
        </p:nvSpPr>
        <p:spPr>
          <a:xfrm>
            <a:off x="405116" y="769620"/>
            <a:ext cx="11460479" cy="6360716"/>
          </a:xfrm>
          <a:prstGeom prst="rect">
            <a:avLst/>
          </a:prstGeom>
        </p:spPr>
        <p:txBody>
          <a:bodyPr wrap="square" lIns="0" tIns="0" rIns="0" bIns="0" rtlCol="0" anchor="t">
            <a:spAutoFit/>
          </a:bodyPr>
          <a:lstStyle/>
          <a:p>
            <a:pPr algn="ctr">
              <a:lnSpc>
                <a:spcPts val="1563"/>
              </a:lnSpc>
            </a:pPr>
            <a:r>
              <a:rPr lang="en-US" sz="1050" b="1" dirty="0">
                <a:solidFill>
                  <a:srgbClr val="000000"/>
                </a:solidFill>
                <a:latin typeface="Open Sans Bold"/>
                <a:ea typeface="Open Sans Bold"/>
                <a:cs typeface="Open Sans Bold"/>
                <a:sym typeface="Open Sans Bold"/>
              </a:rPr>
              <a:t>                        </a:t>
            </a:r>
          </a:p>
          <a:p>
            <a:pPr algn="ctr">
              <a:lnSpc>
                <a:spcPts val="1563"/>
              </a:lnSpc>
            </a:pPr>
            <a:endParaRPr lang="en-US" sz="105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TECNOLÓGICO NACIONAL DE MÉXICO</a:t>
            </a:r>
          </a:p>
          <a:p>
            <a:pPr algn="ctr">
              <a:lnSpc>
                <a:spcPts val="2604"/>
              </a:lnSpc>
            </a:pPr>
            <a:r>
              <a:rPr lang="en-US" sz="1400" b="1" dirty="0">
                <a:solidFill>
                  <a:srgbClr val="000000"/>
                </a:solidFill>
                <a:latin typeface="Open Sans Bold"/>
                <a:ea typeface="Open Sans Bold"/>
                <a:cs typeface="Open Sans Bold"/>
                <a:sym typeface="Open Sans Bold"/>
              </a:rPr>
              <a:t>INSTITUTO TECNOLÓGICO DE FRONTERA COMALAPA</a:t>
            </a:r>
          </a:p>
          <a:p>
            <a:pPr algn="ctr">
              <a:lnSpc>
                <a:spcPts val="2604"/>
              </a:lnSpc>
            </a:pPr>
            <a:r>
              <a:rPr lang="en-US" sz="1400" b="1" dirty="0">
                <a:solidFill>
                  <a:srgbClr val="000000"/>
                </a:solidFill>
                <a:latin typeface="Open Sans Bold"/>
                <a:ea typeface="Open Sans Bold"/>
                <a:cs typeface="Open Sans Bold"/>
                <a:sym typeface="Open Sans Bold"/>
              </a:rPr>
              <a:t>UNIDAD VENUSTIANO CARRANZA</a:t>
            </a:r>
          </a:p>
          <a:p>
            <a:pPr algn="ctr">
              <a:lnSpc>
                <a:spcPts val="1563"/>
              </a:lnSpc>
            </a:pPr>
            <a:endParaRPr lang="en-US" sz="10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“INGENIERÍA EN SISTEMAS COMPUTACIONALES”</a:t>
            </a:r>
          </a:p>
          <a:p>
            <a:pPr algn="ctr">
              <a:lnSpc>
                <a:spcPts val="2604"/>
              </a:lnSpc>
            </a:pPr>
            <a:endParaRPr lang="en-US" sz="14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“SIMULACION”</a:t>
            </a:r>
          </a:p>
          <a:p>
            <a:pPr algn="ctr">
              <a:lnSpc>
                <a:spcPts val="2604"/>
              </a:lnSpc>
            </a:pPr>
            <a:r>
              <a:rPr lang="en-US" sz="1400" dirty="0">
                <a:solidFill>
                  <a:srgbClr val="000000"/>
                </a:solidFill>
                <a:latin typeface="Open Sans"/>
                <a:ea typeface="Open Sans"/>
                <a:cs typeface="Open Sans"/>
                <a:sym typeface="Open Sans"/>
              </a:rPr>
              <a:t> QUINTO SEMESTRE</a:t>
            </a:r>
          </a:p>
          <a:p>
            <a:pPr algn="ctr">
              <a:lnSpc>
                <a:spcPts val="2604"/>
              </a:lnSpc>
            </a:pPr>
            <a:r>
              <a:rPr lang="en-US" sz="1400" b="1" dirty="0">
                <a:solidFill>
                  <a:srgbClr val="000000"/>
                </a:solidFill>
                <a:latin typeface="Open Sans Bold"/>
                <a:ea typeface="Open Sans Bold"/>
                <a:cs typeface="Open Sans Bold"/>
                <a:sym typeface="Open Sans Bold"/>
              </a:rPr>
              <a:t>ACTIVIDAD</a:t>
            </a:r>
          </a:p>
          <a:p>
            <a:pPr algn="ctr">
              <a:lnSpc>
                <a:spcPts val="2604"/>
              </a:lnSpc>
            </a:pPr>
            <a:r>
              <a:rPr lang="en-US" sz="1600" dirty="0" smtClean="0">
                <a:solidFill>
                  <a:srgbClr val="000000"/>
                </a:solidFill>
                <a:latin typeface="Open Sans"/>
                <a:ea typeface="Open Sans"/>
                <a:cs typeface="Open Sans"/>
                <a:sym typeface="Open Sans"/>
              </a:rPr>
              <a:t>Proyecto </a:t>
            </a:r>
            <a:r>
              <a:rPr lang="en-US" sz="1600" dirty="0" err="1" smtClean="0">
                <a:solidFill>
                  <a:srgbClr val="000000"/>
                </a:solidFill>
                <a:latin typeface="Open Sans"/>
                <a:ea typeface="Open Sans"/>
                <a:cs typeface="Open Sans"/>
                <a:sym typeface="Open Sans"/>
              </a:rPr>
              <a:t>integrador</a:t>
            </a: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PROFESOR</a:t>
            </a:r>
          </a:p>
          <a:p>
            <a:pPr algn="ctr">
              <a:lnSpc>
                <a:spcPts val="2604"/>
              </a:lnSpc>
            </a:pPr>
            <a:r>
              <a:rPr lang="en-US" sz="1400" dirty="0">
                <a:solidFill>
                  <a:srgbClr val="000000"/>
                </a:solidFill>
                <a:latin typeface="Open Sans"/>
                <a:ea typeface="Open Sans"/>
                <a:cs typeface="Open Sans"/>
                <a:sym typeface="Open Sans"/>
              </a:rPr>
              <a:t>ING. FRANCISCO JAVIER VELÁZQUEZ MINGO</a:t>
            </a: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                                                                                                  </a:t>
            </a:r>
            <a:r>
              <a:rPr lang="en-US" sz="1400" b="1" dirty="0" smtClean="0">
                <a:solidFill>
                  <a:srgbClr val="000000"/>
                </a:solidFill>
                <a:latin typeface="Open Sans Bold"/>
                <a:ea typeface="Open Sans Bold"/>
                <a:cs typeface="Open Sans Bold"/>
                <a:sym typeface="Open Sans Bold"/>
              </a:rPr>
              <a:t>4 </a:t>
            </a:r>
            <a:r>
              <a:rPr lang="en-US" sz="1400" b="1" dirty="0">
                <a:solidFill>
                  <a:srgbClr val="000000"/>
                </a:solidFill>
                <a:latin typeface="Open Sans Bold"/>
                <a:ea typeface="Open Sans Bold"/>
                <a:cs typeface="Open Sans Bold"/>
                <a:sym typeface="Open Sans Bold"/>
              </a:rPr>
              <a:t>DE OCTUBRE DEL 2026 VENUSTIANO CARRANZA, CHIAPAS</a:t>
            </a:r>
          </a:p>
          <a:p>
            <a:pPr algn="ctr">
              <a:lnSpc>
                <a:spcPts val="1563"/>
              </a:lnSpc>
            </a:pPr>
            <a:endParaRPr lang="en-US" sz="1600" b="1" dirty="0">
              <a:solidFill>
                <a:srgbClr val="000000"/>
              </a:solidFill>
              <a:latin typeface="Open Sans Bold"/>
              <a:ea typeface="Open Sans Bold"/>
              <a:cs typeface="Open Sans Bold"/>
              <a:sym typeface="Open Sans Bold"/>
            </a:endParaRPr>
          </a:p>
          <a:p>
            <a:pPr algn="ctr">
              <a:lnSpc>
                <a:spcPts val="1563"/>
              </a:lnSpc>
            </a:pPr>
            <a:endParaRPr lang="en-US" sz="1600" b="1" dirty="0">
              <a:solidFill>
                <a:srgbClr val="000000"/>
              </a:solidFill>
              <a:latin typeface="Open Sans Bold"/>
              <a:ea typeface="Open Sans Bold"/>
              <a:cs typeface="Open Sans Bold"/>
              <a:sym typeface="Open Sans Bold"/>
            </a:endParaRPr>
          </a:p>
        </p:txBody>
      </p:sp>
    </p:spTree>
    <p:extLst>
      <p:ext uri="{BB962C8B-B14F-4D97-AF65-F5344CB8AC3E}">
        <p14:creationId xmlns:p14="http://schemas.microsoft.com/office/powerpoint/2010/main" val="31377213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RESUMEN</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202222" y="839743"/>
            <a:ext cx="11869615" cy="5909310"/>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El presente proyecto integrador tiene como finalidad modelar, simular y automatizar el proceso de atención de un taller de electrónica mediante el uso de herramientas de gestión de procesos de negocio. El proyecto contempla el procesamiento de un lote de 50 dispositivos, considerando las diferentes actividades que intervienen desde la recepción del equipo hasta su entrega final</a:t>
            </a:r>
            <a:r>
              <a:rPr lang="es-MX" dirty="0" smtClean="0">
                <a:latin typeface="Arial" panose="020B0604020202020204" pitchFamily="34" charset="0"/>
                <a:cs typeface="Arial" panose="020B0604020202020204" pitchFamily="34" charset="0"/>
              </a:rPr>
              <a:t>. Para </a:t>
            </a:r>
            <a:r>
              <a:rPr lang="es-MX" dirty="0">
                <a:latin typeface="Arial" panose="020B0604020202020204" pitchFamily="34" charset="0"/>
                <a:cs typeface="Arial" panose="020B0604020202020204" pitchFamily="34" charset="0"/>
              </a:rPr>
              <a:t>representar el proceso se emplea el estándar BPMN </a:t>
            </a:r>
            <a:r>
              <a:rPr lang="es-MX" dirty="0" smtClean="0">
                <a:latin typeface="Arial" panose="020B0604020202020204" pitchFamily="34" charset="0"/>
                <a:cs typeface="Arial" panose="020B0604020202020204" pitchFamily="34" charset="0"/>
              </a:rPr>
              <a:t>2.0, </a:t>
            </a:r>
            <a:r>
              <a:rPr lang="es-MX" dirty="0">
                <a:latin typeface="Arial" panose="020B0604020202020204" pitchFamily="34" charset="0"/>
                <a:cs typeface="Arial" panose="020B0604020202020204" pitchFamily="34" charset="0"/>
              </a:rPr>
              <a:t>permitiendo identificar de manera gráfica las actividades, eventos, decisiones, responsables y flujos que forman parte del funcionamiento del taller. </a:t>
            </a:r>
            <a:r>
              <a:rPr lang="es-MX" dirty="0" smtClean="0">
                <a:latin typeface="Arial" panose="020B0604020202020204" pitchFamily="34" charset="0"/>
                <a:cs typeface="Arial" panose="020B0604020202020204" pitchFamily="34" charset="0"/>
              </a:rPr>
              <a:t>Posteriormente se realizo en </a:t>
            </a:r>
            <a:r>
              <a:rPr lang="es-MX" dirty="0" err="1" smtClean="0">
                <a:latin typeface="Arial" panose="020B0604020202020204" pitchFamily="34" charset="0"/>
                <a:cs typeface="Arial" panose="020B0604020202020204" pitchFamily="34" charset="0"/>
              </a:rPr>
              <a:t>camunda</a:t>
            </a:r>
            <a:r>
              <a:rPr lang="es-MX" dirty="0" smtClean="0">
                <a:latin typeface="Arial" panose="020B0604020202020204" pitchFamily="34" charset="0"/>
                <a:cs typeface="Arial" panose="020B0604020202020204" pitchFamily="34" charset="0"/>
              </a:rPr>
              <a:t> como una herramienta mas sencilla para comprender mejor todas las etapas, después el </a:t>
            </a:r>
            <a:r>
              <a:rPr lang="es-MX" dirty="0">
                <a:latin typeface="Arial" panose="020B0604020202020204" pitchFamily="34" charset="0"/>
                <a:cs typeface="Arial" panose="020B0604020202020204" pitchFamily="34" charset="0"/>
              </a:rPr>
              <a:t>modelo es desarrollado y analizado mediante la herramienta </a:t>
            </a:r>
            <a:r>
              <a:rPr lang="es-MX" dirty="0" err="1">
                <a:latin typeface="Arial" panose="020B0604020202020204" pitchFamily="34" charset="0"/>
                <a:cs typeface="Arial" panose="020B0604020202020204" pitchFamily="34" charset="0"/>
              </a:rPr>
              <a:t>Bizagi</a:t>
            </a:r>
            <a:r>
              <a:rPr lang="es-MX" dirty="0">
                <a:latin typeface="Arial" panose="020B0604020202020204" pitchFamily="34" charset="0"/>
                <a:cs typeface="Arial" panose="020B0604020202020204" pitchFamily="34" charset="0"/>
              </a:rPr>
              <a:t>, donde se consideran aspectos como los tiempos de las actividades, los recursos disponibles, la cantidad de dispositivos y el porcentaje de </a:t>
            </a:r>
            <a:r>
              <a:rPr lang="es-MX" dirty="0" err="1">
                <a:latin typeface="Arial" panose="020B0604020202020204" pitchFamily="34" charset="0"/>
                <a:cs typeface="Arial" panose="020B0604020202020204" pitchFamily="34" charset="0"/>
              </a:rPr>
              <a:t>retrabajo.Como</a:t>
            </a:r>
            <a:r>
              <a:rPr lang="es-MX" dirty="0">
                <a:latin typeface="Arial" panose="020B0604020202020204" pitchFamily="34" charset="0"/>
                <a:cs typeface="Arial" panose="020B0604020202020204" pitchFamily="34" charset="0"/>
              </a:rPr>
              <a:t> segunda etapa, el proceso es llevado a un entorno de automatización mediante Bonita Studio, permitiendo transformar el modelo de procesos en una aplicación ejecutable. A través de Bonita </a:t>
            </a:r>
            <a:r>
              <a:rPr lang="es-MX" dirty="0" err="1">
                <a:latin typeface="Arial" panose="020B0604020202020204" pitchFamily="34" charset="0"/>
                <a:cs typeface="Arial" panose="020B0604020202020204" pitchFamily="34" charset="0"/>
              </a:rPr>
              <a:t>User</a:t>
            </a:r>
            <a:r>
              <a:rPr lang="es-MX" dirty="0">
                <a:latin typeface="Arial" panose="020B0604020202020204" pitchFamily="34" charset="0"/>
                <a:cs typeface="Arial" panose="020B0604020202020204" pitchFamily="34" charset="0"/>
              </a:rPr>
              <a:t> </a:t>
            </a:r>
            <a:r>
              <a:rPr lang="es-MX" dirty="0" err="1">
                <a:latin typeface="Arial" panose="020B0604020202020204" pitchFamily="34" charset="0"/>
                <a:cs typeface="Arial" panose="020B0604020202020204" pitchFamily="34" charset="0"/>
              </a:rPr>
              <a:t>Application</a:t>
            </a:r>
            <a:r>
              <a:rPr lang="es-MX" dirty="0">
                <a:latin typeface="Arial" panose="020B0604020202020204" pitchFamily="34" charset="0"/>
                <a:cs typeface="Arial" panose="020B0604020202020204" pitchFamily="34" charset="0"/>
              </a:rPr>
              <a:t> es posible iniciar casos, gestionar tareas y observar el funcionamiento del proceso desde la perspectiva de los usuarios </a:t>
            </a:r>
            <a:r>
              <a:rPr lang="es-MX" dirty="0" err="1">
                <a:latin typeface="Arial" panose="020B0604020202020204" pitchFamily="34" charset="0"/>
                <a:cs typeface="Arial" panose="020B0604020202020204" pitchFamily="34" charset="0"/>
              </a:rPr>
              <a:t>involucrados.La</a:t>
            </a:r>
            <a:r>
              <a:rPr lang="es-MX" dirty="0">
                <a:latin typeface="Arial" panose="020B0604020202020204" pitchFamily="34" charset="0"/>
                <a:cs typeface="Arial" panose="020B0604020202020204" pitchFamily="34" charset="0"/>
              </a:rPr>
              <a:t> integración de estas herramientas permite analizar el proceso desde diferentes perspectivas, pasando del diseño conceptual a la simulación y posteriormente a la ejecución digital. </a:t>
            </a:r>
          </a:p>
        </p:txBody>
      </p:sp>
    </p:spTree>
    <p:extLst>
      <p:ext uri="{BB962C8B-B14F-4D97-AF65-F5344CB8AC3E}">
        <p14:creationId xmlns:p14="http://schemas.microsoft.com/office/powerpoint/2010/main" val="33863731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INTRODUCCIÓN</a:t>
            </a:r>
          </a:p>
        </p:txBody>
      </p:sp>
      <p:sp>
        <p:nvSpPr>
          <p:cNvPr id="3" name="CuadroTexto 2"/>
          <p:cNvSpPr txBox="1"/>
          <p:nvPr/>
        </p:nvSpPr>
        <p:spPr>
          <a:xfrm>
            <a:off x="1238491" y="1415560"/>
            <a:ext cx="9676436" cy="3365024"/>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El presente proyecto integrador aborda el diseño, la simulación y la implementación de un proceso operativo para un taller de reparación de electrónica, optimizando el flujo de trabajo de un lote de 50 dispositivos a través de cinco etapas clave: recepción, diagnóstico, reparación, control de calidad y entrega. Mediante el uso de herramientas de ingeniería y modelado de procesos como </a:t>
            </a:r>
            <a:r>
              <a:rPr lang="es-MX" dirty="0" err="1" smtClean="0">
                <a:latin typeface="Arial" panose="020B0604020202020204" pitchFamily="34" charset="0"/>
                <a:cs typeface="Arial" panose="020B0604020202020204" pitchFamily="34" charset="0"/>
              </a:rPr>
              <a:t>Bizagi</a:t>
            </a:r>
            <a:r>
              <a:rPr lang="es-MX" dirty="0" smtClean="0">
                <a:latin typeface="Arial" panose="020B0604020202020204" pitchFamily="34" charset="0"/>
                <a:cs typeface="Arial" panose="020B0604020202020204" pitchFamily="34" charset="0"/>
              </a:rPr>
              <a:t> </a:t>
            </a:r>
            <a:r>
              <a:rPr lang="es-MX" dirty="0" err="1" smtClean="0">
                <a:latin typeface="Arial" panose="020B0604020202020204" pitchFamily="34" charset="0"/>
                <a:cs typeface="Arial" panose="020B0604020202020204" pitchFamily="34" charset="0"/>
              </a:rPr>
              <a:t>Modeler</a:t>
            </a:r>
            <a:r>
              <a:rPr lang="es-MX" dirty="0" smtClean="0">
                <a:latin typeface="Arial" panose="020B0604020202020204" pitchFamily="34" charset="0"/>
                <a:cs typeface="Arial" panose="020B0604020202020204" pitchFamily="34" charset="0"/>
              </a:rPr>
              <a:t> y Bonita Studio, se ha logrado estructurar una arquitectura operativa capaz de analizar el rendimiento cuantitativo, identificar cuellos de botella derivados de la saturación de recursos humanos y estandarizar la lógica de negocio bajo el estándar internacional BPMN 2.0.</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04545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391132" y="839743"/>
            <a:ext cx="9676436" cy="5442516"/>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Objetivo General: Diseñar, simular y desplegar el modelo de procesos de un taller de reparación de electrónica para optimizar la gestión de lotes de dispositivos, evaluar la saturación de recursos y automatizar el flujo de trabajo mediante herramientas de modelado y ejecución BPMN.</a:t>
            </a:r>
          </a:p>
          <a:p>
            <a:pPr algn="just">
              <a:lnSpc>
                <a:spcPct val="150000"/>
              </a:lnSpc>
            </a:pPr>
            <a:r>
              <a:rPr lang="es-MX" dirty="0" smtClean="0">
                <a:latin typeface="Arial" panose="020B0604020202020204" pitchFamily="34" charset="0"/>
                <a:cs typeface="Arial" panose="020B0604020202020204" pitchFamily="34" charset="0"/>
              </a:rPr>
              <a:t>Objetivos </a:t>
            </a:r>
            <a:r>
              <a:rPr lang="es-MX" dirty="0" err="1" smtClean="0">
                <a:latin typeface="Arial" panose="020B0604020202020204" pitchFamily="34" charset="0"/>
                <a:cs typeface="Arial" panose="020B0604020202020204" pitchFamily="34" charset="0"/>
              </a:rPr>
              <a:t>Específicos:Estructurar</a:t>
            </a:r>
            <a:r>
              <a:rPr lang="es-MX" dirty="0" smtClean="0">
                <a:latin typeface="Arial" panose="020B0604020202020204" pitchFamily="34" charset="0"/>
                <a:cs typeface="Arial" panose="020B0604020202020204" pitchFamily="34" charset="0"/>
              </a:rPr>
              <a:t> el diagrama de flujo operativo en </a:t>
            </a:r>
            <a:r>
              <a:rPr lang="es-MX" dirty="0" err="1" smtClean="0">
                <a:latin typeface="Arial" panose="020B0604020202020204" pitchFamily="34" charset="0"/>
                <a:cs typeface="Arial" panose="020B0604020202020204" pitchFamily="34" charset="0"/>
              </a:rPr>
              <a:t>Bizagi</a:t>
            </a:r>
            <a:r>
              <a:rPr lang="es-MX" dirty="0" smtClean="0">
                <a:latin typeface="Arial" panose="020B0604020202020204" pitchFamily="34" charset="0"/>
                <a:cs typeface="Arial" panose="020B0604020202020204" pitchFamily="34" charset="0"/>
              </a:rPr>
              <a:t> </a:t>
            </a:r>
            <a:r>
              <a:rPr lang="es-MX" dirty="0" err="1" smtClean="0">
                <a:latin typeface="Arial" panose="020B0604020202020204" pitchFamily="34" charset="0"/>
                <a:cs typeface="Arial" panose="020B0604020202020204" pitchFamily="34" charset="0"/>
              </a:rPr>
              <a:t>Modeler</a:t>
            </a:r>
            <a:r>
              <a:rPr lang="es-MX" dirty="0" smtClean="0">
                <a:latin typeface="Arial" panose="020B0604020202020204" pitchFamily="34" charset="0"/>
                <a:cs typeface="Arial" panose="020B0604020202020204" pitchFamily="34" charset="0"/>
              </a:rPr>
              <a:t> contemplando las fases de recepción, diagnóstico, reparación, control de calidad y un bucle de </a:t>
            </a:r>
            <a:r>
              <a:rPr lang="es-MX" dirty="0" err="1" smtClean="0">
                <a:latin typeface="Arial" panose="020B0604020202020204" pitchFamily="34" charset="0"/>
                <a:cs typeface="Arial" panose="020B0604020202020204" pitchFamily="34" charset="0"/>
              </a:rPr>
              <a:t>retrabajo</a:t>
            </a:r>
            <a:r>
              <a:rPr lang="es-MX" dirty="0" smtClean="0">
                <a:latin typeface="Arial" panose="020B0604020202020204" pitchFamily="34" charset="0"/>
                <a:cs typeface="Arial" panose="020B0604020202020204" pitchFamily="34" charset="0"/>
              </a:rPr>
              <a:t> del 20%.</a:t>
            </a:r>
          </a:p>
          <a:p>
            <a:pPr algn="just">
              <a:lnSpc>
                <a:spcPct val="150000"/>
              </a:lnSpc>
            </a:pPr>
            <a:r>
              <a:rPr lang="es-MX" dirty="0" smtClean="0">
                <a:latin typeface="Arial" panose="020B0604020202020204" pitchFamily="34" charset="0"/>
                <a:cs typeface="Arial" panose="020B0604020202020204" pitchFamily="34" charset="0"/>
              </a:rPr>
              <a:t>Analizar los resultados de simulación cuantitativa (Escenario 1) para medir los tiempos de ejecución, los tiempos muertos y los niveles de utilización del personal técnico.</a:t>
            </a:r>
          </a:p>
          <a:p>
            <a:pPr algn="just">
              <a:lnSpc>
                <a:spcPct val="150000"/>
              </a:lnSpc>
            </a:pPr>
            <a:r>
              <a:rPr lang="es-MX" dirty="0" err="1" smtClean="0">
                <a:latin typeface="Arial" panose="020B0604020202020204" pitchFamily="34" charset="0"/>
                <a:cs typeface="Arial" panose="020B0604020202020204" pitchFamily="34" charset="0"/>
              </a:rPr>
              <a:t>Transicionar</a:t>
            </a:r>
            <a:r>
              <a:rPr lang="es-MX" dirty="0" smtClean="0">
                <a:latin typeface="Arial" panose="020B0604020202020204" pitchFamily="34" charset="0"/>
                <a:cs typeface="Arial" panose="020B0604020202020204" pitchFamily="34" charset="0"/>
              </a:rPr>
              <a:t> el modelo analítico hacia un entorno de ejecución en Bonita Studio, configurando piscinas, carriles organizativos y compuertas de decisión lógica.</a:t>
            </a:r>
          </a:p>
          <a:p>
            <a:pPr algn="just">
              <a:lnSpc>
                <a:spcPct val="150000"/>
              </a:lnSpc>
            </a:pPr>
            <a:r>
              <a:rPr lang="es-MX" dirty="0" smtClean="0">
                <a:latin typeface="Arial" panose="020B0604020202020204" pitchFamily="34" charset="0"/>
                <a:cs typeface="Arial" panose="020B0604020202020204" pitchFamily="34" charset="0"/>
              </a:rPr>
              <a:t>Verificar la operatividad del sistema mediante la gestión de casos y el despliegue en la aplicación de usuario de Bonita.</a:t>
            </a:r>
            <a:endParaRPr lang="es-MX" dirty="0">
              <a:latin typeface="Arial" panose="020B0604020202020204" pitchFamily="34" charset="0"/>
              <a:cs typeface="Arial" panose="020B0604020202020204" pitchFamily="34" charset="0"/>
            </a:endParaRPr>
          </a:p>
        </p:txBody>
      </p:sp>
      <p:sp>
        <p:nvSpPr>
          <p:cNvPr id="4" name="CuadroTexto 3"/>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OBJETIVOS</a:t>
            </a:r>
            <a:endParaRPr lang="es-MX"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65998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536331" y="712175"/>
            <a:ext cx="11465169" cy="6273512"/>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La realización de este proyecto se justifica por la necesidad de comprender y mejorar la manera en que se desarrollan las actividades dentro de un taller de electrónica. Cuando un proceso está compuesto por diferentes actividades y responsables, resulta importante contar con una representación clara que permita conocer el orden en que se realizan las tareas y las decisiones que deben tomarse en cada etapa</a:t>
            </a:r>
            <a:r>
              <a:rPr lang="es-MX" dirty="0" smtClean="0">
                <a:latin typeface="Arial" panose="020B0604020202020204" pitchFamily="34" charset="0"/>
                <a:cs typeface="Arial" panose="020B0604020202020204" pitchFamily="34" charset="0"/>
              </a:rPr>
              <a:t>. El </a:t>
            </a:r>
            <a:r>
              <a:rPr lang="es-MX" dirty="0">
                <a:latin typeface="Arial" panose="020B0604020202020204" pitchFamily="34" charset="0"/>
                <a:cs typeface="Arial" panose="020B0604020202020204" pitchFamily="34" charset="0"/>
              </a:rPr>
              <a:t>modelado mediante BPMN 2.0 permite representar visualmente el proceso y facilita la identificación de sus principales componentes. De esta manera, es posible observar el recorrido que sigue cada dispositivo desde su recepción hasta su entrega, así como las decisiones que pueden generar diferentes caminos dentro del proceso</a:t>
            </a:r>
            <a:r>
              <a:rPr lang="es-MX" dirty="0" smtClean="0">
                <a:latin typeface="Arial" panose="020B0604020202020204" pitchFamily="34" charset="0"/>
                <a:cs typeface="Arial" panose="020B0604020202020204" pitchFamily="34" charset="0"/>
              </a:rPr>
              <a:t>. La </a:t>
            </a:r>
            <a:r>
              <a:rPr lang="es-MX" dirty="0">
                <a:latin typeface="Arial" panose="020B0604020202020204" pitchFamily="34" charset="0"/>
                <a:cs typeface="Arial" panose="020B0604020202020204" pitchFamily="34" charset="0"/>
              </a:rPr>
              <a:t>utilización de </a:t>
            </a:r>
            <a:r>
              <a:rPr lang="es-MX" dirty="0" err="1">
                <a:latin typeface="Arial" panose="020B0604020202020204" pitchFamily="34" charset="0"/>
                <a:cs typeface="Arial" panose="020B0604020202020204" pitchFamily="34" charset="0"/>
              </a:rPr>
              <a:t>Bizagi</a:t>
            </a:r>
            <a:r>
              <a:rPr lang="es-MX" dirty="0">
                <a:latin typeface="Arial" panose="020B0604020202020204" pitchFamily="34" charset="0"/>
                <a:cs typeface="Arial" panose="020B0604020202020204" pitchFamily="34" charset="0"/>
              </a:rPr>
              <a:t> permite complementar el modelado mediante la simulación del proceso. Esto resulta importante porque no solamente se observa cómo debería funcionar el proceso, sino que también es posible analizar su comportamiento bajo determinadas condiciones. La simulación permite considerar variables como el número de dispositivos, los tiempos de las actividades, los recursos utilizados y el porcentaje de </a:t>
            </a:r>
            <a:r>
              <a:rPr lang="es-MX" dirty="0" err="1">
                <a:latin typeface="Arial" panose="020B0604020202020204" pitchFamily="34" charset="0"/>
                <a:cs typeface="Arial" panose="020B0604020202020204" pitchFamily="34" charset="0"/>
              </a:rPr>
              <a:t>retrabajo</a:t>
            </a:r>
            <a:r>
              <a:rPr lang="es-MX" dirty="0" smtClean="0">
                <a:latin typeface="Arial" panose="020B0604020202020204" pitchFamily="34" charset="0"/>
                <a:cs typeface="Arial" panose="020B0604020202020204" pitchFamily="34" charset="0"/>
              </a:rPr>
              <a:t>. Por </a:t>
            </a:r>
            <a:r>
              <a:rPr lang="es-MX" dirty="0">
                <a:latin typeface="Arial" panose="020B0604020202020204" pitchFamily="34" charset="0"/>
                <a:cs typeface="Arial" panose="020B0604020202020204" pitchFamily="34" charset="0"/>
              </a:rPr>
              <a:t>otra parte, la implementación en Bonita Studio permite llevar el modelo a un entorno de ejecución. Esto demuestra que un diagrama de procesos no solamente puede utilizarse como una representación gráfica, sino que también puede convertirse en una herramienta para gestionar actividades reales dentro de </a:t>
            </a:r>
            <a:r>
              <a:rPr lang="es-MX" dirty="0" smtClean="0">
                <a:latin typeface="Arial" panose="020B0604020202020204" pitchFamily="34" charset="0"/>
                <a:cs typeface="Arial" panose="020B0604020202020204" pitchFamily="34" charset="0"/>
              </a:rPr>
              <a:t>un sistema.</a:t>
            </a:r>
            <a:endParaRPr lang="es-MX" dirty="0">
              <a:latin typeface="Arial" panose="020B0604020202020204" pitchFamily="34" charset="0"/>
              <a:cs typeface="Arial" panose="020B0604020202020204" pitchFamily="34" charset="0"/>
            </a:endParaRPr>
          </a:p>
        </p:txBody>
      </p:sp>
      <p:sp>
        <p:nvSpPr>
          <p:cNvPr id="4" name="CuadroTexto 3"/>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JUSTIFICACIÓN</a:t>
            </a:r>
            <a:endParaRPr lang="es-MX"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5338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496765" y="839743"/>
            <a:ext cx="11465169" cy="6001643"/>
          </a:xfrm>
          <a:prstGeom prst="rect">
            <a:avLst/>
          </a:prstGeom>
          <a:noFill/>
        </p:spPr>
        <p:txBody>
          <a:bodyPr wrap="square" rtlCol="0">
            <a:spAutoFit/>
          </a:bodyPr>
          <a:lstStyle/>
          <a:p>
            <a:pPr algn="just">
              <a:lnSpc>
                <a:spcPct val="150000"/>
              </a:lnSpc>
            </a:pPr>
            <a:r>
              <a:rPr lang="es-MX" sz="1600" b="1" dirty="0">
                <a:latin typeface="Arial" panose="020B0604020202020204" pitchFamily="34" charset="0"/>
                <a:cs typeface="Arial" panose="020B0604020202020204" pitchFamily="34" charset="0"/>
              </a:rPr>
              <a:t>Gestión y modelado de </a:t>
            </a:r>
            <a:r>
              <a:rPr lang="es-MX" sz="1600" b="1" dirty="0" smtClean="0">
                <a:latin typeface="Arial" panose="020B0604020202020204" pitchFamily="34" charset="0"/>
                <a:cs typeface="Arial" panose="020B0604020202020204" pitchFamily="34" charset="0"/>
              </a:rPr>
              <a:t>procesos. </a:t>
            </a:r>
          </a:p>
          <a:p>
            <a:pPr algn="just">
              <a:lnSpc>
                <a:spcPct val="150000"/>
              </a:lnSpc>
            </a:pPr>
            <a:r>
              <a:rPr lang="es-MX" sz="1600" dirty="0" smtClean="0">
                <a:latin typeface="Arial" panose="020B0604020202020204" pitchFamily="34" charset="0"/>
                <a:cs typeface="Arial" panose="020B0604020202020204" pitchFamily="34" charset="0"/>
              </a:rPr>
              <a:t>La </a:t>
            </a:r>
            <a:r>
              <a:rPr lang="es-MX" sz="1600" dirty="0">
                <a:latin typeface="Arial" panose="020B0604020202020204" pitchFamily="34" charset="0"/>
                <a:cs typeface="Arial" panose="020B0604020202020204" pitchFamily="34" charset="0"/>
              </a:rPr>
              <a:t>gestión de procesos consiste en analizar, organizar y mejorar las actividades que se realizan dentro de una organización para alcanzar determinados objetivos. Un proceso está formado por un conjunto de actividades relacionadas entre sí que reciben determinadas entradas y generan resultados</a:t>
            </a:r>
            <a:r>
              <a:rPr lang="es-MX" sz="1600" dirty="0" smtClean="0">
                <a:latin typeface="Arial" panose="020B0604020202020204" pitchFamily="34" charset="0"/>
                <a:cs typeface="Arial" panose="020B0604020202020204" pitchFamily="34" charset="0"/>
              </a:rPr>
              <a:t>. El </a:t>
            </a:r>
            <a:r>
              <a:rPr lang="es-MX" sz="1600" dirty="0">
                <a:latin typeface="Arial" panose="020B0604020202020204" pitchFamily="34" charset="0"/>
                <a:cs typeface="Arial" panose="020B0604020202020204" pitchFamily="34" charset="0"/>
              </a:rPr>
              <a:t>modelado de procesos permite representar gráficamente estas actividades con el propósito de comprender cómo funciona una organización. Mediante un modelo es posible identificar responsables, recursos, decisiones, entradas, salidas y relaciones entre las diferentes </a:t>
            </a:r>
            <a:r>
              <a:rPr lang="es-MX" sz="1600" dirty="0" err="1">
                <a:latin typeface="Arial" panose="020B0604020202020204" pitchFamily="34" charset="0"/>
                <a:cs typeface="Arial" panose="020B0604020202020204" pitchFamily="34" charset="0"/>
              </a:rPr>
              <a:t>actividades.En</a:t>
            </a:r>
            <a:r>
              <a:rPr lang="es-MX" sz="1600" dirty="0">
                <a:latin typeface="Arial" panose="020B0604020202020204" pitchFamily="34" charset="0"/>
                <a:cs typeface="Arial" panose="020B0604020202020204" pitchFamily="34" charset="0"/>
              </a:rPr>
              <a:t> el caso de un taller de electrónica, el modelado permite representar el recorrido que sigue un dispositivo desde que es recibido hasta que termina su proceso de reparación y es entregado</a:t>
            </a:r>
            <a:r>
              <a:rPr lang="es-MX" sz="1600" dirty="0" smtClean="0">
                <a:latin typeface="Arial" panose="020B0604020202020204" pitchFamily="34" charset="0"/>
                <a:cs typeface="Arial" panose="020B0604020202020204" pitchFamily="34" charset="0"/>
              </a:rPr>
              <a:t>.</a:t>
            </a:r>
          </a:p>
          <a:p>
            <a:pPr algn="just">
              <a:lnSpc>
                <a:spcPct val="150000"/>
              </a:lnSpc>
            </a:pPr>
            <a:endParaRPr lang="es-MX" sz="1600" dirty="0" smtClean="0">
              <a:latin typeface="Arial" panose="020B0604020202020204" pitchFamily="34" charset="0"/>
              <a:cs typeface="Arial" panose="020B0604020202020204" pitchFamily="34" charset="0"/>
            </a:endParaRPr>
          </a:p>
          <a:p>
            <a:pPr algn="just">
              <a:lnSpc>
                <a:spcPct val="150000"/>
              </a:lnSpc>
            </a:pPr>
            <a:r>
              <a:rPr lang="es-MX" sz="1600" dirty="0">
                <a:latin typeface="Arial" panose="020B0604020202020204" pitchFamily="34" charset="0"/>
                <a:cs typeface="Arial" panose="020B0604020202020204" pitchFamily="34" charset="0"/>
              </a:rPr>
              <a:t>BPM y BPMN 2.0BPM, por sus siglas en inglés Business </a:t>
            </a:r>
            <a:r>
              <a:rPr lang="es-MX" sz="1600" dirty="0" err="1">
                <a:latin typeface="Arial" panose="020B0604020202020204" pitchFamily="34" charset="0"/>
                <a:cs typeface="Arial" panose="020B0604020202020204" pitchFamily="34" charset="0"/>
              </a:rPr>
              <a:t>Process</a:t>
            </a:r>
            <a:r>
              <a:rPr lang="es-MX" sz="1600" dirty="0">
                <a:latin typeface="Arial" panose="020B0604020202020204" pitchFamily="34" charset="0"/>
                <a:cs typeface="Arial" panose="020B0604020202020204" pitchFamily="34" charset="0"/>
              </a:rPr>
              <a:t> Management, es una disciplina orientada a la gestión, análisis y mejora de los procesos de una </a:t>
            </a:r>
            <a:r>
              <a:rPr lang="es-MX" sz="1600" dirty="0" err="1">
                <a:latin typeface="Arial" panose="020B0604020202020204" pitchFamily="34" charset="0"/>
                <a:cs typeface="Arial" panose="020B0604020202020204" pitchFamily="34" charset="0"/>
              </a:rPr>
              <a:t>organización.BPMN</a:t>
            </a:r>
            <a:r>
              <a:rPr lang="es-MX" sz="1600" dirty="0">
                <a:latin typeface="Arial" panose="020B0604020202020204" pitchFamily="34" charset="0"/>
                <a:cs typeface="Arial" panose="020B0604020202020204" pitchFamily="34" charset="0"/>
              </a:rPr>
              <a:t>, Business </a:t>
            </a:r>
            <a:r>
              <a:rPr lang="es-MX" sz="1600" dirty="0" err="1">
                <a:latin typeface="Arial" panose="020B0604020202020204" pitchFamily="34" charset="0"/>
                <a:cs typeface="Arial" panose="020B0604020202020204" pitchFamily="34" charset="0"/>
              </a:rPr>
              <a:t>Process</a:t>
            </a:r>
            <a:r>
              <a:rPr lang="es-MX" sz="1600" dirty="0">
                <a:latin typeface="Arial" panose="020B0604020202020204" pitchFamily="34" charset="0"/>
                <a:cs typeface="Arial" panose="020B0604020202020204" pitchFamily="34" charset="0"/>
              </a:rPr>
              <a:t> </a:t>
            </a:r>
            <a:r>
              <a:rPr lang="es-MX" sz="1600" dirty="0" err="1">
                <a:latin typeface="Arial" panose="020B0604020202020204" pitchFamily="34" charset="0"/>
                <a:cs typeface="Arial" panose="020B0604020202020204" pitchFamily="34" charset="0"/>
              </a:rPr>
              <a:t>Model</a:t>
            </a:r>
            <a:r>
              <a:rPr lang="es-MX" sz="1600" dirty="0">
                <a:latin typeface="Arial" panose="020B0604020202020204" pitchFamily="34" charset="0"/>
                <a:cs typeface="Arial" panose="020B0604020202020204" pitchFamily="34" charset="0"/>
              </a:rPr>
              <a:t> and </a:t>
            </a:r>
            <a:r>
              <a:rPr lang="es-MX" sz="1600" dirty="0" err="1">
                <a:latin typeface="Arial" panose="020B0604020202020204" pitchFamily="34" charset="0"/>
                <a:cs typeface="Arial" panose="020B0604020202020204" pitchFamily="34" charset="0"/>
              </a:rPr>
              <a:t>Notation</a:t>
            </a:r>
            <a:r>
              <a:rPr lang="es-MX" sz="1600" dirty="0">
                <a:latin typeface="Arial" panose="020B0604020202020204" pitchFamily="34" charset="0"/>
                <a:cs typeface="Arial" panose="020B0604020202020204" pitchFamily="34" charset="0"/>
              </a:rPr>
              <a:t>, es una notación utilizada para representar gráficamente los procesos de negocio. Su objetivo es facilitar la comprensión y comunicación del funcionamiento de un proceso entre las personas involucradas en su análisis, diseño, implementación y </a:t>
            </a:r>
            <a:r>
              <a:rPr lang="es-MX" sz="1600" dirty="0" err="1">
                <a:latin typeface="Arial" panose="020B0604020202020204" pitchFamily="34" charset="0"/>
                <a:cs typeface="Arial" panose="020B0604020202020204" pitchFamily="34" charset="0"/>
              </a:rPr>
              <a:t>gestión.BPMN</a:t>
            </a:r>
            <a:r>
              <a:rPr lang="es-MX" sz="1600" dirty="0">
                <a:latin typeface="Arial" panose="020B0604020202020204" pitchFamily="34" charset="0"/>
                <a:cs typeface="Arial" panose="020B0604020202020204" pitchFamily="34" charset="0"/>
              </a:rPr>
              <a:t> 2.0 proporciona diferentes elementos gráficos que permiten representar actividades, eventos, decisiones, participantes y flujos. Estos elementos permiten construir modelos que pueden ser utilizados posteriormente para análisis, simulación y automatización.</a:t>
            </a:r>
          </a:p>
        </p:txBody>
      </p:sp>
      <p:sp>
        <p:nvSpPr>
          <p:cNvPr id="4" name="CuadroTexto 3"/>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MARCO TEÓRICO</a:t>
            </a:r>
            <a:endParaRPr lang="es-MX"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80994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496765" y="839743"/>
            <a:ext cx="11465169" cy="5632311"/>
          </a:xfrm>
          <a:prstGeom prst="rect">
            <a:avLst/>
          </a:prstGeom>
          <a:noFill/>
        </p:spPr>
        <p:txBody>
          <a:bodyPr wrap="square" rtlCol="0">
            <a:spAutoFit/>
          </a:bodyPr>
          <a:lstStyle/>
          <a:p>
            <a:pPr algn="ctr">
              <a:lnSpc>
                <a:spcPct val="150000"/>
              </a:lnSpc>
            </a:pPr>
            <a:r>
              <a:rPr lang="es-MX" b="1" dirty="0">
                <a:latin typeface="Arial" panose="020B0604020202020204" pitchFamily="34" charset="0"/>
                <a:cs typeface="Arial" panose="020B0604020202020204" pitchFamily="34" charset="0"/>
              </a:rPr>
              <a:t>Elementos de </a:t>
            </a:r>
            <a:r>
              <a:rPr lang="es-MX" b="1" dirty="0" smtClean="0">
                <a:latin typeface="Arial" panose="020B0604020202020204" pitchFamily="34" charset="0"/>
                <a:cs typeface="Arial" panose="020B0604020202020204" pitchFamily="34" charset="0"/>
              </a:rPr>
              <a:t>BPMN</a:t>
            </a:r>
          </a:p>
          <a:p>
            <a:pPr algn="just">
              <a:lnSpc>
                <a:spcPct val="150000"/>
              </a:lnSpc>
            </a:pPr>
            <a:r>
              <a:rPr lang="es-MX" sz="1600" b="1" dirty="0" smtClean="0">
                <a:latin typeface="Arial" panose="020B0604020202020204" pitchFamily="34" charset="0"/>
                <a:cs typeface="Arial" panose="020B0604020202020204" pitchFamily="34" charset="0"/>
              </a:rPr>
              <a:t>Eventos:</a:t>
            </a:r>
            <a:r>
              <a:rPr lang="es-MX" sz="1600" dirty="0" smtClean="0">
                <a:latin typeface="Arial" panose="020B0604020202020204" pitchFamily="34" charset="0"/>
                <a:cs typeface="Arial" panose="020B0604020202020204" pitchFamily="34" charset="0"/>
              </a:rPr>
              <a:t> Los </a:t>
            </a:r>
            <a:r>
              <a:rPr lang="es-MX" sz="1600" dirty="0">
                <a:latin typeface="Arial" panose="020B0604020202020204" pitchFamily="34" charset="0"/>
                <a:cs typeface="Arial" panose="020B0604020202020204" pitchFamily="34" charset="0"/>
              </a:rPr>
              <a:t>eventos representan situaciones que ocurren durante el desarrollo de un proceso. Dependiendo de su función pueden indicar el inicio, una situación intermedia o la finalización de un proceso</a:t>
            </a:r>
            <a:r>
              <a:rPr lang="es-MX" sz="1600" dirty="0" smtClean="0">
                <a:latin typeface="Arial" panose="020B0604020202020204" pitchFamily="34" charset="0"/>
                <a:cs typeface="Arial" panose="020B0604020202020204" pitchFamily="34" charset="0"/>
              </a:rPr>
              <a:t>.</a:t>
            </a:r>
          </a:p>
          <a:p>
            <a:pPr algn="just">
              <a:lnSpc>
                <a:spcPct val="150000"/>
              </a:lnSpc>
            </a:pPr>
            <a:r>
              <a:rPr lang="es-MX" sz="1600" b="1" dirty="0" smtClean="0">
                <a:latin typeface="Arial" panose="020B0604020202020204" pitchFamily="34" charset="0"/>
                <a:cs typeface="Arial" panose="020B0604020202020204" pitchFamily="34" charset="0"/>
              </a:rPr>
              <a:t>Actividades: </a:t>
            </a:r>
            <a:r>
              <a:rPr lang="es-MX" sz="1600" dirty="0" smtClean="0">
                <a:latin typeface="Arial" panose="020B0604020202020204" pitchFamily="34" charset="0"/>
                <a:cs typeface="Arial" panose="020B0604020202020204" pitchFamily="34" charset="0"/>
              </a:rPr>
              <a:t>Las </a:t>
            </a:r>
            <a:r>
              <a:rPr lang="es-MX" sz="1600" dirty="0">
                <a:latin typeface="Arial" panose="020B0604020202020204" pitchFamily="34" charset="0"/>
                <a:cs typeface="Arial" panose="020B0604020202020204" pitchFamily="34" charset="0"/>
              </a:rPr>
              <a:t>actividades representan las tareas que deben realizarse dentro de un proceso. En el taller de electrónica pueden corresponder, por ejemplo, al registro de un dispositivo, diagnóstico, reparación, revisión de calidad o entrega</a:t>
            </a:r>
            <a:r>
              <a:rPr lang="es-MX" sz="1600" dirty="0" smtClean="0">
                <a:latin typeface="Arial" panose="020B0604020202020204" pitchFamily="34" charset="0"/>
                <a:cs typeface="Arial" panose="020B0604020202020204" pitchFamily="34" charset="0"/>
              </a:rPr>
              <a:t>.</a:t>
            </a:r>
          </a:p>
          <a:p>
            <a:pPr algn="just">
              <a:lnSpc>
                <a:spcPct val="150000"/>
              </a:lnSpc>
            </a:pPr>
            <a:r>
              <a:rPr lang="es-MX" sz="1600" dirty="0" smtClean="0">
                <a:latin typeface="Arial" panose="020B0604020202020204" pitchFamily="34" charset="0"/>
                <a:cs typeface="Arial" panose="020B0604020202020204" pitchFamily="34" charset="0"/>
              </a:rPr>
              <a:t>Compuertas: Las </a:t>
            </a:r>
            <a:r>
              <a:rPr lang="es-MX" sz="1600" dirty="0">
                <a:latin typeface="Arial" panose="020B0604020202020204" pitchFamily="34" charset="0"/>
                <a:cs typeface="Arial" panose="020B0604020202020204" pitchFamily="34" charset="0"/>
              </a:rPr>
              <a:t>compuertas representan decisiones o condiciones dentro de un proceso. Permiten determinar qué camino debe seguir el flujo dependiendo del resultado de una </a:t>
            </a:r>
            <a:r>
              <a:rPr lang="es-MX" sz="1600" dirty="0" err="1">
                <a:latin typeface="Arial" panose="020B0604020202020204" pitchFamily="34" charset="0"/>
                <a:cs typeface="Arial" panose="020B0604020202020204" pitchFamily="34" charset="0"/>
              </a:rPr>
              <a:t>actividad.Por</a:t>
            </a:r>
            <a:r>
              <a:rPr lang="es-MX" sz="1600" dirty="0">
                <a:latin typeface="Arial" panose="020B0604020202020204" pitchFamily="34" charset="0"/>
                <a:cs typeface="Arial" panose="020B0604020202020204" pitchFamily="34" charset="0"/>
              </a:rPr>
              <a:t> ejemplo, después de una revisión de calidad se puede determinar si el dispositivo fue aprobado o si requiere regresar a una etapa anterior para realizar un </a:t>
            </a:r>
            <a:r>
              <a:rPr lang="es-MX" sz="1600" dirty="0" err="1">
                <a:latin typeface="Arial" panose="020B0604020202020204" pitchFamily="34" charset="0"/>
                <a:cs typeface="Arial" panose="020B0604020202020204" pitchFamily="34" charset="0"/>
              </a:rPr>
              <a:t>retrabajo</a:t>
            </a:r>
            <a:r>
              <a:rPr lang="es-MX" sz="1600" dirty="0" smtClean="0">
                <a:latin typeface="Arial" panose="020B0604020202020204" pitchFamily="34" charset="0"/>
                <a:cs typeface="Arial" panose="020B0604020202020204" pitchFamily="34" charset="0"/>
              </a:rPr>
              <a:t>.</a:t>
            </a:r>
          </a:p>
          <a:p>
            <a:pPr algn="just">
              <a:lnSpc>
                <a:spcPct val="150000"/>
              </a:lnSpc>
            </a:pPr>
            <a:r>
              <a:rPr lang="es-MX" sz="1600" b="1" dirty="0" smtClean="0">
                <a:latin typeface="Arial" panose="020B0604020202020204" pitchFamily="34" charset="0"/>
                <a:cs typeface="Arial" panose="020B0604020202020204" pitchFamily="34" charset="0"/>
              </a:rPr>
              <a:t>Flujos:</a:t>
            </a:r>
            <a:r>
              <a:rPr lang="es-MX" sz="1600" dirty="0" smtClean="0">
                <a:latin typeface="Arial" panose="020B0604020202020204" pitchFamily="34" charset="0"/>
                <a:cs typeface="Arial" panose="020B0604020202020204" pitchFamily="34" charset="0"/>
              </a:rPr>
              <a:t> Los </a:t>
            </a:r>
            <a:r>
              <a:rPr lang="es-MX" sz="1600" dirty="0">
                <a:latin typeface="Arial" panose="020B0604020202020204" pitchFamily="34" charset="0"/>
                <a:cs typeface="Arial" panose="020B0604020202020204" pitchFamily="34" charset="0"/>
              </a:rPr>
              <a:t>flujos permiten conectar los diferentes elementos de un proceso y establecer el orden en que se ejecutan las actividades</a:t>
            </a:r>
            <a:r>
              <a:rPr lang="es-MX" sz="1600" dirty="0" smtClean="0">
                <a:latin typeface="Arial" panose="020B0604020202020204" pitchFamily="34" charset="0"/>
                <a:cs typeface="Arial" panose="020B0604020202020204" pitchFamily="34" charset="0"/>
              </a:rPr>
              <a:t>.</a:t>
            </a:r>
          </a:p>
          <a:p>
            <a:pPr algn="just">
              <a:lnSpc>
                <a:spcPct val="150000"/>
              </a:lnSpc>
            </a:pPr>
            <a:r>
              <a:rPr lang="es-MX" sz="1600" b="1" dirty="0" smtClean="0">
                <a:latin typeface="Arial" panose="020B0604020202020204" pitchFamily="34" charset="0"/>
                <a:cs typeface="Arial" panose="020B0604020202020204" pitchFamily="34" charset="0"/>
              </a:rPr>
              <a:t>Piscinas:</a:t>
            </a:r>
            <a:r>
              <a:rPr lang="es-MX" sz="1600" dirty="0" smtClean="0">
                <a:latin typeface="Arial" panose="020B0604020202020204" pitchFamily="34" charset="0"/>
                <a:cs typeface="Arial" panose="020B0604020202020204" pitchFamily="34" charset="0"/>
              </a:rPr>
              <a:t> Las </a:t>
            </a:r>
            <a:r>
              <a:rPr lang="es-MX" sz="1600" dirty="0">
                <a:latin typeface="Arial" panose="020B0604020202020204" pitchFamily="34" charset="0"/>
                <a:cs typeface="Arial" panose="020B0604020202020204" pitchFamily="34" charset="0"/>
              </a:rPr>
              <a:t>piscinas representan participantes principales dentro de un proceso y permiten delimitar diferentes procesos u organizaciones</a:t>
            </a:r>
            <a:r>
              <a:rPr lang="es-MX" sz="1600" dirty="0" smtClean="0">
                <a:latin typeface="Arial" panose="020B0604020202020204" pitchFamily="34" charset="0"/>
                <a:cs typeface="Arial" panose="020B0604020202020204" pitchFamily="34" charset="0"/>
              </a:rPr>
              <a:t>.</a:t>
            </a:r>
          </a:p>
          <a:p>
            <a:pPr algn="just">
              <a:lnSpc>
                <a:spcPct val="150000"/>
              </a:lnSpc>
            </a:pPr>
            <a:r>
              <a:rPr lang="es-MX" sz="1600" b="1" dirty="0" smtClean="0">
                <a:latin typeface="Arial" panose="020B0604020202020204" pitchFamily="34" charset="0"/>
                <a:cs typeface="Arial" panose="020B0604020202020204" pitchFamily="34" charset="0"/>
              </a:rPr>
              <a:t>Carriles:</a:t>
            </a:r>
            <a:r>
              <a:rPr lang="es-MX" sz="1600" dirty="0" smtClean="0">
                <a:latin typeface="Arial" panose="020B0604020202020204" pitchFamily="34" charset="0"/>
                <a:cs typeface="Arial" panose="020B0604020202020204" pitchFamily="34" charset="0"/>
              </a:rPr>
              <a:t> Los </a:t>
            </a:r>
            <a:r>
              <a:rPr lang="es-MX" sz="1600" dirty="0">
                <a:latin typeface="Arial" panose="020B0604020202020204" pitchFamily="34" charset="0"/>
                <a:cs typeface="Arial" panose="020B0604020202020204" pitchFamily="34" charset="0"/>
              </a:rPr>
              <a:t>carriles permiten dividir una piscina para representar diferentes participantes, áreas o responsables de las actividades</a:t>
            </a:r>
            <a:r>
              <a:rPr lang="es-MX" sz="1600" dirty="0" smtClean="0">
                <a:latin typeface="Arial" panose="020B0604020202020204" pitchFamily="34" charset="0"/>
                <a:cs typeface="Arial" panose="020B0604020202020204" pitchFamily="34" charset="0"/>
              </a:rPr>
              <a:t>. En </a:t>
            </a:r>
            <a:r>
              <a:rPr lang="es-MX" sz="1600" dirty="0">
                <a:latin typeface="Arial" panose="020B0604020202020204" pitchFamily="34" charset="0"/>
                <a:cs typeface="Arial" panose="020B0604020202020204" pitchFamily="34" charset="0"/>
              </a:rPr>
              <a:t>el proyecto pueden utilizarse para representar áreas relacionadas con recepción, diagnóstico, reparación y control de calidad.</a:t>
            </a:r>
          </a:p>
        </p:txBody>
      </p:sp>
    </p:spTree>
    <p:extLst>
      <p:ext uri="{BB962C8B-B14F-4D97-AF65-F5344CB8AC3E}">
        <p14:creationId xmlns:p14="http://schemas.microsoft.com/office/powerpoint/2010/main" val="29327721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496765" y="839743"/>
            <a:ext cx="11465169" cy="4616648"/>
          </a:xfrm>
          <a:prstGeom prst="rect">
            <a:avLst/>
          </a:prstGeom>
          <a:noFill/>
        </p:spPr>
        <p:txBody>
          <a:bodyPr wrap="square" rtlCol="0">
            <a:spAutoFit/>
          </a:bodyPr>
          <a:lstStyle/>
          <a:p>
            <a:pPr algn="ctr">
              <a:lnSpc>
                <a:spcPct val="150000"/>
              </a:lnSpc>
            </a:pPr>
            <a:r>
              <a:rPr lang="es-MX" b="1" dirty="0" smtClean="0">
                <a:latin typeface="Arial" panose="020B0604020202020204" pitchFamily="34" charset="0"/>
                <a:cs typeface="Arial" panose="020B0604020202020204" pitchFamily="34" charset="0"/>
              </a:rPr>
              <a:t>Simulación </a:t>
            </a:r>
            <a:r>
              <a:rPr lang="es-MX" b="1" dirty="0">
                <a:latin typeface="Arial" panose="020B0604020202020204" pitchFamily="34" charset="0"/>
                <a:cs typeface="Arial" panose="020B0604020202020204" pitchFamily="34" charset="0"/>
              </a:rPr>
              <a:t>de procesos</a:t>
            </a:r>
            <a:endParaRPr lang="es-MX" b="1" dirty="0" smtClean="0">
              <a:latin typeface="Arial" panose="020B0604020202020204" pitchFamily="34" charset="0"/>
              <a:cs typeface="Arial" panose="020B0604020202020204" pitchFamily="34" charset="0"/>
            </a:endParaRPr>
          </a:p>
          <a:p>
            <a:pPr algn="just">
              <a:lnSpc>
                <a:spcPct val="150000"/>
              </a:lnSpc>
            </a:pPr>
            <a:r>
              <a:rPr lang="es-MX" sz="1600" dirty="0" smtClean="0">
                <a:latin typeface="Arial" panose="020B0604020202020204" pitchFamily="34" charset="0"/>
                <a:cs typeface="Arial" panose="020B0604020202020204" pitchFamily="34" charset="0"/>
              </a:rPr>
              <a:t>La </a:t>
            </a:r>
            <a:r>
              <a:rPr lang="es-MX" sz="1600" dirty="0">
                <a:latin typeface="Arial" panose="020B0604020202020204" pitchFamily="34" charset="0"/>
                <a:cs typeface="Arial" panose="020B0604020202020204" pitchFamily="34" charset="0"/>
              </a:rPr>
              <a:t>simulación de procesos permite analizar el comportamiento de un modelo bajo determinadas condiciones. A diferencia de una representación estática, la simulación permite observar cómo evolucionan los casos a través de las diferentes actividades</a:t>
            </a:r>
            <a:r>
              <a:rPr lang="es-MX" sz="1600" dirty="0" smtClean="0">
                <a:latin typeface="Arial" panose="020B0604020202020204" pitchFamily="34" charset="0"/>
                <a:cs typeface="Arial" panose="020B0604020202020204" pitchFamily="34" charset="0"/>
              </a:rPr>
              <a:t>. Mediante </a:t>
            </a:r>
            <a:r>
              <a:rPr lang="es-MX" sz="1600" dirty="0">
                <a:latin typeface="Arial" panose="020B0604020202020204" pitchFamily="34" charset="0"/>
                <a:cs typeface="Arial" panose="020B0604020202020204" pitchFamily="34" charset="0"/>
              </a:rPr>
              <a:t>una simulación es posible analizar variables como tiempos de procesamiento, cantidad de casos, utilización de recursos y porcentaje de </a:t>
            </a:r>
            <a:r>
              <a:rPr lang="es-MX" sz="1600" dirty="0" err="1">
                <a:latin typeface="Arial" panose="020B0604020202020204" pitchFamily="34" charset="0"/>
                <a:cs typeface="Arial" panose="020B0604020202020204" pitchFamily="34" charset="0"/>
              </a:rPr>
              <a:t>retrabajo</a:t>
            </a:r>
            <a:r>
              <a:rPr lang="es-MX" sz="1600" dirty="0">
                <a:latin typeface="Arial" panose="020B0604020202020204" pitchFamily="34" charset="0"/>
                <a:cs typeface="Arial" panose="020B0604020202020204" pitchFamily="34" charset="0"/>
              </a:rPr>
              <a:t>. Esta información puede ayudar a identificar situaciones que requieren atención y servir como base para proponer mejoras</a:t>
            </a:r>
            <a:r>
              <a:rPr lang="es-MX" sz="1600" dirty="0" smtClean="0">
                <a:latin typeface="Arial" panose="020B0604020202020204" pitchFamily="34" charset="0"/>
                <a:cs typeface="Arial" panose="020B0604020202020204" pitchFamily="34" charset="0"/>
              </a:rPr>
              <a:t>.</a:t>
            </a:r>
          </a:p>
          <a:p>
            <a:pPr algn="just">
              <a:lnSpc>
                <a:spcPct val="150000"/>
              </a:lnSpc>
            </a:pPr>
            <a:endParaRPr lang="es-MX" sz="1600" dirty="0">
              <a:latin typeface="Arial" panose="020B0604020202020204" pitchFamily="34" charset="0"/>
              <a:cs typeface="Arial" panose="020B0604020202020204" pitchFamily="34" charset="0"/>
            </a:endParaRPr>
          </a:p>
          <a:p>
            <a:pPr algn="ctr">
              <a:lnSpc>
                <a:spcPct val="150000"/>
              </a:lnSpc>
            </a:pPr>
            <a:r>
              <a:rPr lang="es-MX" b="1" dirty="0">
                <a:latin typeface="Arial" panose="020B0604020202020204" pitchFamily="34" charset="0"/>
                <a:cs typeface="Arial" panose="020B0604020202020204" pitchFamily="34" charset="0"/>
              </a:rPr>
              <a:t>Automatización de </a:t>
            </a:r>
            <a:r>
              <a:rPr lang="es-MX" b="1" dirty="0" smtClean="0">
                <a:latin typeface="Arial" panose="020B0604020202020204" pitchFamily="34" charset="0"/>
                <a:cs typeface="Arial" panose="020B0604020202020204" pitchFamily="34" charset="0"/>
              </a:rPr>
              <a:t>procesos</a:t>
            </a:r>
          </a:p>
          <a:p>
            <a:pPr algn="just">
              <a:lnSpc>
                <a:spcPct val="150000"/>
              </a:lnSpc>
            </a:pPr>
            <a:r>
              <a:rPr lang="es-MX" sz="1600" dirty="0" smtClean="0">
                <a:latin typeface="Arial" panose="020B0604020202020204" pitchFamily="34" charset="0"/>
                <a:cs typeface="Arial" panose="020B0604020202020204" pitchFamily="34" charset="0"/>
              </a:rPr>
              <a:t>La </a:t>
            </a:r>
            <a:r>
              <a:rPr lang="es-MX" sz="1600" dirty="0">
                <a:latin typeface="Arial" panose="020B0604020202020204" pitchFamily="34" charset="0"/>
                <a:cs typeface="Arial" panose="020B0604020202020204" pitchFamily="34" charset="0"/>
              </a:rPr>
              <a:t>automatización de procesos consiste en utilizar herramientas tecnológicas para ejecutar, controlar y dar seguimiento a determinadas actividades. Su finalidad es facilitar la gestión de los procesos y permitir que las tareas sean asignadas y realizadas de acuerdo con las condiciones establecidas</a:t>
            </a:r>
            <a:r>
              <a:rPr lang="es-MX" sz="1600" dirty="0" smtClean="0">
                <a:latin typeface="Arial" panose="020B0604020202020204" pitchFamily="34" charset="0"/>
                <a:cs typeface="Arial" panose="020B0604020202020204" pitchFamily="34" charset="0"/>
              </a:rPr>
              <a:t>. En </a:t>
            </a:r>
            <a:r>
              <a:rPr lang="es-MX" sz="1600" dirty="0">
                <a:latin typeface="Arial" panose="020B0604020202020204" pitchFamily="34" charset="0"/>
                <a:cs typeface="Arial" panose="020B0604020202020204" pitchFamily="34" charset="0"/>
              </a:rPr>
              <a:t>este proyecto, la automatización representa una etapa posterior al modelado y simulación, permitiendo llevar el proceso a un entorno donde pueda ser ejecutado por los usuarios.</a:t>
            </a:r>
            <a:endParaRPr lang="es-MX" sz="16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98174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390085" y="306343"/>
            <a:ext cx="11465169" cy="6093976"/>
          </a:xfrm>
          <a:prstGeom prst="rect">
            <a:avLst/>
          </a:prstGeom>
          <a:noFill/>
        </p:spPr>
        <p:txBody>
          <a:bodyPr wrap="square" rtlCol="0">
            <a:spAutoFit/>
          </a:bodyPr>
          <a:lstStyle/>
          <a:p>
            <a:pPr algn="ctr">
              <a:lnSpc>
                <a:spcPct val="150000"/>
              </a:lnSpc>
            </a:pPr>
            <a:r>
              <a:rPr lang="es-MX" b="1" dirty="0" err="1" smtClean="0">
                <a:latin typeface="Arial" panose="020B0604020202020204" pitchFamily="34" charset="0"/>
                <a:cs typeface="Arial" panose="020B0604020202020204" pitchFamily="34" charset="0"/>
              </a:rPr>
              <a:t>Camunda</a:t>
            </a:r>
            <a:endParaRPr lang="es-MX" b="1" dirty="0" smtClean="0">
              <a:latin typeface="Arial" panose="020B0604020202020204" pitchFamily="34" charset="0"/>
              <a:cs typeface="Arial" panose="020B0604020202020204" pitchFamily="34" charset="0"/>
            </a:endParaRPr>
          </a:p>
          <a:p>
            <a:pPr algn="just">
              <a:lnSpc>
                <a:spcPct val="150000"/>
              </a:lnSpc>
            </a:pPr>
            <a:r>
              <a:rPr lang="es-MX" sz="1600" dirty="0" err="1" smtClean="0">
                <a:latin typeface="Arial" panose="020B0604020202020204" pitchFamily="34" charset="0"/>
                <a:cs typeface="Arial" panose="020B0604020202020204" pitchFamily="34" charset="0"/>
              </a:rPr>
              <a:t>Camunda</a:t>
            </a:r>
            <a:r>
              <a:rPr lang="es-MX" sz="1600" dirty="0" smtClean="0">
                <a:latin typeface="Arial" panose="020B0604020202020204" pitchFamily="34" charset="0"/>
                <a:cs typeface="Arial" panose="020B0604020202020204" pitchFamily="34" charset="0"/>
              </a:rPr>
              <a:t> es una plataforma orientada al modelado y automatización de procesos de negocio. Permite trabajar con la notación BPMN y representar gráficamente las actividades, eventos, decisiones y flujos que forman parte de un </a:t>
            </a:r>
            <a:r>
              <a:rPr lang="es-MX" sz="1600" dirty="0" err="1" smtClean="0">
                <a:latin typeface="Arial" panose="020B0604020202020204" pitchFamily="34" charset="0"/>
                <a:cs typeface="Arial" panose="020B0604020202020204" pitchFamily="34" charset="0"/>
              </a:rPr>
              <a:t>proceso.Dentro</a:t>
            </a:r>
            <a:r>
              <a:rPr lang="es-MX" sz="1600" dirty="0" smtClean="0">
                <a:latin typeface="Arial" panose="020B0604020202020204" pitchFamily="34" charset="0"/>
                <a:cs typeface="Arial" panose="020B0604020202020204" pitchFamily="34" charset="0"/>
              </a:rPr>
              <a:t> del proyecto, </a:t>
            </a:r>
            <a:r>
              <a:rPr lang="es-MX" sz="1600" dirty="0" err="1" smtClean="0">
                <a:latin typeface="Arial" panose="020B0604020202020204" pitchFamily="34" charset="0"/>
                <a:cs typeface="Arial" panose="020B0604020202020204" pitchFamily="34" charset="0"/>
              </a:rPr>
              <a:t>Camunda</a:t>
            </a:r>
            <a:r>
              <a:rPr lang="es-MX" sz="1600" dirty="0" smtClean="0">
                <a:latin typeface="Arial" panose="020B0604020202020204" pitchFamily="34" charset="0"/>
                <a:cs typeface="Arial" panose="020B0604020202020204" pitchFamily="34" charset="0"/>
              </a:rPr>
              <a:t> se utiliza como herramienta para desarrollar el modelo inicial del proceso, permitiendo establecer la estructura BPMN que posteriormente será utilizada como referencia para las siguientes etapas.</a:t>
            </a:r>
          </a:p>
          <a:p>
            <a:pPr algn="just">
              <a:lnSpc>
                <a:spcPct val="150000"/>
              </a:lnSpc>
            </a:pPr>
            <a:endParaRPr lang="es-MX" sz="1600" dirty="0" smtClean="0">
              <a:latin typeface="Arial" panose="020B0604020202020204" pitchFamily="34" charset="0"/>
              <a:cs typeface="Arial" panose="020B0604020202020204" pitchFamily="34" charset="0"/>
            </a:endParaRPr>
          </a:p>
          <a:p>
            <a:pPr algn="ctr">
              <a:lnSpc>
                <a:spcPct val="150000"/>
              </a:lnSpc>
            </a:pPr>
            <a:r>
              <a:rPr lang="es-MX" b="1" dirty="0" err="1" smtClean="0">
                <a:latin typeface="Arial" panose="020B0604020202020204" pitchFamily="34" charset="0"/>
                <a:cs typeface="Arial" panose="020B0604020202020204" pitchFamily="34" charset="0"/>
              </a:rPr>
              <a:t>Bizagi</a:t>
            </a:r>
            <a:endParaRPr lang="es-MX" b="1" dirty="0">
              <a:latin typeface="Arial" panose="020B0604020202020204" pitchFamily="34" charset="0"/>
              <a:cs typeface="Arial" panose="020B0604020202020204" pitchFamily="34" charset="0"/>
            </a:endParaRPr>
          </a:p>
          <a:p>
            <a:pPr algn="just">
              <a:lnSpc>
                <a:spcPct val="150000"/>
              </a:lnSpc>
            </a:pPr>
            <a:r>
              <a:rPr lang="es-MX" sz="1600" dirty="0" err="1" smtClean="0">
                <a:latin typeface="Arial" panose="020B0604020202020204" pitchFamily="34" charset="0"/>
                <a:cs typeface="Arial" panose="020B0604020202020204" pitchFamily="34" charset="0"/>
              </a:rPr>
              <a:t>Bizagi</a:t>
            </a:r>
            <a:r>
              <a:rPr lang="es-MX" sz="1600" dirty="0" smtClean="0">
                <a:latin typeface="Arial" panose="020B0604020202020204" pitchFamily="34" charset="0"/>
                <a:cs typeface="Arial" panose="020B0604020202020204" pitchFamily="34" charset="0"/>
              </a:rPr>
              <a:t> </a:t>
            </a:r>
            <a:r>
              <a:rPr lang="es-MX" sz="1600" dirty="0">
                <a:latin typeface="Arial" panose="020B0604020202020204" pitchFamily="34" charset="0"/>
                <a:cs typeface="Arial" panose="020B0604020202020204" pitchFamily="34" charset="0"/>
              </a:rPr>
              <a:t>es una herramienta orientada al modelado, análisis y simulación de procesos de negocio. Permite representar procesos mediante BPMN y configurar diferentes parámetros para analizar su </a:t>
            </a:r>
            <a:r>
              <a:rPr lang="es-MX" sz="1600" dirty="0" err="1">
                <a:latin typeface="Arial" panose="020B0604020202020204" pitchFamily="34" charset="0"/>
                <a:cs typeface="Arial" panose="020B0604020202020204" pitchFamily="34" charset="0"/>
              </a:rPr>
              <a:t>comportamiento.En</a:t>
            </a:r>
            <a:r>
              <a:rPr lang="es-MX" sz="1600" dirty="0">
                <a:latin typeface="Arial" panose="020B0604020202020204" pitchFamily="34" charset="0"/>
                <a:cs typeface="Arial" panose="020B0604020202020204" pitchFamily="34" charset="0"/>
              </a:rPr>
              <a:t> este proyecto, </a:t>
            </a:r>
            <a:r>
              <a:rPr lang="es-MX" sz="1600" dirty="0" err="1">
                <a:latin typeface="Arial" panose="020B0604020202020204" pitchFamily="34" charset="0"/>
                <a:cs typeface="Arial" panose="020B0604020202020204" pitchFamily="34" charset="0"/>
              </a:rPr>
              <a:t>Bizagi</a:t>
            </a:r>
            <a:r>
              <a:rPr lang="es-MX" sz="1600" dirty="0">
                <a:latin typeface="Arial" panose="020B0604020202020204" pitchFamily="34" charset="0"/>
                <a:cs typeface="Arial" panose="020B0604020202020204" pitchFamily="34" charset="0"/>
              </a:rPr>
              <a:t> se utiliza para trabajar el modelo del taller y realizar la simulación considerando variables como los tiempos de las actividades, recursos, cantidad de dispositivos y porcentaje de </a:t>
            </a:r>
            <a:r>
              <a:rPr lang="es-MX" sz="1600" dirty="0" err="1">
                <a:latin typeface="Arial" panose="020B0604020202020204" pitchFamily="34" charset="0"/>
                <a:cs typeface="Arial" panose="020B0604020202020204" pitchFamily="34" charset="0"/>
              </a:rPr>
              <a:t>retrabajo</a:t>
            </a:r>
            <a:r>
              <a:rPr lang="es-MX" sz="1600" dirty="0" smtClean="0">
                <a:latin typeface="Arial" panose="020B0604020202020204" pitchFamily="34" charset="0"/>
                <a:cs typeface="Arial" panose="020B0604020202020204" pitchFamily="34" charset="0"/>
              </a:rPr>
              <a:t>.</a:t>
            </a:r>
          </a:p>
          <a:p>
            <a:pPr algn="just">
              <a:lnSpc>
                <a:spcPct val="150000"/>
              </a:lnSpc>
            </a:pPr>
            <a:endParaRPr lang="es-MX" sz="1600" dirty="0" smtClean="0">
              <a:latin typeface="Arial" panose="020B0604020202020204" pitchFamily="34" charset="0"/>
              <a:cs typeface="Arial" panose="020B0604020202020204" pitchFamily="34" charset="0"/>
            </a:endParaRPr>
          </a:p>
          <a:p>
            <a:pPr algn="ctr">
              <a:lnSpc>
                <a:spcPct val="150000"/>
              </a:lnSpc>
            </a:pPr>
            <a:r>
              <a:rPr lang="es-MX" b="1" dirty="0">
                <a:latin typeface="Arial" panose="020B0604020202020204" pitchFamily="34" charset="0"/>
                <a:cs typeface="Arial" panose="020B0604020202020204" pitchFamily="34" charset="0"/>
              </a:rPr>
              <a:t>Bonita Studio</a:t>
            </a:r>
          </a:p>
          <a:p>
            <a:pPr algn="just">
              <a:lnSpc>
                <a:spcPct val="150000"/>
              </a:lnSpc>
            </a:pPr>
            <a:r>
              <a:rPr lang="es-MX" sz="1600" dirty="0">
                <a:latin typeface="Arial" panose="020B0604020202020204" pitchFamily="34" charset="0"/>
                <a:cs typeface="Arial" panose="020B0604020202020204" pitchFamily="34" charset="0"/>
              </a:rPr>
              <a:t>Bonita </a:t>
            </a:r>
            <a:r>
              <a:rPr lang="es-MX" sz="1600" dirty="0" smtClean="0">
                <a:latin typeface="Arial" panose="020B0604020202020204" pitchFamily="34" charset="0"/>
                <a:cs typeface="Arial" panose="020B0604020202020204" pitchFamily="34" charset="0"/>
              </a:rPr>
              <a:t>Studio es </a:t>
            </a:r>
            <a:r>
              <a:rPr lang="es-MX" sz="1600" dirty="0">
                <a:latin typeface="Arial" panose="020B0604020202020204" pitchFamily="34" charset="0"/>
                <a:cs typeface="Arial" panose="020B0604020202020204" pitchFamily="34" charset="0"/>
              </a:rPr>
              <a:t>una herramienta orientada al desarrollo y automatización de procesos de negocio. Permite diseñar procesos mediante BPMN y configurar los elementos necesarios para que puedan ser </a:t>
            </a:r>
            <a:r>
              <a:rPr lang="es-MX" sz="1600" dirty="0" err="1">
                <a:latin typeface="Arial" panose="020B0604020202020204" pitchFamily="34" charset="0"/>
                <a:cs typeface="Arial" panose="020B0604020202020204" pitchFamily="34" charset="0"/>
              </a:rPr>
              <a:t>ejecutados.En</a:t>
            </a:r>
            <a:r>
              <a:rPr lang="es-MX" sz="1600" dirty="0">
                <a:latin typeface="Arial" panose="020B0604020202020204" pitchFamily="34" charset="0"/>
                <a:cs typeface="Arial" panose="020B0604020202020204" pitchFamily="34" charset="0"/>
              </a:rPr>
              <a:t> este proyecto, Bonita Studio se utiliza como etapa de implementación, permitiendo llevar el proceso modelado a un entorno automatizado.</a:t>
            </a:r>
            <a:endParaRPr lang="es-MX" sz="16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98079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63611" y="437855"/>
            <a:ext cx="11465169" cy="6694140"/>
          </a:xfrm>
          <a:prstGeom prst="rect">
            <a:avLst/>
          </a:prstGeom>
          <a:noFill/>
        </p:spPr>
        <p:txBody>
          <a:bodyPr wrap="square" rtlCol="0">
            <a:spAutoFit/>
          </a:bodyPr>
          <a:lstStyle/>
          <a:p>
            <a:pPr algn="ctr">
              <a:lnSpc>
                <a:spcPct val="150000"/>
              </a:lnSpc>
            </a:pPr>
            <a:r>
              <a:rPr lang="es-MX" sz="2800" b="1" dirty="0" smtClean="0">
                <a:latin typeface="Arial" panose="020B0604020202020204" pitchFamily="34" charset="0"/>
                <a:cs typeface="Arial" panose="020B0604020202020204" pitchFamily="34" charset="0"/>
              </a:rPr>
              <a:t>METODOLOGÍA</a:t>
            </a:r>
          </a:p>
          <a:p>
            <a:pPr algn="just">
              <a:lnSpc>
                <a:spcPct val="150000"/>
              </a:lnSpc>
            </a:pPr>
            <a:r>
              <a:rPr lang="es-MX" sz="1600" dirty="0" smtClean="0">
                <a:latin typeface="Arial" panose="020B0604020202020204" pitchFamily="34" charset="0"/>
                <a:cs typeface="Arial" panose="020B0604020202020204" pitchFamily="34" charset="0"/>
              </a:rPr>
              <a:t>Para </a:t>
            </a:r>
            <a:r>
              <a:rPr lang="es-MX" sz="1600" dirty="0">
                <a:latin typeface="Arial" panose="020B0604020202020204" pitchFamily="34" charset="0"/>
                <a:cs typeface="Arial" panose="020B0604020202020204" pitchFamily="34" charset="0"/>
              </a:rPr>
              <a:t>el desarrollo del proyecto integrador se estableció una metodología dividida en cinco etapas principales. Estas etapas permiten avanzar progresivamente desde el análisis del proceso hasta su ejecución mediante una herramienta de automatización</a:t>
            </a:r>
            <a:r>
              <a:rPr lang="es-MX" sz="1600" dirty="0" smtClean="0">
                <a:latin typeface="Arial" panose="020B0604020202020204" pitchFamily="34" charset="0"/>
                <a:cs typeface="Arial" panose="020B0604020202020204" pitchFamily="34" charset="0"/>
              </a:rPr>
              <a:t>.</a:t>
            </a:r>
          </a:p>
          <a:p>
            <a:pPr algn="just">
              <a:lnSpc>
                <a:spcPct val="150000"/>
              </a:lnSpc>
            </a:pPr>
            <a:endParaRPr lang="es-MX" sz="1600" dirty="0">
              <a:latin typeface="Arial" panose="020B0604020202020204" pitchFamily="34" charset="0"/>
              <a:cs typeface="Arial" panose="020B0604020202020204" pitchFamily="34" charset="0"/>
            </a:endParaRPr>
          </a:p>
          <a:p>
            <a:pPr algn="ctr">
              <a:lnSpc>
                <a:spcPct val="150000"/>
              </a:lnSpc>
            </a:pPr>
            <a:r>
              <a:rPr lang="es-MX" b="1" dirty="0">
                <a:latin typeface="Arial" panose="020B0604020202020204" pitchFamily="34" charset="0"/>
                <a:cs typeface="Arial" panose="020B0604020202020204" pitchFamily="34" charset="0"/>
              </a:rPr>
              <a:t>Análisis del </a:t>
            </a:r>
            <a:r>
              <a:rPr lang="es-MX" b="1" dirty="0" smtClean="0">
                <a:latin typeface="Arial" panose="020B0604020202020204" pitchFamily="34" charset="0"/>
                <a:cs typeface="Arial" panose="020B0604020202020204" pitchFamily="34" charset="0"/>
              </a:rPr>
              <a:t>proceso</a:t>
            </a:r>
          </a:p>
          <a:p>
            <a:pPr algn="just">
              <a:lnSpc>
                <a:spcPct val="150000"/>
              </a:lnSpc>
            </a:pPr>
            <a:r>
              <a:rPr lang="es-MX" sz="1600" dirty="0" smtClean="0">
                <a:latin typeface="Arial" panose="020B0604020202020204" pitchFamily="34" charset="0"/>
                <a:cs typeface="Arial" panose="020B0604020202020204" pitchFamily="34" charset="0"/>
              </a:rPr>
              <a:t>En </a:t>
            </a:r>
            <a:r>
              <a:rPr lang="es-MX" sz="1600" dirty="0">
                <a:latin typeface="Arial" panose="020B0604020202020204" pitchFamily="34" charset="0"/>
                <a:cs typeface="Arial" panose="020B0604020202020204" pitchFamily="34" charset="0"/>
              </a:rPr>
              <a:t>la primera etapa se identificaron las actividades que forman parte del proceso del taller de electrónica. Se determinaron las áreas involucradas, responsables, orden de las actividades y decisiones que pueden presentarse durante la atención de los </a:t>
            </a:r>
            <a:r>
              <a:rPr lang="es-MX" sz="1600" dirty="0" err="1">
                <a:latin typeface="Arial" panose="020B0604020202020204" pitchFamily="34" charset="0"/>
                <a:cs typeface="Arial" panose="020B0604020202020204" pitchFamily="34" charset="0"/>
              </a:rPr>
              <a:t>dispositivos.También</a:t>
            </a:r>
            <a:r>
              <a:rPr lang="es-MX" sz="1600" dirty="0">
                <a:latin typeface="Arial" panose="020B0604020202020204" pitchFamily="34" charset="0"/>
                <a:cs typeface="Arial" panose="020B0604020202020204" pitchFamily="34" charset="0"/>
              </a:rPr>
              <a:t> se establecieron las condiciones iniciales del proyecto, considerando un lote de 50 dispositivos y las características necesarias para representar el funcionamiento del taller.</a:t>
            </a:r>
            <a:endParaRPr lang="es-MX" sz="1600" dirty="0" smtClean="0">
              <a:latin typeface="Arial" panose="020B0604020202020204" pitchFamily="34" charset="0"/>
              <a:cs typeface="Arial" panose="020B0604020202020204" pitchFamily="34" charset="0"/>
            </a:endParaRPr>
          </a:p>
          <a:p>
            <a:pPr algn="just">
              <a:lnSpc>
                <a:spcPct val="150000"/>
              </a:lnSpc>
            </a:pPr>
            <a:endParaRPr lang="es-MX" sz="1600" dirty="0" smtClean="0">
              <a:latin typeface="Arial" panose="020B0604020202020204" pitchFamily="34" charset="0"/>
              <a:cs typeface="Arial" panose="020B0604020202020204" pitchFamily="34" charset="0"/>
            </a:endParaRPr>
          </a:p>
          <a:p>
            <a:pPr algn="ctr">
              <a:lnSpc>
                <a:spcPct val="150000"/>
              </a:lnSpc>
            </a:pPr>
            <a:r>
              <a:rPr lang="es-MX" b="1" dirty="0">
                <a:latin typeface="Arial" panose="020B0604020202020204" pitchFamily="34" charset="0"/>
                <a:cs typeface="Arial" panose="020B0604020202020204" pitchFamily="34" charset="0"/>
              </a:rPr>
              <a:t>Modelado BPMN en </a:t>
            </a:r>
            <a:r>
              <a:rPr lang="es-MX" b="1" dirty="0" err="1" smtClean="0">
                <a:latin typeface="Arial" panose="020B0604020202020204" pitchFamily="34" charset="0"/>
                <a:cs typeface="Arial" panose="020B0604020202020204" pitchFamily="34" charset="0"/>
              </a:rPr>
              <a:t>Camunda</a:t>
            </a:r>
            <a:endParaRPr lang="es-MX" b="1" dirty="0" smtClean="0">
              <a:latin typeface="Arial" panose="020B0604020202020204" pitchFamily="34" charset="0"/>
              <a:cs typeface="Arial" panose="020B0604020202020204" pitchFamily="34" charset="0"/>
            </a:endParaRPr>
          </a:p>
          <a:p>
            <a:pPr algn="just">
              <a:lnSpc>
                <a:spcPct val="150000"/>
              </a:lnSpc>
            </a:pPr>
            <a:r>
              <a:rPr lang="es-MX" sz="1600" dirty="0" smtClean="0">
                <a:latin typeface="Arial" panose="020B0604020202020204" pitchFamily="34" charset="0"/>
                <a:cs typeface="Arial" panose="020B0604020202020204" pitchFamily="34" charset="0"/>
              </a:rPr>
              <a:t>Una </a:t>
            </a:r>
            <a:r>
              <a:rPr lang="es-MX" sz="1600" dirty="0">
                <a:latin typeface="Arial" panose="020B0604020202020204" pitchFamily="34" charset="0"/>
                <a:cs typeface="Arial" panose="020B0604020202020204" pitchFamily="34" charset="0"/>
              </a:rPr>
              <a:t>vez analizado el proceso, se realizó su representación mediante BPMN 2.0 utilizando </a:t>
            </a:r>
            <a:r>
              <a:rPr lang="es-MX" sz="1600" dirty="0" err="1">
                <a:latin typeface="Arial" panose="020B0604020202020204" pitchFamily="34" charset="0"/>
                <a:cs typeface="Arial" panose="020B0604020202020204" pitchFamily="34" charset="0"/>
              </a:rPr>
              <a:t>Camunda</a:t>
            </a:r>
            <a:r>
              <a:rPr lang="es-MX" sz="1600" dirty="0">
                <a:latin typeface="Arial" panose="020B0604020202020204" pitchFamily="34" charset="0"/>
                <a:cs typeface="Arial" panose="020B0604020202020204" pitchFamily="34" charset="0"/>
              </a:rPr>
              <a:t>. En esta etapa se establecieron las actividades, eventos, compuertas, flujos, piscinas y carriles correspondientes</a:t>
            </a:r>
            <a:r>
              <a:rPr lang="es-MX" sz="1600" dirty="0" smtClean="0">
                <a:latin typeface="Arial" panose="020B0604020202020204" pitchFamily="34" charset="0"/>
                <a:cs typeface="Arial" panose="020B0604020202020204" pitchFamily="34" charset="0"/>
              </a:rPr>
              <a:t>. El </a:t>
            </a:r>
            <a:r>
              <a:rPr lang="es-MX" sz="1600" dirty="0">
                <a:latin typeface="Arial" panose="020B0604020202020204" pitchFamily="34" charset="0"/>
                <a:cs typeface="Arial" panose="020B0604020202020204" pitchFamily="34" charset="0"/>
              </a:rPr>
              <a:t>objetivo fue obtener un primer modelo estructurado del proceso que permitiera visualizar su funcionamiento y servir como referencia para las siguientes etapas del proyecto.</a:t>
            </a:r>
          </a:p>
          <a:p>
            <a:pPr algn="just">
              <a:lnSpc>
                <a:spcPct val="150000"/>
              </a:lnSpc>
            </a:pPr>
            <a:endParaRPr lang="es-MX"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14510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63611" y="437855"/>
            <a:ext cx="11465169" cy="5724644"/>
          </a:xfrm>
          <a:prstGeom prst="rect">
            <a:avLst/>
          </a:prstGeom>
          <a:noFill/>
        </p:spPr>
        <p:txBody>
          <a:bodyPr wrap="square" rtlCol="0">
            <a:spAutoFit/>
          </a:bodyPr>
          <a:lstStyle/>
          <a:p>
            <a:pPr algn="ctr">
              <a:lnSpc>
                <a:spcPct val="150000"/>
              </a:lnSpc>
            </a:pPr>
            <a:r>
              <a:rPr lang="es-MX" b="1" dirty="0">
                <a:latin typeface="Arial" panose="020B0604020202020204" pitchFamily="34" charset="0"/>
                <a:cs typeface="Arial" panose="020B0604020202020204" pitchFamily="34" charset="0"/>
              </a:rPr>
              <a:t>Modelado y simulación en </a:t>
            </a:r>
            <a:r>
              <a:rPr lang="es-MX" b="1" dirty="0" err="1" smtClean="0">
                <a:latin typeface="Arial" panose="020B0604020202020204" pitchFamily="34" charset="0"/>
                <a:cs typeface="Arial" panose="020B0604020202020204" pitchFamily="34" charset="0"/>
              </a:rPr>
              <a:t>Bizagi</a:t>
            </a:r>
            <a:endParaRPr lang="es-MX" b="1" dirty="0" smtClean="0">
              <a:latin typeface="Arial" panose="020B0604020202020204" pitchFamily="34" charset="0"/>
              <a:cs typeface="Arial" panose="020B0604020202020204" pitchFamily="34" charset="0"/>
            </a:endParaRPr>
          </a:p>
          <a:p>
            <a:pPr algn="just">
              <a:lnSpc>
                <a:spcPct val="150000"/>
              </a:lnSpc>
            </a:pPr>
            <a:r>
              <a:rPr lang="es-MX" sz="1600" dirty="0" smtClean="0">
                <a:latin typeface="Arial" panose="020B0604020202020204" pitchFamily="34" charset="0"/>
                <a:cs typeface="Arial" panose="020B0604020202020204" pitchFamily="34" charset="0"/>
              </a:rPr>
              <a:t>Posteriormente</a:t>
            </a:r>
            <a:r>
              <a:rPr lang="es-MX" sz="1600" dirty="0">
                <a:latin typeface="Arial" panose="020B0604020202020204" pitchFamily="34" charset="0"/>
                <a:cs typeface="Arial" panose="020B0604020202020204" pitchFamily="34" charset="0"/>
              </a:rPr>
              <a:t>, el proceso fue trabajado en </a:t>
            </a:r>
            <a:r>
              <a:rPr lang="es-MX" sz="1600" dirty="0" err="1">
                <a:latin typeface="Arial" panose="020B0604020202020204" pitchFamily="34" charset="0"/>
                <a:cs typeface="Arial" panose="020B0604020202020204" pitchFamily="34" charset="0"/>
              </a:rPr>
              <a:t>Bizagi</a:t>
            </a:r>
            <a:r>
              <a:rPr lang="es-MX" sz="1600" dirty="0">
                <a:latin typeface="Arial" panose="020B0604020202020204" pitchFamily="34" charset="0"/>
                <a:cs typeface="Arial" panose="020B0604020202020204" pitchFamily="34" charset="0"/>
              </a:rPr>
              <a:t> para realizar su análisis y simulación. En esta etapa se configuraron variables relacionadas con los tiempos de las actividades, recursos disponibles, cantidad de dispositivos y porcentaje de </a:t>
            </a:r>
            <a:r>
              <a:rPr lang="es-MX" sz="1600" dirty="0" err="1">
                <a:latin typeface="Arial" panose="020B0604020202020204" pitchFamily="34" charset="0"/>
                <a:cs typeface="Arial" panose="020B0604020202020204" pitchFamily="34" charset="0"/>
              </a:rPr>
              <a:t>retrabajo</a:t>
            </a:r>
            <a:r>
              <a:rPr lang="es-MX" sz="1600" dirty="0" smtClean="0">
                <a:latin typeface="Arial" panose="020B0604020202020204" pitchFamily="34" charset="0"/>
                <a:cs typeface="Arial" panose="020B0604020202020204" pitchFamily="34" charset="0"/>
              </a:rPr>
              <a:t>. La </a:t>
            </a:r>
            <a:r>
              <a:rPr lang="es-MX" sz="1600" dirty="0">
                <a:latin typeface="Arial" panose="020B0604020202020204" pitchFamily="34" charset="0"/>
                <a:cs typeface="Arial" panose="020B0604020202020204" pitchFamily="34" charset="0"/>
              </a:rPr>
              <a:t>simulación permitió observar el comportamiento de los casos y obtener información sobre los tiempos, recursos y posibles situaciones que afectan el flujo normal del proceso</a:t>
            </a:r>
            <a:r>
              <a:rPr lang="es-MX" sz="1600" dirty="0" smtClean="0">
                <a:latin typeface="Arial" panose="020B0604020202020204" pitchFamily="34" charset="0"/>
                <a:cs typeface="Arial" panose="020B0604020202020204" pitchFamily="34" charset="0"/>
              </a:rPr>
              <a:t>.</a:t>
            </a:r>
          </a:p>
          <a:p>
            <a:pPr algn="just">
              <a:lnSpc>
                <a:spcPct val="150000"/>
              </a:lnSpc>
            </a:pPr>
            <a:endParaRPr lang="es-MX" sz="1600" dirty="0" smtClean="0">
              <a:latin typeface="Arial" panose="020B0604020202020204" pitchFamily="34" charset="0"/>
              <a:cs typeface="Arial" panose="020B0604020202020204" pitchFamily="34" charset="0"/>
            </a:endParaRPr>
          </a:p>
          <a:p>
            <a:pPr algn="ctr">
              <a:lnSpc>
                <a:spcPct val="150000"/>
              </a:lnSpc>
            </a:pPr>
            <a:r>
              <a:rPr lang="es-MX" b="1" dirty="0" smtClean="0">
                <a:latin typeface="Arial" panose="020B0604020202020204" pitchFamily="34" charset="0"/>
                <a:cs typeface="Arial" panose="020B0604020202020204" pitchFamily="34" charset="0"/>
              </a:rPr>
              <a:t>Implementación </a:t>
            </a:r>
            <a:r>
              <a:rPr lang="es-MX" b="1" dirty="0">
                <a:latin typeface="Arial" panose="020B0604020202020204" pitchFamily="34" charset="0"/>
                <a:cs typeface="Arial" panose="020B0604020202020204" pitchFamily="34" charset="0"/>
              </a:rPr>
              <a:t>en Bonita </a:t>
            </a:r>
            <a:r>
              <a:rPr lang="es-MX" b="1" dirty="0" smtClean="0">
                <a:latin typeface="Arial" panose="020B0604020202020204" pitchFamily="34" charset="0"/>
                <a:cs typeface="Arial" panose="020B0604020202020204" pitchFamily="34" charset="0"/>
              </a:rPr>
              <a:t>Studio</a:t>
            </a:r>
          </a:p>
          <a:p>
            <a:pPr algn="just">
              <a:lnSpc>
                <a:spcPct val="150000"/>
              </a:lnSpc>
            </a:pPr>
            <a:r>
              <a:rPr lang="es-MX" sz="1600" dirty="0" smtClean="0">
                <a:latin typeface="Arial" panose="020B0604020202020204" pitchFamily="34" charset="0"/>
                <a:cs typeface="Arial" panose="020B0604020202020204" pitchFamily="34" charset="0"/>
              </a:rPr>
              <a:t>Después </a:t>
            </a:r>
            <a:r>
              <a:rPr lang="es-MX" sz="1600" dirty="0">
                <a:latin typeface="Arial" panose="020B0604020202020204" pitchFamily="34" charset="0"/>
                <a:cs typeface="Arial" panose="020B0604020202020204" pitchFamily="34" charset="0"/>
              </a:rPr>
              <a:t>del modelado y análisis, el proceso fue implementado en Bonita Studio. En esta etapa se configuraron los elementos necesarios para transformar el modelo en un proceso </a:t>
            </a:r>
            <a:r>
              <a:rPr lang="es-MX" sz="1600" dirty="0" err="1">
                <a:latin typeface="Arial" panose="020B0604020202020204" pitchFamily="34" charset="0"/>
                <a:cs typeface="Arial" panose="020B0604020202020204" pitchFamily="34" charset="0"/>
              </a:rPr>
              <a:t>automatizado.Se</a:t>
            </a:r>
            <a:r>
              <a:rPr lang="es-MX" sz="1600" dirty="0">
                <a:latin typeface="Arial" panose="020B0604020202020204" pitchFamily="34" charset="0"/>
                <a:cs typeface="Arial" panose="020B0604020202020204" pitchFamily="34" charset="0"/>
              </a:rPr>
              <a:t> establecieron las actividades, participantes y condiciones requeridas para permitir que los casos pudieran avanzar dentro del proceso</a:t>
            </a:r>
            <a:r>
              <a:rPr lang="es-MX" sz="1600" dirty="0" smtClean="0">
                <a:latin typeface="Arial" panose="020B0604020202020204" pitchFamily="34" charset="0"/>
                <a:cs typeface="Arial" panose="020B0604020202020204" pitchFamily="34" charset="0"/>
              </a:rPr>
              <a:t>.</a:t>
            </a:r>
          </a:p>
          <a:p>
            <a:pPr algn="just">
              <a:lnSpc>
                <a:spcPct val="150000"/>
              </a:lnSpc>
            </a:pPr>
            <a:endParaRPr lang="es-MX" sz="1600" dirty="0">
              <a:latin typeface="Arial" panose="020B0604020202020204" pitchFamily="34" charset="0"/>
              <a:cs typeface="Arial" panose="020B0604020202020204" pitchFamily="34" charset="0"/>
            </a:endParaRPr>
          </a:p>
          <a:p>
            <a:pPr algn="ctr">
              <a:lnSpc>
                <a:spcPct val="150000"/>
              </a:lnSpc>
            </a:pPr>
            <a:r>
              <a:rPr lang="es-MX" b="1" dirty="0" smtClean="0">
                <a:latin typeface="Arial" panose="020B0604020202020204" pitchFamily="34" charset="0"/>
                <a:cs typeface="Arial" panose="020B0604020202020204" pitchFamily="34" charset="0"/>
              </a:rPr>
              <a:t>Ejecución </a:t>
            </a:r>
            <a:r>
              <a:rPr lang="es-MX" b="1" dirty="0">
                <a:latin typeface="Arial" panose="020B0604020202020204" pitchFamily="34" charset="0"/>
                <a:cs typeface="Arial" panose="020B0604020202020204" pitchFamily="34" charset="0"/>
              </a:rPr>
              <a:t>y </a:t>
            </a:r>
            <a:r>
              <a:rPr lang="es-MX" b="1" dirty="0" smtClean="0">
                <a:latin typeface="Arial" panose="020B0604020202020204" pitchFamily="34" charset="0"/>
                <a:cs typeface="Arial" panose="020B0604020202020204" pitchFamily="34" charset="0"/>
              </a:rPr>
              <a:t>verificación</a:t>
            </a:r>
          </a:p>
          <a:p>
            <a:pPr algn="just">
              <a:lnSpc>
                <a:spcPct val="150000"/>
              </a:lnSpc>
            </a:pPr>
            <a:r>
              <a:rPr lang="es-MX" sz="1600" dirty="0" smtClean="0">
                <a:latin typeface="Arial" panose="020B0604020202020204" pitchFamily="34" charset="0"/>
                <a:cs typeface="Arial" panose="020B0604020202020204" pitchFamily="34" charset="0"/>
              </a:rPr>
              <a:t>Finalmente</a:t>
            </a:r>
            <a:r>
              <a:rPr lang="es-MX" sz="1600" dirty="0">
                <a:latin typeface="Arial" panose="020B0604020202020204" pitchFamily="34" charset="0"/>
                <a:cs typeface="Arial" panose="020B0604020202020204" pitchFamily="34" charset="0"/>
              </a:rPr>
              <a:t>, el proceso implementado fue ejecutado mediante Bonita </a:t>
            </a:r>
            <a:r>
              <a:rPr lang="es-MX" sz="1600" dirty="0" err="1">
                <a:latin typeface="Arial" panose="020B0604020202020204" pitchFamily="34" charset="0"/>
                <a:cs typeface="Arial" panose="020B0604020202020204" pitchFamily="34" charset="0"/>
              </a:rPr>
              <a:t>User</a:t>
            </a:r>
            <a:r>
              <a:rPr lang="es-MX" sz="1600" dirty="0">
                <a:latin typeface="Arial" panose="020B0604020202020204" pitchFamily="34" charset="0"/>
                <a:cs typeface="Arial" panose="020B0604020202020204" pitchFamily="34" charset="0"/>
              </a:rPr>
              <a:t> </a:t>
            </a:r>
            <a:r>
              <a:rPr lang="es-MX" sz="1600" dirty="0" err="1">
                <a:latin typeface="Arial" panose="020B0604020202020204" pitchFamily="34" charset="0"/>
                <a:cs typeface="Arial" panose="020B0604020202020204" pitchFamily="34" charset="0"/>
              </a:rPr>
              <a:t>Application</a:t>
            </a:r>
            <a:r>
              <a:rPr lang="es-MX" sz="1600" dirty="0">
                <a:latin typeface="Arial" panose="020B0604020202020204" pitchFamily="34" charset="0"/>
                <a:cs typeface="Arial" panose="020B0604020202020204" pitchFamily="34" charset="0"/>
              </a:rPr>
              <a:t>. Esta etapa permitió comprobar el funcionamiento del modelo y observar la interacción de los usuarios con las diferentes </a:t>
            </a:r>
            <a:r>
              <a:rPr lang="es-MX" sz="1600" dirty="0" err="1">
                <a:latin typeface="Arial" panose="020B0604020202020204" pitchFamily="34" charset="0"/>
                <a:cs typeface="Arial" panose="020B0604020202020204" pitchFamily="34" charset="0"/>
              </a:rPr>
              <a:t>tareas.Las</a:t>
            </a:r>
            <a:r>
              <a:rPr lang="es-MX" sz="1600" dirty="0">
                <a:latin typeface="Arial" panose="020B0604020202020204" pitchFamily="34" charset="0"/>
                <a:cs typeface="Arial" panose="020B0604020202020204" pitchFamily="34" charset="0"/>
              </a:rPr>
              <a:t> evidencias obtenidas durante esta etapa permitieron verificar que el proceso pudiera ejecutarse de acuerdo con el modelo establecido.</a:t>
            </a:r>
          </a:p>
        </p:txBody>
      </p:sp>
    </p:spTree>
    <p:extLst>
      <p:ext uri="{BB962C8B-B14F-4D97-AF65-F5344CB8AC3E}">
        <p14:creationId xmlns:p14="http://schemas.microsoft.com/office/powerpoint/2010/main" val="37924366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197756" y="4642449"/>
            <a:ext cx="9676436" cy="889154"/>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iniciar el proyecto en </a:t>
            </a:r>
            <a:r>
              <a:rPr lang="es-MX" sz="1200" dirty="0" err="1" smtClean="0">
                <a:latin typeface="Arial" panose="020B0604020202020204" pitchFamily="34" charset="0"/>
                <a:cs typeface="Arial" panose="020B0604020202020204" pitchFamily="34" charset="0"/>
              </a:rPr>
              <a:t>Camunda</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Modeler</a:t>
            </a:r>
            <a:r>
              <a:rPr lang="es-MX" sz="1200" dirty="0" smtClean="0">
                <a:latin typeface="Arial" panose="020B0604020202020204" pitchFamily="34" charset="0"/>
                <a:cs typeface="Arial" panose="020B0604020202020204" pitchFamily="34" charset="0"/>
              </a:rPr>
              <a:t>, se abrió un nuevo archivo de diagrama en blanco sobre el lienzo del entorno de trabajo, donde se colocó el círculo correspondiente al evento de inicio (</a:t>
            </a:r>
            <a:r>
              <a:rPr lang="es-MX" sz="1200" dirty="0" err="1" smtClean="0">
                <a:latin typeface="Arial" panose="020B0604020202020204" pitchFamily="34" charset="0"/>
                <a:cs typeface="Arial" panose="020B0604020202020204" pitchFamily="34" charset="0"/>
              </a:rPr>
              <a:t>Start</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Event</a:t>
            </a:r>
            <a:r>
              <a:rPr lang="es-MX" sz="1200" dirty="0" smtClean="0">
                <a:latin typeface="Arial" panose="020B0604020202020204" pitchFamily="34" charset="0"/>
                <a:cs typeface="Arial" panose="020B0604020202020204" pitchFamily="34" charset="0"/>
              </a:rPr>
              <a:t>) en el extremo izquierdo como punto de partida para modelar el flujo operativo del taller y la llegada del lote de equipos</a:t>
            </a:r>
            <a:endParaRPr lang="es-MX" sz="1200"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2391369" y="1111317"/>
            <a:ext cx="7289210" cy="3259558"/>
          </a:xfrm>
          <a:prstGeom prst="rect">
            <a:avLst/>
          </a:prstGeom>
        </p:spPr>
      </p:pic>
      <p:sp>
        <p:nvSpPr>
          <p:cNvPr id="5" name="CuadroTexto 4"/>
          <p:cNvSpPr txBox="1"/>
          <p:nvPr/>
        </p:nvSpPr>
        <p:spPr>
          <a:xfrm>
            <a:off x="879231" y="316523"/>
            <a:ext cx="10700238" cy="461665"/>
          </a:xfrm>
          <a:prstGeom prst="rect">
            <a:avLst/>
          </a:prstGeom>
          <a:noFill/>
        </p:spPr>
        <p:txBody>
          <a:bodyPr wrap="square" rtlCol="0">
            <a:spAutoFit/>
          </a:bodyPr>
          <a:lstStyle/>
          <a:p>
            <a:pPr algn="ctr"/>
            <a:r>
              <a:rPr lang="es-MX" sz="2400" b="1" dirty="0" smtClean="0">
                <a:latin typeface="Arial" panose="020B0604020202020204" pitchFamily="34" charset="0"/>
                <a:cs typeface="Arial" panose="020B0604020202020204" pitchFamily="34" charset="0"/>
              </a:rPr>
              <a:t>DIAGRAMA DE FLUJO DEL TALLER DE ELECTRONICA EN CAMUNDA</a:t>
            </a:r>
            <a:endParaRPr lang="es-MX"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12142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468011" y="1167743"/>
            <a:ext cx="8513038" cy="3230635"/>
          </a:xfrm>
          <a:prstGeom prst="rect">
            <a:avLst/>
          </a:prstGeom>
        </p:spPr>
      </p:pic>
      <p:sp>
        <p:nvSpPr>
          <p:cNvPr id="3" name="Elipse 2"/>
          <p:cNvSpPr/>
          <p:nvPr/>
        </p:nvSpPr>
        <p:spPr>
          <a:xfrm>
            <a:off x="1468011" y="2280213"/>
            <a:ext cx="370390" cy="2777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Elipse 3"/>
          <p:cNvSpPr/>
          <p:nvPr/>
        </p:nvSpPr>
        <p:spPr>
          <a:xfrm>
            <a:off x="1782500" y="1446835"/>
            <a:ext cx="289368" cy="28936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CuadroTexto 4"/>
          <p:cNvSpPr txBox="1"/>
          <p:nvPr/>
        </p:nvSpPr>
        <p:spPr>
          <a:xfrm>
            <a:off x="1197756" y="4642449"/>
            <a:ext cx="9676436" cy="1477328"/>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estructurar formalmente el flujo operativo del taller en </a:t>
            </a:r>
            <a:r>
              <a:rPr lang="es-MX" sz="1200" dirty="0" err="1" smtClean="0">
                <a:latin typeface="Arial" panose="020B0604020202020204" pitchFamily="34" charset="0"/>
                <a:cs typeface="Arial" panose="020B0604020202020204" pitchFamily="34" charset="0"/>
              </a:rPr>
              <a:t>Camunda</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Modeler</a:t>
            </a:r>
            <a:r>
              <a:rPr lang="es-MX" sz="1200" dirty="0" smtClean="0">
                <a:latin typeface="Arial" panose="020B0604020202020204" pitchFamily="34" charset="0"/>
                <a:cs typeface="Arial" panose="020B0604020202020204" pitchFamily="34" charset="0"/>
              </a:rPr>
              <a:t>, se trazaron de manera secuencial sobre el lienzo las cinco estaciones de trabajo fundamentales conectadas mediante flujos de secuencia. El proceso inicia en la etapa de recepción para el registro de los dispositivos, continúa hacia el diagnóstico técnico para la identificación de fallas, avanza a la estación de reparación la cual representa el principal cuello de operación del sistema, pasa por las pruebas de calidad para la verificación del funcionamiento, y concluye finalmente en la fase de entrega y facturación para la salida del lote de equipos.</a:t>
            </a:r>
            <a:endParaRPr lang="es-MX" sz="1200" dirty="0">
              <a:latin typeface="Arial" panose="020B0604020202020204" pitchFamily="34" charset="0"/>
              <a:cs typeface="Arial" panose="020B0604020202020204" pitchFamily="34" charset="0"/>
            </a:endParaRPr>
          </a:p>
        </p:txBody>
      </p:sp>
      <p:sp>
        <p:nvSpPr>
          <p:cNvPr id="6" name="Elipse 5"/>
          <p:cNvSpPr/>
          <p:nvPr/>
        </p:nvSpPr>
        <p:spPr>
          <a:xfrm>
            <a:off x="2569579" y="2262201"/>
            <a:ext cx="1134319" cy="104172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Elipse 6"/>
          <p:cNvSpPr/>
          <p:nvPr/>
        </p:nvSpPr>
        <p:spPr>
          <a:xfrm>
            <a:off x="3819020" y="2224896"/>
            <a:ext cx="1134319" cy="104172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Elipse 7"/>
          <p:cNvSpPr/>
          <p:nvPr/>
        </p:nvSpPr>
        <p:spPr>
          <a:xfrm>
            <a:off x="6035974" y="2224897"/>
            <a:ext cx="1134319" cy="104172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Elipse 8"/>
          <p:cNvSpPr/>
          <p:nvPr/>
        </p:nvSpPr>
        <p:spPr>
          <a:xfrm>
            <a:off x="8062347" y="2224896"/>
            <a:ext cx="1134319" cy="104172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Elipse 9"/>
          <p:cNvSpPr/>
          <p:nvPr/>
        </p:nvSpPr>
        <p:spPr>
          <a:xfrm>
            <a:off x="4929279" y="2262176"/>
            <a:ext cx="1134319" cy="104172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6999438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180171" y="4484461"/>
            <a:ext cx="9676436" cy="1443152"/>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Posteriormente, se incorporó una compuerta exclusiva representada con un rombo etiquetada con la pregunta de validación del funcionamiento del equipo para gestionar las condiciones lógicas posteriores a las pruebas de calidad. Si el dispositivo supera la revisión de manera exitosa (opción "Sí"), el flujo continúa de forma directa hacia la estación de entrega y facturación; en caso contrario (opción "No"), se activa de manera estocástica el bucle de </a:t>
            </a:r>
            <a:r>
              <a:rPr lang="es-MX" sz="1200" dirty="0" err="1" smtClean="0">
                <a:latin typeface="Arial" panose="020B0604020202020204" pitchFamily="34" charset="0"/>
                <a:cs typeface="Arial" panose="020B0604020202020204" pitchFamily="34" charset="0"/>
              </a:rPr>
              <a:t>retrabajo</a:t>
            </a:r>
            <a:r>
              <a:rPr lang="es-MX" sz="1200" dirty="0" smtClean="0">
                <a:latin typeface="Arial" panose="020B0604020202020204" pitchFamily="34" charset="0"/>
                <a:cs typeface="Arial" panose="020B0604020202020204" pitchFamily="34" charset="0"/>
              </a:rPr>
              <a:t> con una probabilidad del 20%, el cual redirige automáticamente el equipo defectuoso de regreso a la estación de reparación para corregir la falla antes de permitir su salida definitiva del taller.</a:t>
            </a:r>
            <a:endParaRPr lang="es-MX" sz="1200"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a:blip r:embed="rId2"/>
          <a:stretch>
            <a:fillRect/>
          </a:stretch>
        </p:blipFill>
        <p:spPr>
          <a:xfrm>
            <a:off x="1468011" y="1167743"/>
            <a:ext cx="8513038" cy="3230635"/>
          </a:xfrm>
          <a:prstGeom prst="rect">
            <a:avLst/>
          </a:prstGeom>
        </p:spPr>
      </p:pic>
      <p:sp>
        <p:nvSpPr>
          <p:cNvPr id="6" name="Elipse 5"/>
          <p:cNvSpPr/>
          <p:nvPr/>
        </p:nvSpPr>
        <p:spPr>
          <a:xfrm>
            <a:off x="7153154" y="2210114"/>
            <a:ext cx="1030147"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Elipse 6"/>
          <p:cNvSpPr/>
          <p:nvPr/>
        </p:nvSpPr>
        <p:spPr>
          <a:xfrm>
            <a:off x="4988242" y="2667314"/>
            <a:ext cx="1030147"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Elipse 7"/>
          <p:cNvSpPr/>
          <p:nvPr/>
        </p:nvSpPr>
        <p:spPr>
          <a:xfrm>
            <a:off x="8183301" y="1868660"/>
            <a:ext cx="1030147"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40753396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180171" y="4484461"/>
            <a:ext cx="9676436" cy="1166153"/>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Al interactuar directamente sobre cualquiera de los elementos del diagrama como en la estación de reparación y mantenimiento, </a:t>
            </a:r>
            <a:r>
              <a:rPr lang="es-MX" sz="1200" dirty="0" err="1" smtClean="0">
                <a:latin typeface="Arial" panose="020B0604020202020204" pitchFamily="34" charset="0"/>
                <a:cs typeface="Arial" panose="020B0604020202020204" pitchFamily="34" charset="0"/>
              </a:rPr>
              <a:t>Camunda</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Modeler</a:t>
            </a:r>
            <a:r>
              <a:rPr lang="es-MX" sz="1200" dirty="0" smtClean="0">
                <a:latin typeface="Arial" panose="020B0604020202020204" pitchFamily="34" charset="0"/>
                <a:cs typeface="Arial" panose="020B0604020202020204" pitchFamily="34" charset="0"/>
              </a:rPr>
              <a:t> despliega un menú contextual flotante (</a:t>
            </a:r>
            <a:r>
              <a:rPr lang="es-MX" sz="1200" dirty="0" err="1" smtClean="0">
                <a:latin typeface="Arial" panose="020B0604020202020204" pitchFamily="34" charset="0"/>
                <a:cs typeface="Arial" panose="020B0604020202020204" pitchFamily="34" charset="0"/>
              </a:rPr>
              <a:t>Append</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Element</a:t>
            </a:r>
            <a:r>
              <a:rPr lang="es-MX" sz="1200" dirty="0" smtClean="0">
                <a:latin typeface="Arial" panose="020B0604020202020204" pitchFamily="34" charset="0"/>
                <a:cs typeface="Arial" panose="020B0604020202020204" pitchFamily="34" charset="0"/>
              </a:rPr>
              <a:t>), el cual permite añadir de forma rápida nuevos componentes, tareas de usuario (</a:t>
            </a:r>
            <a:r>
              <a:rPr lang="es-MX" sz="1200" dirty="0" err="1" smtClean="0">
                <a:latin typeface="Arial" panose="020B0604020202020204" pitchFamily="34" charset="0"/>
                <a:cs typeface="Arial" panose="020B0604020202020204" pitchFamily="34" charset="0"/>
              </a:rPr>
              <a:t>User</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task</a:t>
            </a:r>
            <a:r>
              <a:rPr lang="es-MX" sz="1200" dirty="0" smtClean="0">
                <a:latin typeface="Arial" panose="020B0604020202020204" pitchFamily="34" charset="0"/>
                <a:cs typeface="Arial" panose="020B0604020202020204" pitchFamily="34" charset="0"/>
              </a:rPr>
              <a:t>), compuertas o eventos adicionales, facilitando la edición ágil, la estructuración de flujos alternativos y la configuración de las propiedades de cada nodo dentro del proceso operativo del taller.</a:t>
            </a:r>
            <a:endParaRPr lang="es-MX" sz="1200" dirty="0">
              <a:latin typeface="Arial" panose="020B0604020202020204" pitchFamily="34" charset="0"/>
              <a:cs typeface="Arial" panose="020B0604020202020204" pitchFamily="34" charset="0"/>
            </a:endParaRPr>
          </a:p>
        </p:txBody>
      </p:sp>
      <p:pic>
        <p:nvPicPr>
          <p:cNvPr id="2" name="Imagen 1"/>
          <p:cNvPicPr>
            <a:picLocks noChangeAspect="1"/>
          </p:cNvPicPr>
          <p:nvPr/>
        </p:nvPicPr>
        <p:blipFill>
          <a:blip r:embed="rId2"/>
          <a:stretch>
            <a:fillRect/>
          </a:stretch>
        </p:blipFill>
        <p:spPr>
          <a:xfrm>
            <a:off x="1925674" y="853718"/>
            <a:ext cx="8185429" cy="3278446"/>
          </a:xfrm>
          <a:prstGeom prst="rect">
            <a:avLst/>
          </a:prstGeom>
        </p:spPr>
      </p:pic>
      <p:sp>
        <p:nvSpPr>
          <p:cNvPr id="8" name="Elipse 7"/>
          <p:cNvSpPr/>
          <p:nvPr/>
        </p:nvSpPr>
        <p:spPr>
          <a:xfrm>
            <a:off x="5335930" y="1919994"/>
            <a:ext cx="1180617" cy="10547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5691374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180171" y="4484461"/>
            <a:ext cx="9676436" cy="1200329"/>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interconectar de forma ordenada las distintas etapas del proceso, se configuró el flujo predeterminado representado por líneas de secuencia con una pequeña marca diagonal en su origen, las cuales establecen la dirección y el orden lógico en el que los dispositivos avanzan de una estación a otra como se observa en la transición inicial entre la recepción de equipos y el diagnóstico técnico, garantizando así la continuidad y el tránsito correcto del lote a lo largo de todo el modelo operativo.</a:t>
            </a:r>
            <a:endParaRPr lang="es-MX" sz="1200"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a:blip r:embed="rId2"/>
          <a:stretch>
            <a:fillRect/>
          </a:stretch>
        </p:blipFill>
        <p:spPr>
          <a:xfrm>
            <a:off x="789715" y="929608"/>
            <a:ext cx="10066892" cy="3368332"/>
          </a:xfrm>
          <a:prstGeom prst="rect">
            <a:avLst/>
          </a:prstGeom>
        </p:spPr>
      </p:pic>
      <p:sp>
        <p:nvSpPr>
          <p:cNvPr id="8" name="Elipse 7"/>
          <p:cNvSpPr/>
          <p:nvPr/>
        </p:nvSpPr>
        <p:spPr>
          <a:xfrm>
            <a:off x="2291789" y="1919994"/>
            <a:ext cx="1111168" cy="10547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9796243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180171" y="4484461"/>
            <a:ext cx="9676436" cy="1166153"/>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concluir formalmente el flujo operativo del proceso, se añadió al extremo derecho del modelo un evento de fin (</a:t>
            </a:r>
            <a:r>
              <a:rPr lang="es-MX" sz="1200" dirty="0" err="1" smtClean="0">
                <a:latin typeface="Arial" panose="020B0604020202020204" pitchFamily="34" charset="0"/>
                <a:cs typeface="Arial" panose="020B0604020202020204" pitchFamily="34" charset="0"/>
              </a:rPr>
              <a:t>End</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Event</a:t>
            </a:r>
            <a:r>
              <a:rPr lang="es-MX" sz="1200" dirty="0" smtClean="0">
                <a:latin typeface="Arial" panose="020B0604020202020204" pitchFamily="34" charset="0"/>
                <a:cs typeface="Arial" panose="020B0604020202020204" pitchFamily="34" charset="0"/>
              </a:rPr>
              <a:t>), representado por un círculo con un borde más grueso y conectado mediante un flujo de secuencia directo desde la estación de entrega y facturación. Este elemento actúa como el marcador terminal que indica la salida definitiva del lote de equipos del taller y el cierre exitoso del ciclo de vida de los dispositivos dentro de la simulación.</a:t>
            </a:r>
            <a:endParaRPr lang="es-MX" sz="1200"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a:blip r:embed="rId2"/>
          <a:stretch>
            <a:fillRect/>
          </a:stretch>
        </p:blipFill>
        <p:spPr>
          <a:xfrm>
            <a:off x="789715" y="929608"/>
            <a:ext cx="10066892" cy="3368332"/>
          </a:xfrm>
          <a:prstGeom prst="rect">
            <a:avLst/>
          </a:prstGeom>
        </p:spPr>
      </p:pic>
      <p:sp>
        <p:nvSpPr>
          <p:cNvPr id="8" name="Elipse 7"/>
          <p:cNvSpPr/>
          <p:nvPr/>
        </p:nvSpPr>
        <p:spPr>
          <a:xfrm>
            <a:off x="9792183" y="1943143"/>
            <a:ext cx="1180617" cy="10547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5435465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RESULTADO FINAL</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197756" y="4642449"/>
            <a:ext cx="9676436" cy="1443152"/>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Se consolida el diagrama de procesos completo bajo la notación BPMN 2.0 para el taller de electrónica, el cual integra de forma armónica todas sus fases operativas: desde el evento de inicio y el tránsito secuencial por las estaciones de recepción, diagnóstico, reparación y pruebas de calidad, hasta la evaluación lógica en la compuerta exclusiva con su respectivo bucle de </a:t>
            </a:r>
            <a:r>
              <a:rPr lang="es-MX" sz="1200" dirty="0" err="1" smtClean="0">
                <a:latin typeface="Arial" panose="020B0604020202020204" pitchFamily="34" charset="0"/>
                <a:cs typeface="Arial" panose="020B0604020202020204" pitchFamily="34" charset="0"/>
              </a:rPr>
              <a:t>retrabajo</a:t>
            </a:r>
            <a:r>
              <a:rPr lang="es-MX" sz="1200" dirty="0" smtClean="0">
                <a:latin typeface="Arial" panose="020B0604020202020204" pitchFamily="34" charset="0"/>
                <a:cs typeface="Arial" panose="020B0604020202020204" pitchFamily="34" charset="0"/>
              </a:rPr>
              <a:t> del 20%, culminando finalmente en la estación de entrega y el evento de cierre, logrando así un modelo robusto, estructurado y listo para la simulación y ejecución de los 50 equipos.</a:t>
            </a:r>
            <a:endParaRPr lang="es-MX" sz="1200"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a:blip r:embed="rId2"/>
          <a:stretch>
            <a:fillRect/>
          </a:stretch>
        </p:blipFill>
        <p:spPr>
          <a:xfrm>
            <a:off x="1085704" y="1056930"/>
            <a:ext cx="10066892" cy="3368332"/>
          </a:xfrm>
          <a:prstGeom prst="rect">
            <a:avLst/>
          </a:prstGeom>
        </p:spPr>
      </p:pic>
    </p:spTree>
    <p:extLst>
      <p:ext uri="{BB962C8B-B14F-4D97-AF65-F5344CB8AC3E}">
        <p14:creationId xmlns:p14="http://schemas.microsoft.com/office/powerpoint/2010/main" val="9488390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461665"/>
          </a:xfrm>
          <a:prstGeom prst="rect">
            <a:avLst/>
          </a:prstGeom>
          <a:noFill/>
        </p:spPr>
        <p:txBody>
          <a:bodyPr wrap="square" rtlCol="0">
            <a:spAutoFit/>
          </a:bodyPr>
          <a:lstStyle/>
          <a:p>
            <a:pPr algn="ctr"/>
            <a:r>
              <a:rPr lang="es-MX" sz="2400" b="1" dirty="0" smtClean="0">
                <a:latin typeface="Arial" panose="020B0604020202020204" pitchFamily="34" charset="0"/>
                <a:cs typeface="Arial" panose="020B0604020202020204" pitchFamily="34" charset="0"/>
              </a:rPr>
              <a:t>DIAGRAMA DE FLUJO DEL TALLER DE ELECTRONICA EN BIZAGUI</a:t>
            </a:r>
            <a:endParaRPr lang="es-MX" sz="2400" b="1" dirty="0">
              <a:latin typeface="Arial" panose="020B0604020202020204" pitchFamily="34" charset="0"/>
              <a:cs typeface="Arial" panose="020B0604020202020204" pitchFamily="34" charset="0"/>
            </a:endParaRPr>
          </a:p>
        </p:txBody>
      </p:sp>
      <p:sp>
        <p:nvSpPr>
          <p:cNvPr id="3" name="CuadroTexto 2"/>
          <p:cNvSpPr txBox="1"/>
          <p:nvPr/>
        </p:nvSpPr>
        <p:spPr>
          <a:xfrm>
            <a:off x="1281254" y="5163310"/>
            <a:ext cx="9676436" cy="1166153"/>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dar inicio al desarrollo del proceso en </a:t>
            </a:r>
            <a:r>
              <a:rPr lang="es-MX" sz="1200" dirty="0" err="1" smtClean="0">
                <a:latin typeface="Arial" panose="020B0604020202020204" pitchFamily="34" charset="0"/>
                <a:cs typeface="Arial" panose="020B0604020202020204" pitchFamily="34" charset="0"/>
              </a:rPr>
              <a:t>Bizagi</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Modeler</a:t>
            </a:r>
            <a:r>
              <a:rPr lang="es-MX" sz="1200" dirty="0" smtClean="0">
                <a:latin typeface="Arial" panose="020B0604020202020204" pitchFamily="34" charset="0"/>
                <a:cs typeface="Arial" panose="020B0604020202020204" pitchFamily="34" charset="0"/>
              </a:rPr>
              <a:t>, se creó un nuevo modelo de proyecto en blanco que despliega la interfaz gráfica principal con la barra de herramientas superior y la paleta de elementos BPMN a la izquierda, estableciendo inicialmente el lienzo de trabajo y el contenedor principal (Proceso 1) que servirá como la estructura base para mapear de manera organizada las actividades, carriles y flujos operativos del taller de electrónica.</a:t>
            </a:r>
            <a:endParaRPr lang="es-MX" sz="1200"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a:blip r:embed="rId2"/>
          <a:stretch>
            <a:fillRect/>
          </a:stretch>
        </p:blipFill>
        <p:spPr>
          <a:xfrm>
            <a:off x="2815053" y="996502"/>
            <a:ext cx="6608837" cy="4010049"/>
          </a:xfrm>
          <a:prstGeom prst="rect">
            <a:avLst/>
          </a:prstGeom>
        </p:spPr>
      </p:pic>
    </p:spTree>
    <p:extLst>
      <p:ext uri="{BB962C8B-B14F-4D97-AF65-F5344CB8AC3E}">
        <p14:creationId xmlns:p14="http://schemas.microsoft.com/office/powerpoint/2010/main" val="29850590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703600" y="423651"/>
            <a:ext cx="4285089" cy="3596216"/>
          </a:xfrm>
          <a:prstGeom prst="rect">
            <a:avLst/>
          </a:prstGeom>
        </p:spPr>
      </p:pic>
      <p:sp>
        <p:nvSpPr>
          <p:cNvPr id="5" name="CuadroTexto 4"/>
          <p:cNvSpPr txBox="1"/>
          <p:nvPr/>
        </p:nvSpPr>
        <p:spPr>
          <a:xfrm>
            <a:off x="703600" y="4158763"/>
            <a:ext cx="4088319" cy="1997150"/>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Como primer paso en la estructuración formal del diagrama, se procedió a incorporar los carriles de organización dentro del contenedor principal, generando las divisiones (</a:t>
            </a:r>
            <a:r>
              <a:rPr lang="es-MX" sz="1200" dirty="0" err="1" smtClean="0">
                <a:latin typeface="Arial" panose="020B0604020202020204" pitchFamily="34" charset="0"/>
                <a:cs typeface="Arial" panose="020B0604020202020204" pitchFamily="34" charset="0"/>
              </a:rPr>
              <a:t>Lane</a:t>
            </a:r>
            <a:r>
              <a:rPr lang="es-MX" sz="1200" dirty="0" smtClean="0">
                <a:latin typeface="Arial" panose="020B0604020202020204" pitchFamily="34" charset="0"/>
                <a:cs typeface="Arial" panose="020B0604020202020204" pitchFamily="34" charset="0"/>
              </a:rPr>
              <a:t> 1 y </a:t>
            </a:r>
            <a:r>
              <a:rPr lang="es-MX" sz="1200" dirty="0" err="1" smtClean="0">
                <a:latin typeface="Arial" panose="020B0604020202020204" pitchFamily="34" charset="0"/>
                <a:cs typeface="Arial" panose="020B0604020202020204" pitchFamily="34" charset="0"/>
              </a:rPr>
              <a:t>Lane</a:t>
            </a:r>
            <a:r>
              <a:rPr lang="es-MX" sz="1200" dirty="0" smtClean="0">
                <a:latin typeface="Arial" panose="020B0604020202020204" pitchFamily="34" charset="0"/>
                <a:cs typeface="Arial" panose="020B0604020202020204" pitchFamily="34" charset="0"/>
              </a:rPr>
              <a:t> 2) que permiten segmentar visualmente las responsabilidades, los roles operativos y la distribución del personal técnico involucrado en el flujo de trabajo del taller.</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271387" y="4122220"/>
            <a:ext cx="4712988" cy="2308324"/>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Posteriormente, se procedió a personalizar los nombres de los contenedores y carriles del modelo, renombrando el proceso general como "Taller de Reparación de Electrónica" y dividiendo las divisiones internas en "Área de Recepción y Entrega" (para las tareas iniciales y finales) y "Área Técnico-Operativa" (para albergar las estaciones críticas de diagnóstico, reparación y pruebas de calidad), logrando así una delimitación clara y profesional de las jerarquías operativas del proyecto integrador.</a:t>
            </a:r>
            <a:endParaRPr lang="es-MX" sz="1200" dirty="0">
              <a:latin typeface="Arial" panose="020B0604020202020204" pitchFamily="34" charset="0"/>
              <a:cs typeface="Arial" panose="020B0604020202020204" pitchFamily="34" charset="0"/>
            </a:endParaRPr>
          </a:p>
        </p:txBody>
      </p:sp>
      <p:pic>
        <p:nvPicPr>
          <p:cNvPr id="8" name="Imagen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1386" y="423651"/>
            <a:ext cx="4367678" cy="3634476"/>
          </a:xfrm>
          <a:prstGeom prst="rect">
            <a:avLst/>
          </a:prstGeom>
        </p:spPr>
      </p:pic>
    </p:spTree>
    <p:extLst>
      <p:ext uri="{BB962C8B-B14F-4D97-AF65-F5344CB8AC3E}">
        <p14:creationId xmlns:p14="http://schemas.microsoft.com/office/powerpoint/2010/main" val="26981152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703600" y="4158763"/>
            <a:ext cx="4088319" cy="1997150"/>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iniciar con la construcción y el desglose del diagrama dentro de </a:t>
            </a:r>
            <a:r>
              <a:rPr lang="es-MX" sz="1200" dirty="0" err="1" smtClean="0">
                <a:latin typeface="Arial" panose="020B0604020202020204" pitchFamily="34" charset="0"/>
                <a:cs typeface="Arial" panose="020B0604020202020204" pitchFamily="34" charset="0"/>
              </a:rPr>
              <a:t>Bizagi</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Modeler</a:t>
            </a:r>
            <a:r>
              <a:rPr lang="es-MX" sz="1200" dirty="0" smtClean="0">
                <a:latin typeface="Arial" panose="020B0604020202020204" pitchFamily="34" charset="0"/>
                <a:cs typeface="Arial" panose="020B0604020202020204" pitchFamily="34" charset="0"/>
              </a:rPr>
              <a:t>, se colocó el evento de inicio etiquetado como "Llegada de Equipos (50 </a:t>
            </a:r>
            <a:r>
              <a:rPr lang="es-MX" sz="1200" dirty="0" err="1" smtClean="0">
                <a:latin typeface="Arial" panose="020B0604020202020204" pitchFamily="34" charset="0"/>
                <a:cs typeface="Arial" panose="020B0604020202020204" pitchFamily="34" charset="0"/>
              </a:rPr>
              <a:t>uds</a:t>
            </a:r>
            <a:r>
              <a:rPr lang="es-MX" sz="1200" dirty="0" smtClean="0">
                <a:latin typeface="Arial" panose="020B0604020202020204" pitchFamily="34" charset="0"/>
                <a:cs typeface="Arial" panose="020B0604020202020204" pitchFamily="34" charset="0"/>
              </a:rPr>
              <a:t>)" ubicado en el carril superior correspondiente al Área de Recepción y Entrega, estableciendo así el punto de partida que dispara formalmente el flujo operativo del lote de dispositivos electrónicos dentro del taller.</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699650" y="4075922"/>
            <a:ext cx="4712988" cy="1720151"/>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continuar con el desarrollo del flujo en </a:t>
            </a:r>
            <a:r>
              <a:rPr lang="es-MX" sz="1200" dirty="0" err="1" smtClean="0">
                <a:latin typeface="Arial" panose="020B0604020202020204" pitchFamily="34" charset="0"/>
                <a:cs typeface="Arial" panose="020B0604020202020204" pitchFamily="34" charset="0"/>
              </a:rPr>
              <a:t>Bizagi</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Modeler</a:t>
            </a:r>
            <a:r>
              <a:rPr lang="es-MX" sz="1200" dirty="0" smtClean="0">
                <a:latin typeface="Arial" panose="020B0604020202020204" pitchFamily="34" charset="0"/>
                <a:cs typeface="Arial" panose="020B0604020202020204" pitchFamily="34" charset="0"/>
              </a:rPr>
              <a:t>, se añadió la primera tarea del proceso denominada "Recepción y Registro (Tiempo: 5 min)" ubicada dentro del Área de Recepción y Entrega, la cual recibe el flujo proveniente del evento inicial para llevar a cabo el registro de los dispositivos del lote con una duración estándar de cinco minutos.</a:t>
            </a:r>
            <a:endParaRPr lang="es-MX" sz="1200" dirty="0">
              <a:latin typeface="Arial" panose="020B0604020202020204" pitchFamily="34" charset="0"/>
              <a:cs typeface="Arial" panose="020B0604020202020204" pitchFamily="34" charset="0"/>
            </a:endParaRPr>
          </a:p>
        </p:txBody>
      </p:sp>
      <p:pic>
        <p:nvPicPr>
          <p:cNvPr id="2" name="Imagen 1"/>
          <p:cNvPicPr>
            <a:picLocks noChangeAspect="1"/>
          </p:cNvPicPr>
          <p:nvPr/>
        </p:nvPicPr>
        <p:blipFill>
          <a:blip r:embed="rId2"/>
          <a:stretch>
            <a:fillRect/>
          </a:stretch>
        </p:blipFill>
        <p:spPr>
          <a:xfrm>
            <a:off x="376273" y="618200"/>
            <a:ext cx="5603140" cy="3270893"/>
          </a:xfrm>
          <a:prstGeom prst="rect">
            <a:avLst/>
          </a:prstGeom>
        </p:spPr>
      </p:pic>
      <p:pic>
        <p:nvPicPr>
          <p:cNvPr id="7" name="Imagen 6"/>
          <p:cNvPicPr>
            <a:picLocks noChangeAspect="1"/>
          </p:cNvPicPr>
          <p:nvPr/>
        </p:nvPicPr>
        <p:blipFill>
          <a:blip r:embed="rId2"/>
          <a:stretch>
            <a:fillRect/>
          </a:stretch>
        </p:blipFill>
        <p:spPr>
          <a:xfrm>
            <a:off x="6271387" y="606625"/>
            <a:ext cx="5603140" cy="3270893"/>
          </a:xfrm>
          <a:prstGeom prst="rect">
            <a:avLst/>
          </a:prstGeom>
        </p:spPr>
      </p:pic>
      <p:sp>
        <p:nvSpPr>
          <p:cNvPr id="3" name="Elipse 2"/>
          <p:cNvSpPr/>
          <p:nvPr/>
        </p:nvSpPr>
        <p:spPr>
          <a:xfrm>
            <a:off x="1701479" y="1365813"/>
            <a:ext cx="740780" cy="772086"/>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Elipse 8"/>
          <p:cNvSpPr/>
          <p:nvPr/>
        </p:nvSpPr>
        <p:spPr>
          <a:xfrm>
            <a:off x="8199617" y="1226917"/>
            <a:ext cx="856527" cy="77208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41996508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1145258" y="4266845"/>
            <a:ext cx="4088319" cy="1720151"/>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Posteriormente, se configuró un evento intermedio de enlace o paso de mensaje etiquetado como "Recibir para Diagnóstico", el cual cruza la frontera entre carriles para conectar la tarea inicial de recepción con el Área Técnico-Operativa, permitiendo transferir los equipos registrados hacia la siguiente etapa del proceso.</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271387" y="4075922"/>
            <a:ext cx="5141251" cy="2308324"/>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A continuación, dentro del Área Técnico-Operativa, se estructuró la secuencia principal de procesamiento técnico del taller, la cual comprende tres estaciones clave: el "Diagnóstico del Equipo" (con una duración estimada de 15 minutos) para identificar las averías, el "Proceso de Reparación" (con un tiempo estándar de 45 minutos) que representa la estación crítica del sistema, y el "Control de Calidad" (de 10 minutos) para verificar el correcto funcionamiento antes de la validación final.</a:t>
            </a:r>
            <a:endParaRPr lang="es-MX" sz="1200" dirty="0">
              <a:latin typeface="Arial" panose="020B0604020202020204" pitchFamily="34" charset="0"/>
              <a:cs typeface="Arial" panose="020B0604020202020204" pitchFamily="34" charset="0"/>
            </a:endParaRPr>
          </a:p>
        </p:txBody>
      </p:sp>
      <p:pic>
        <p:nvPicPr>
          <p:cNvPr id="2" name="Imagen 1"/>
          <p:cNvPicPr>
            <a:picLocks noChangeAspect="1"/>
          </p:cNvPicPr>
          <p:nvPr/>
        </p:nvPicPr>
        <p:blipFill>
          <a:blip r:embed="rId2"/>
          <a:stretch>
            <a:fillRect/>
          </a:stretch>
        </p:blipFill>
        <p:spPr>
          <a:xfrm>
            <a:off x="387848" y="606625"/>
            <a:ext cx="5603140" cy="3270893"/>
          </a:xfrm>
          <a:prstGeom prst="rect">
            <a:avLst/>
          </a:prstGeom>
        </p:spPr>
      </p:pic>
      <p:pic>
        <p:nvPicPr>
          <p:cNvPr id="7" name="Imagen 6"/>
          <p:cNvPicPr>
            <a:picLocks noChangeAspect="1"/>
          </p:cNvPicPr>
          <p:nvPr/>
        </p:nvPicPr>
        <p:blipFill>
          <a:blip r:embed="rId2"/>
          <a:stretch>
            <a:fillRect/>
          </a:stretch>
        </p:blipFill>
        <p:spPr>
          <a:xfrm>
            <a:off x="6271387" y="606625"/>
            <a:ext cx="5603140" cy="3270893"/>
          </a:xfrm>
          <a:prstGeom prst="rect">
            <a:avLst/>
          </a:prstGeom>
        </p:spPr>
      </p:pic>
      <p:sp>
        <p:nvSpPr>
          <p:cNvPr id="3" name="Elipse 2"/>
          <p:cNvSpPr/>
          <p:nvPr/>
        </p:nvSpPr>
        <p:spPr>
          <a:xfrm>
            <a:off x="2377369" y="1856028"/>
            <a:ext cx="678347" cy="644104"/>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Elipse 8"/>
          <p:cNvSpPr/>
          <p:nvPr/>
        </p:nvSpPr>
        <p:spPr>
          <a:xfrm>
            <a:off x="8199617" y="2349661"/>
            <a:ext cx="856527" cy="77208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Elipse 7"/>
          <p:cNvSpPr/>
          <p:nvPr/>
        </p:nvSpPr>
        <p:spPr>
          <a:xfrm>
            <a:off x="9056144" y="2268638"/>
            <a:ext cx="856527" cy="77208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Elipse 9"/>
          <p:cNvSpPr/>
          <p:nvPr/>
        </p:nvSpPr>
        <p:spPr>
          <a:xfrm>
            <a:off x="9960872" y="2349661"/>
            <a:ext cx="856527" cy="77208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40751240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937231" y="4036750"/>
            <a:ext cx="4504372" cy="2308324"/>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se integró la compuerta exclusiva de decisión ("¿Aprobado?") para evaluar el estado del dispositivo tras el control de calidad. Si el resultado es favorable (Sí, 80%), el flujo cruza de regreso hacia el Área de Recepción y Entrega mediante un evento intermedio para proceder con la entrega del equipo reparado. En caso contrario (No, 20%), se activa un bucle estocástico que redirige el dispositivo defectuoso de vuelta al proceso de reparación para subsanar la falla.</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271387" y="4075922"/>
            <a:ext cx="5141251" cy="1997150"/>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cerrar el flujo del proceso en </a:t>
            </a:r>
            <a:r>
              <a:rPr lang="es-MX" sz="1200" dirty="0" err="1" smtClean="0">
                <a:latin typeface="Arial" panose="020B0604020202020204" pitchFamily="34" charset="0"/>
                <a:cs typeface="Arial" panose="020B0604020202020204" pitchFamily="34" charset="0"/>
              </a:rPr>
              <a:t>Bizagi</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Modeler</a:t>
            </a:r>
            <a:r>
              <a:rPr lang="es-MX" sz="1200" dirty="0" smtClean="0">
                <a:latin typeface="Arial" panose="020B0604020202020204" pitchFamily="34" charset="0"/>
                <a:cs typeface="Arial" panose="020B0604020202020204" pitchFamily="34" charset="0"/>
              </a:rPr>
              <a:t>, se configuró el evento intermedio de enlace etiquetado como "Recibir para Entrega", el cual permite trasladar los dispositivos aprobados desde el área técnica hacia la zona superior, donde se ejecuta la tarea de "Entrega de Equipo Reparado (Tiempo: 5 min)" y, finalmente, se conecta mediante un flujo directo con el evento de fin que marca la conclusión exitosa del ciclo operativo en el taller.</a:t>
            </a:r>
            <a:endParaRPr lang="es-MX" sz="1200" dirty="0">
              <a:latin typeface="Arial" panose="020B0604020202020204" pitchFamily="34" charset="0"/>
              <a:cs typeface="Arial" panose="020B0604020202020204" pitchFamily="34" charset="0"/>
            </a:endParaRPr>
          </a:p>
        </p:txBody>
      </p:sp>
      <p:pic>
        <p:nvPicPr>
          <p:cNvPr id="2" name="Imagen 1"/>
          <p:cNvPicPr>
            <a:picLocks noChangeAspect="1"/>
          </p:cNvPicPr>
          <p:nvPr/>
        </p:nvPicPr>
        <p:blipFill>
          <a:blip r:embed="rId2"/>
          <a:stretch>
            <a:fillRect/>
          </a:stretch>
        </p:blipFill>
        <p:spPr>
          <a:xfrm>
            <a:off x="387848" y="606625"/>
            <a:ext cx="5603140" cy="3270893"/>
          </a:xfrm>
          <a:prstGeom prst="rect">
            <a:avLst/>
          </a:prstGeom>
        </p:spPr>
      </p:pic>
      <p:pic>
        <p:nvPicPr>
          <p:cNvPr id="7" name="Imagen 6"/>
          <p:cNvPicPr>
            <a:picLocks noChangeAspect="1"/>
          </p:cNvPicPr>
          <p:nvPr/>
        </p:nvPicPr>
        <p:blipFill>
          <a:blip r:embed="rId2"/>
          <a:stretch>
            <a:fillRect/>
          </a:stretch>
        </p:blipFill>
        <p:spPr>
          <a:xfrm>
            <a:off x="6271387" y="606625"/>
            <a:ext cx="5603140" cy="3270893"/>
          </a:xfrm>
          <a:prstGeom prst="rect">
            <a:avLst/>
          </a:prstGeom>
        </p:spPr>
      </p:pic>
      <p:sp>
        <p:nvSpPr>
          <p:cNvPr id="3" name="Elipse 2"/>
          <p:cNvSpPr/>
          <p:nvPr/>
        </p:nvSpPr>
        <p:spPr>
          <a:xfrm>
            <a:off x="3189417" y="2654681"/>
            <a:ext cx="678347" cy="644104"/>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Elipse 8"/>
          <p:cNvSpPr/>
          <p:nvPr/>
        </p:nvSpPr>
        <p:spPr>
          <a:xfrm>
            <a:off x="9885447" y="1899627"/>
            <a:ext cx="856527" cy="77208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Elipse 7"/>
          <p:cNvSpPr/>
          <p:nvPr/>
        </p:nvSpPr>
        <p:spPr>
          <a:xfrm>
            <a:off x="9932792" y="1147933"/>
            <a:ext cx="856527" cy="77208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Elipse 9"/>
          <p:cNvSpPr/>
          <p:nvPr/>
        </p:nvSpPr>
        <p:spPr>
          <a:xfrm>
            <a:off x="10789319" y="1147933"/>
            <a:ext cx="856527" cy="77208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Elipse 10"/>
          <p:cNvSpPr/>
          <p:nvPr/>
        </p:nvSpPr>
        <p:spPr>
          <a:xfrm>
            <a:off x="4086420" y="1920019"/>
            <a:ext cx="678347" cy="644104"/>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Elipse 11"/>
          <p:cNvSpPr/>
          <p:nvPr/>
        </p:nvSpPr>
        <p:spPr>
          <a:xfrm>
            <a:off x="4983422" y="2349661"/>
            <a:ext cx="678347" cy="644104"/>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1195395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960381" y="4399616"/>
            <a:ext cx="4504372" cy="1997150"/>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Al ingresar al módulo de simulación del software, el primer nivel corresponde a la Validación de Proceso, una etapa fundamental donde </a:t>
            </a:r>
            <a:r>
              <a:rPr lang="es-MX" sz="1200" dirty="0" err="1" smtClean="0">
                <a:latin typeface="Arial" panose="020B0604020202020204" pitchFamily="34" charset="0"/>
                <a:cs typeface="Arial" panose="020B0604020202020204" pitchFamily="34" charset="0"/>
              </a:rPr>
              <a:t>Bizagi</a:t>
            </a:r>
            <a:r>
              <a:rPr lang="es-MX" sz="1200" dirty="0" smtClean="0">
                <a:latin typeface="Arial" panose="020B0604020202020204" pitchFamily="34" charset="0"/>
                <a:cs typeface="Arial" panose="020B0604020202020204" pitchFamily="34" charset="0"/>
              </a:rPr>
              <a:t> analiza la integridad estructural y la correcta conectividad lógica del modelo en el Escenario 1, asegurando que no existan flujos rotos, elementos huérfanos o errores de sintaxis en los carriles antes de configurar los parámetros cuantitativos de tiempos y recursos del taller de electrónica.</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380111" y="4261117"/>
            <a:ext cx="5141251" cy="2274149"/>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A continuación, se avanza al segundo nivel del módulo de simulación correspondiente al Análisis de tiempo, una sección clave del Escenario 1 donde se configuran y evalúan los parámetros temporales de cada actividad del taller tales como los tiempos estándar de recepción (5 min), diagnóstico (15 min), reparación (45 min), control de calidad (10 min) y entrega (5 min), lo que permite al software calcular la duración total del ciclo y dimensionar el impacto del cuello de botella y del bucle de </a:t>
            </a:r>
            <a:r>
              <a:rPr lang="es-MX" sz="1200" dirty="0" err="1" smtClean="0">
                <a:latin typeface="Arial" panose="020B0604020202020204" pitchFamily="34" charset="0"/>
                <a:cs typeface="Arial" panose="020B0604020202020204" pitchFamily="34" charset="0"/>
              </a:rPr>
              <a:t>retrabajo</a:t>
            </a:r>
            <a:r>
              <a:rPr lang="es-MX" sz="1200" dirty="0" smtClean="0">
                <a:latin typeface="Arial" panose="020B0604020202020204" pitchFamily="34" charset="0"/>
                <a:cs typeface="Arial" panose="020B0604020202020204" pitchFamily="34" charset="0"/>
              </a:rPr>
              <a:t> del 20% sobre el lote de 50 dispositivos.</a:t>
            </a:r>
            <a:endParaRPr lang="es-MX" sz="1200"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rotWithShape="1">
          <a:blip r:embed="rId2"/>
          <a:srcRect r="3581" b="9126"/>
          <a:stretch/>
        </p:blipFill>
        <p:spPr>
          <a:xfrm>
            <a:off x="378413" y="506482"/>
            <a:ext cx="5668307" cy="3569440"/>
          </a:xfrm>
          <a:prstGeom prst="rect">
            <a:avLst/>
          </a:prstGeom>
        </p:spPr>
      </p:pic>
      <p:pic>
        <p:nvPicPr>
          <p:cNvPr id="13" name="Imagen 12"/>
          <p:cNvPicPr>
            <a:picLocks noChangeAspect="1"/>
          </p:cNvPicPr>
          <p:nvPr/>
        </p:nvPicPr>
        <p:blipFill rotWithShape="1">
          <a:blip r:embed="rId3"/>
          <a:srcRect b="10747"/>
          <a:stretch/>
        </p:blipFill>
        <p:spPr>
          <a:xfrm>
            <a:off x="6380111" y="519689"/>
            <a:ext cx="5440039" cy="3556233"/>
          </a:xfrm>
          <a:prstGeom prst="rect">
            <a:avLst/>
          </a:prstGeom>
        </p:spPr>
      </p:pic>
    </p:spTree>
    <p:extLst>
      <p:ext uri="{BB962C8B-B14F-4D97-AF65-F5344CB8AC3E}">
        <p14:creationId xmlns:p14="http://schemas.microsoft.com/office/powerpoint/2010/main" val="10883517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3287211" y="4353317"/>
            <a:ext cx="5173883" cy="2031325"/>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En el tercer nivel del módulo de simulación, correspondiente al Análisis de recursos, se configura la asignación y disponibilidad del personal técnico encargado de ejecutar cada tarea del taller como se observa en la asignación de recursos humanos a la actividad de recepción y registro, lo que permite definir las capacidades operativas, las restricciones de personal y la carga de trabajo necesaria para simular de forma realista el flujo del lote de 50 dispositivos.</a:t>
            </a:r>
            <a:endParaRPr lang="es-MX" sz="1200" dirty="0">
              <a:latin typeface="Arial" panose="020B0604020202020204" pitchFamily="34" charset="0"/>
              <a:cs typeface="Arial" panose="020B0604020202020204" pitchFamily="34" charset="0"/>
            </a:endParaRPr>
          </a:p>
        </p:txBody>
      </p:sp>
      <p:pic>
        <p:nvPicPr>
          <p:cNvPr id="2" name="Imagen 1"/>
          <p:cNvPicPr>
            <a:picLocks noChangeAspect="1"/>
          </p:cNvPicPr>
          <p:nvPr/>
        </p:nvPicPr>
        <p:blipFill>
          <a:blip r:embed="rId2"/>
          <a:stretch>
            <a:fillRect/>
          </a:stretch>
        </p:blipFill>
        <p:spPr>
          <a:xfrm>
            <a:off x="3168874" y="405154"/>
            <a:ext cx="5757533" cy="3785301"/>
          </a:xfrm>
          <a:prstGeom prst="rect">
            <a:avLst/>
          </a:prstGeom>
        </p:spPr>
      </p:pic>
    </p:spTree>
    <p:extLst>
      <p:ext uri="{BB962C8B-B14F-4D97-AF65-F5344CB8AC3E}">
        <p14:creationId xmlns:p14="http://schemas.microsoft.com/office/powerpoint/2010/main" val="18742996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RESULTADO FINAL</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197756" y="4642449"/>
            <a:ext cx="9676436" cy="1477328"/>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Como resultado final de esta fase, se consolida el modelo completo y estructurado en carriles (pools y </a:t>
            </a:r>
            <a:r>
              <a:rPr lang="es-MX" sz="1200" dirty="0" err="1" smtClean="0">
                <a:latin typeface="Arial" panose="020B0604020202020204" pitchFamily="34" charset="0"/>
                <a:cs typeface="Arial" panose="020B0604020202020204" pitchFamily="34" charset="0"/>
              </a:rPr>
              <a:t>lanes</a:t>
            </a:r>
            <a:r>
              <a:rPr lang="es-MX" sz="1200" dirty="0" smtClean="0">
                <a:latin typeface="Arial" panose="020B0604020202020204" pitchFamily="34" charset="0"/>
                <a:cs typeface="Arial" panose="020B0604020202020204" pitchFamily="34" charset="0"/>
              </a:rPr>
              <a:t>) dentro de </a:t>
            </a:r>
            <a:r>
              <a:rPr lang="es-MX" sz="1200" dirty="0" err="1" smtClean="0">
                <a:latin typeface="Arial" panose="020B0604020202020204" pitchFamily="34" charset="0"/>
                <a:cs typeface="Arial" panose="020B0604020202020204" pitchFamily="34" charset="0"/>
              </a:rPr>
              <a:t>Bizagi</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Modeler</a:t>
            </a:r>
            <a:r>
              <a:rPr lang="es-MX" sz="1200" dirty="0" smtClean="0">
                <a:latin typeface="Arial" panose="020B0604020202020204" pitchFamily="34" charset="0"/>
                <a:cs typeface="Arial" panose="020B0604020202020204" pitchFamily="34" charset="0"/>
              </a:rPr>
              <a:t> para el taller de reparación de electrónica, integrando de forma totalmente funcional el flujo operativo de los 50 dispositivos: desde el evento de inicio en recepción y el tránsito por las estaciones de diagnóstico, reparación y control de calidad, hasta la compuerta lógica de validación con su bucle de </a:t>
            </a:r>
            <a:r>
              <a:rPr lang="es-MX" sz="1200" dirty="0" err="1" smtClean="0">
                <a:latin typeface="Arial" panose="020B0604020202020204" pitchFamily="34" charset="0"/>
                <a:cs typeface="Arial" panose="020B0604020202020204" pitchFamily="34" charset="0"/>
              </a:rPr>
              <a:t>retrabajo</a:t>
            </a:r>
            <a:r>
              <a:rPr lang="es-MX" sz="1200" dirty="0" smtClean="0">
                <a:latin typeface="Arial" panose="020B0604020202020204" pitchFamily="34" charset="0"/>
                <a:cs typeface="Arial" panose="020B0604020202020204" pitchFamily="34" charset="0"/>
              </a:rPr>
              <a:t> del 20% y la subsecuente entrega y cierre del proceso, logrando así un diagrama profesional listo para la ejecución de simulaciones cuantitativas.</a:t>
            </a:r>
            <a:endParaRPr lang="es-MX" sz="1200"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3040282" y="944208"/>
            <a:ext cx="5991384" cy="3593776"/>
          </a:xfrm>
          <a:prstGeom prst="rect">
            <a:avLst/>
          </a:prstGeom>
        </p:spPr>
      </p:pic>
    </p:spTree>
    <p:extLst>
      <p:ext uri="{BB962C8B-B14F-4D97-AF65-F5344CB8AC3E}">
        <p14:creationId xmlns:p14="http://schemas.microsoft.com/office/powerpoint/2010/main" val="9177715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EJECUCION DEL DIAGRAMA EN BIZAGUI</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197756" y="4642449"/>
            <a:ext cx="9676436" cy="1443152"/>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Se consolida el diagrama de procesos completo bajo la notación BPMN 2.0 para el taller de electrónica, el cual integra de forma armónica todas sus fases operativas: desde el evento de inicio y el tránsito secuencial por las estaciones de recepción, diagnóstico, reparación y pruebas de calidad, hasta la evaluación lógica en la compuerta exclusiva con su respectivo bucle de </a:t>
            </a:r>
            <a:r>
              <a:rPr lang="es-MX" sz="1200" dirty="0" err="1" smtClean="0">
                <a:latin typeface="Arial" panose="020B0604020202020204" pitchFamily="34" charset="0"/>
                <a:cs typeface="Arial" panose="020B0604020202020204" pitchFamily="34" charset="0"/>
              </a:rPr>
              <a:t>retrabajo</a:t>
            </a:r>
            <a:r>
              <a:rPr lang="es-MX" sz="1200" dirty="0" smtClean="0">
                <a:latin typeface="Arial" panose="020B0604020202020204" pitchFamily="34" charset="0"/>
                <a:cs typeface="Arial" panose="020B0604020202020204" pitchFamily="34" charset="0"/>
              </a:rPr>
              <a:t> del 20%, culminando finalmente en la estación de entrega y el evento de cierre, logrando así un modelo robusto, estructurado y listo para la simulación y ejecución de los 50 equipos.</a:t>
            </a:r>
            <a:endParaRPr lang="es-MX" sz="1200"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3615159" y="956523"/>
            <a:ext cx="5228381" cy="3569146"/>
          </a:xfrm>
          <a:prstGeom prst="rect">
            <a:avLst/>
          </a:prstGeom>
        </p:spPr>
      </p:pic>
    </p:spTree>
    <p:extLst>
      <p:ext uri="{BB962C8B-B14F-4D97-AF65-F5344CB8AC3E}">
        <p14:creationId xmlns:p14="http://schemas.microsoft.com/office/powerpoint/2010/main" val="1389068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EJECUCION DEL DIAGRAMA EN BIZAGUI</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373598" y="4272677"/>
            <a:ext cx="5544273" cy="2585323"/>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la ejecución cuantitativa, la pantalla muestra la Presentación en tiempo real de la simulación de procesos, donde </a:t>
            </a:r>
            <a:r>
              <a:rPr lang="es-MX" sz="1200" dirty="0" err="1" smtClean="0">
                <a:latin typeface="Arial" panose="020B0604020202020204" pitchFamily="34" charset="0"/>
                <a:cs typeface="Arial" panose="020B0604020202020204" pitchFamily="34" charset="0"/>
              </a:rPr>
              <a:t>Bizagi</a:t>
            </a:r>
            <a:r>
              <a:rPr lang="es-MX" sz="1200" dirty="0" smtClean="0">
                <a:latin typeface="Arial" panose="020B0604020202020204" pitchFamily="34" charset="0"/>
                <a:cs typeface="Arial" panose="020B0604020202020204" pitchFamily="34" charset="0"/>
              </a:rPr>
              <a:t> despliega sobre cada elemento del diagrama los indicadores clave de rendimiento (</a:t>
            </a:r>
            <a:r>
              <a:rPr lang="es-MX" sz="1200" dirty="0" err="1" smtClean="0">
                <a:latin typeface="Arial" panose="020B0604020202020204" pitchFamily="34" charset="0"/>
                <a:cs typeface="Arial" panose="020B0604020202020204" pitchFamily="34" charset="0"/>
              </a:rPr>
              <a:t>KPIs</a:t>
            </a:r>
            <a:r>
              <a:rPr lang="es-MX" sz="1200" dirty="0" smtClean="0">
                <a:latin typeface="Arial" panose="020B0604020202020204" pitchFamily="34" charset="0"/>
                <a:cs typeface="Arial" panose="020B0604020202020204" pitchFamily="34" charset="0"/>
              </a:rPr>
              <a:t>) y métricas de desempeño tales como la cantidad de elementos completados (50 dispositivos procesados en el lote original, con un total acumulado de 59 unidades debido al bucle de </a:t>
            </a:r>
            <a:r>
              <a:rPr lang="es-MX" sz="1200" dirty="0" err="1" smtClean="0">
                <a:latin typeface="Arial" panose="020B0604020202020204" pitchFamily="34" charset="0"/>
                <a:cs typeface="Arial" panose="020B0604020202020204" pitchFamily="34" charset="0"/>
              </a:rPr>
              <a:t>retrabajo</a:t>
            </a:r>
            <a:r>
              <a:rPr lang="es-MX" sz="1200" dirty="0" smtClean="0">
                <a:latin typeface="Arial" panose="020B0604020202020204" pitchFamily="34" charset="0"/>
                <a:cs typeface="Arial" panose="020B0604020202020204" pitchFamily="34" charset="0"/>
              </a:rPr>
              <a:t>), los tiempos promedio de espera y los tiempos totales de ejecución en cada estación, evidenciando de manera gráfica el impacto del cuello de botella en el proceso de reparación y permitiendo validar el comportamiento operativo integral del taller.</a:t>
            </a:r>
            <a:endParaRPr lang="es-MX" sz="1200"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513996" y="839743"/>
            <a:ext cx="5285773" cy="3569146"/>
          </a:xfrm>
          <a:prstGeom prst="rect">
            <a:avLst/>
          </a:prstGeom>
        </p:spPr>
      </p:pic>
      <p:pic>
        <p:nvPicPr>
          <p:cNvPr id="5" name="Imagen 4"/>
          <p:cNvPicPr>
            <a:picLocks noChangeAspect="1"/>
          </p:cNvPicPr>
          <p:nvPr/>
        </p:nvPicPr>
        <p:blipFill>
          <a:blip r:embed="rId3"/>
          <a:stretch>
            <a:fillRect/>
          </a:stretch>
        </p:blipFill>
        <p:spPr>
          <a:xfrm>
            <a:off x="6052256" y="841615"/>
            <a:ext cx="5747912" cy="3431061"/>
          </a:xfrm>
          <a:prstGeom prst="rect">
            <a:avLst/>
          </a:prstGeom>
        </p:spPr>
      </p:pic>
      <p:sp>
        <p:nvSpPr>
          <p:cNvPr id="6" name="CuadroTexto 5"/>
          <p:cNvSpPr txBox="1"/>
          <p:nvPr/>
        </p:nvSpPr>
        <p:spPr>
          <a:xfrm>
            <a:off x="6154076" y="4272676"/>
            <a:ext cx="5544273" cy="2308324"/>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la ventana de Resultados Simulación presenta de manera consolidada los datos cuantitativos del Escenario 1 medidos en minutos. En este apartado se detalla el porcentaje de uso o utilización de cada recurso técnico asignado durante la ejecución del proceso evidenciando niveles como el 18,52% para el Técnico 1, 49,63% para el Técnico 2 y una alta saturación del 98,33% para el Técnico 3, lo que permite evaluar objetivamente la carga de trabajo, identificar desbalances operativos en el taller y justificar la necesidad de optimización de personal.</a:t>
            </a:r>
            <a:endParaRPr lang="es-MX"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37374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274556" y="4744049"/>
            <a:ext cx="9676436" cy="1720151"/>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finalizar con el análisis cuantitativo del proyecto, el reporte detallado de Resultados de Simulación presenta la tabla resumen por elementos del Escenario 1 con una duración configurada del análisis, donde se desglosan métricas clave como las instancias completadas e iniciadas (mostrando 50 unidades iniciales para el lote y 59 debido al bucle de </a:t>
            </a:r>
            <a:r>
              <a:rPr lang="es-MX" sz="1200" dirty="0" err="1" smtClean="0">
                <a:latin typeface="Arial" panose="020B0604020202020204" pitchFamily="34" charset="0"/>
                <a:cs typeface="Arial" panose="020B0604020202020204" pitchFamily="34" charset="0"/>
              </a:rPr>
              <a:t>retrabajo</a:t>
            </a:r>
            <a:r>
              <a:rPr lang="es-MX" sz="1200" dirty="0" smtClean="0">
                <a:latin typeface="Arial" panose="020B0604020202020204" pitchFamily="34" charset="0"/>
                <a:cs typeface="Arial" panose="020B0604020202020204" pitchFamily="34" charset="0"/>
              </a:rPr>
              <a:t> en el proceso de reparación), los tiempos mínimos, máximos, promedios y totales de ejecución por tarea, así como los indicadores de tiempo esperando recursos (mínimo, máximo, promedio, desviación estándar y total), ofreciendo una radiografía cuantitativa completa del rendimiento operativo, los cuellos de botella y los tiempos muertos en cada estación del taller de electrónica</a:t>
            </a:r>
            <a:endParaRPr lang="es-MX" sz="1200" dirty="0">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2"/>
          <a:stretch>
            <a:fillRect/>
          </a:stretch>
        </p:blipFill>
        <p:spPr>
          <a:xfrm>
            <a:off x="1351356" y="337809"/>
            <a:ext cx="9522836" cy="4304640"/>
          </a:xfrm>
          <a:prstGeom prst="rect">
            <a:avLst/>
          </a:prstGeom>
        </p:spPr>
      </p:pic>
    </p:spTree>
    <p:extLst>
      <p:ext uri="{BB962C8B-B14F-4D97-AF65-F5344CB8AC3E}">
        <p14:creationId xmlns:p14="http://schemas.microsoft.com/office/powerpoint/2010/main" val="16348572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879231" y="316523"/>
            <a:ext cx="10700238" cy="461665"/>
          </a:xfrm>
          <a:prstGeom prst="rect">
            <a:avLst/>
          </a:prstGeom>
          <a:noFill/>
        </p:spPr>
        <p:txBody>
          <a:bodyPr wrap="square" rtlCol="0">
            <a:spAutoFit/>
          </a:bodyPr>
          <a:lstStyle/>
          <a:p>
            <a:pPr algn="ctr"/>
            <a:r>
              <a:rPr lang="es-MX" sz="2400" b="1" dirty="0" smtClean="0">
                <a:latin typeface="Arial" panose="020B0604020202020204" pitchFamily="34" charset="0"/>
                <a:cs typeface="Arial" panose="020B0604020202020204" pitchFamily="34" charset="0"/>
              </a:rPr>
              <a:t>DIAGRAMA DE FLUJO DEL TALLER DE ELECTRONICA EN BONITA</a:t>
            </a:r>
            <a:endParaRPr lang="es-MX" sz="2400" b="1" dirty="0">
              <a:latin typeface="Arial" panose="020B0604020202020204" pitchFamily="34" charset="0"/>
              <a:cs typeface="Arial" panose="020B0604020202020204" pitchFamily="34" charset="0"/>
            </a:endParaRPr>
          </a:p>
        </p:txBody>
      </p:sp>
      <p:pic>
        <p:nvPicPr>
          <p:cNvPr id="2" name="Imagen 1"/>
          <p:cNvPicPr>
            <a:picLocks noChangeAspect="1"/>
          </p:cNvPicPr>
          <p:nvPr/>
        </p:nvPicPr>
        <p:blipFill>
          <a:blip r:embed="rId2"/>
          <a:stretch>
            <a:fillRect/>
          </a:stretch>
        </p:blipFill>
        <p:spPr>
          <a:xfrm>
            <a:off x="2446854" y="778188"/>
            <a:ext cx="7564992" cy="3971818"/>
          </a:xfrm>
          <a:prstGeom prst="rect">
            <a:avLst/>
          </a:prstGeom>
        </p:spPr>
      </p:pic>
      <p:sp>
        <p:nvSpPr>
          <p:cNvPr id="7" name="CuadroTexto 6"/>
          <p:cNvSpPr txBox="1"/>
          <p:nvPr/>
        </p:nvSpPr>
        <p:spPr>
          <a:xfrm>
            <a:off x="1274556" y="4845649"/>
            <a:ext cx="9676436" cy="1166153"/>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Al dar inicio a la fase de implementación y modelado en Bonita Studio dentro del proyecto "</a:t>
            </a:r>
            <a:r>
              <a:rPr lang="es-MX" sz="1200" dirty="0" err="1" smtClean="0">
                <a:latin typeface="Arial" panose="020B0604020202020204" pitchFamily="34" charset="0"/>
                <a:cs typeface="Arial" panose="020B0604020202020204" pitchFamily="34" charset="0"/>
              </a:rPr>
              <a:t>TallerDeElectronica</a:t>
            </a:r>
            <a:r>
              <a:rPr lang="es-MX" sz="1200" dirty="0" smtClean="0">
                <a:latin typeface="Arial" panose="020B0604020202020204" pitchFamily="34" charset="0"/>
                <a:cs typeface="Arial" panose="020B0604020202020204" pitchFamily="34" charset="0"/>
              </a:rPr>
              <a:t>", la interfaz principal presenta el panel de elementos del proceso, donde se destaca la sección de Diagrama de proceso como el espacio fundamental para configurar la representación gráfica y la lógica de negocio basada en estándares BPMN, permitiendo estructurar desde cero el flujo operativo del taller de forma previa al diseño de formularios y la gestión de organizaciones.</a:t>
            </a:r>
            <a:endParaRPr lang="es-MX" sz="1200" dirty="0">
              <a:latin typeface="Arial" panose="020B0604020202020204" pitchFamily="34" charset="0"/>
              <a:cs typeface="Arial" panose="020B0604020202020204" pitchFamily="34" charset="0"/>
            </a:endParaRPr>
          </a:p>
        </p:txBody>
      </p:sp>
      <p:sp>
        <p:nvSpPr>
          <p:cNvPr id="5" name="Elipse 4"/>
          <p:cNvSpPr/>
          <p:nvPr/>
        </p:nvSpPr>
        <p:spPr>
          <a:xfrm>
            <a:off x="3796294" y="1805940"/>
            <a:ext cx="2316480" cy="1371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2792505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723870" y="4075922"/>
            <a:ext cx="5118129" cy="2308324"/>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Al acceder al entorno de diseño gráfico de un diagrama de proceso en Bonita Studio, se muestra el lienzo de trabajo principal junto con la paleta de elementos (</a:t>
            </a:r>
            <a:r>
              <a:rPr lang="es-MX" sz="1200" dirty="0" err="1" smtClean="0">
                <a:latin typeface="Arial" panose="020B0604020202020204" pitchFamily="34" charset="0"/>
                <a:cs typeface="Arial" panose="020B0604020202020204" pitchFamily="34" charset="0"/>
              </a:rPr>
              <a:t>Palette</a:t>
            </a:r>
            <a:r>
              <a:rPr lang="es-MX" sz="1200" dirty="0" smtClean="0">
                <a:latin typeface="Arial" panose="020B0604020202020204" pitchFamily="34" charset="0"/>
                <a:cs typeface="Arial" panose="020B0604020202020204" pitchFamily="34" charset="0"/>
              </a:rPr>
              <a:t>), la cual agrupa de manera estructurada los componentes estándar de modelado BPMN tales como carriles y piscinas (</a:t>
            </a:r>
            <a:r>
              <a:rPr lang="es-MX" sz="1200" dirty="0" err="1" smtClean="0">
                <a:latin typeface="Arial" panose="020B0604020202020204" pitchFamily="34" charset="0"/>
                <a:cs typeface="Arial" panose="020B0604020202020204" pitchFamily="34" charset="0"/>
              </a:rPr>
              <a:t>Swimlanes</a:t>
            </a:r>
            <a:r>
              <a:rPr lang="es-MX" sz="1200" dirty="0" smtClean="0">
                <a:latin typeface="Arial" panose="020B0604020202020204" pitchFamily="34" charset="0"/>
                <a:cs typeface="Arial" panose="020B0604020202020204" pitchFamily="34" charset="0"/>
              </a:rPr>
              <a:t>), compuertas lógicas (</a:t>
            </a:r>
            <a:r>
              <a:rPr lang="es-MX" sz="1200" dirty="0" err="1" smtClean="0">
                <a:latin typeface="Arial" panose="020B0604020202020204" pitchFamily="34" charset="0"/>
                <a:cs typeface="Arial" panose="020B0604020202020204" pitchFamily="34" charset="0"/>
              </a:rPr>
              <a:t>Gateways</a:t>
            </a:r>
            <a:r>
              <a:rPr lang="es-MX" sz="1200" dirty="0" smtClean="0">
                <a:latin typeface="Arial" panose="020B0604020202020204" pitchFamily="34" charset="0"/>
                <a:cs typeface="Arial" panose="020B0604020202020204" pitchFamily="34" charset="0"/>
              </a:rPr>
              <a:t>), flujos de secuencia, tareas, actividades, eventos de inicio, eventos intermedios y de fin, así como anotaciones de texto, facilitando la construcción visual y jerárquica de los procesos del taller dentro del explorador del proyecto.</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569481" y="4075922"/>
            <a:ext cx="5141251" cy="2031325"/>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Al configurar la estructura de carriles y piscinas (</a:t>
            </a:r>
            <a:r>
              <a:rPr lang="es-MX" sz="1200" dirty="0" err="1" smtClean="0">
                <a:latin typeface="Arial" panose="020B0604020202020204" pitchFamily="34" charset="0"/>
                <a:cs typeface="Arial" panose="020B0604020202020204" pitchFamily="34" charset="0"/>
              </a:rPr>
              <a:t>Swimlanes</a:t>
            </a:r>
            <a:r>
              <a:rPr lang="es-MX" sz="1200" dirty="0" smtClean="0">
                <a:latin typeface="Arial" panose="020B0604020202020204" pitchFamily="34" charset="0"/>
                <a:cs typeface="Arial" panose="020B0604020202020204" pitchFamily="34" charset="0"/>
              </a:rPr>
              <a:t>) dentro del diagrama en Bonita Studio, se definen y organizan los contenedores operativos correspondientes tales como la piscina principal ("Pool2") dividida en carriles específicos como "Empleado", "Senda1" y "Senda2", lo que permite delimitar con precisión las responsabilidades y áreas de participación de los actores que intervienen en el flujo de trabajo del proceso. </a:t>
            </a:r>
            <a:endParaRPr lang="es-MX" sz="1200"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2"/>
          <a:stretch>
            <a:fillRect/>
          </a:stretch>
        </p:blipFill>
        <p:spPr>
          <a:xfrm>
            <a:off x="462789" y="642249"/>
            <a:ext cx="6106692" cy="3072449"/>
          </a:xfrm>
          <a:prstGeom prst="rect">
            <a:avLst/>
          </a:prstGeom>
        </p:spPr>
      </p:pic>
      <p:pic>
        <p:nvPicPr>
          <p:cNvPr id="13" name="Imagen 12"/>
          <p:cNvPicPr>
            <a:picLocks noChangeAspect="1"/>
          </p:cNvPicPr>
          <p:nvPr/>
        </p:nvPicPr>
        <p:blipFill>
          <a:blip r:embed="rId3"/>
          <a:stretch>
            <a:fillRect/>
          </a:stretch>
        </p:blipFill>
        <p:spPr>
          <a:xfrm>
            <a:off x="6893474" y="721743"/>
            <a:ext cx="4519164" cy="2992955"/>
          </a:xfrm>
          <a:prstGeom prst="rect">
            <a:avLst/>
          </a:prstGeom>
        </p:spPr>
      </p:pic>
      <p:sp>
        <p:nvSpPr>
          <p:cNvPr id="12" name="Elipse 11"/>
          <p:cNvSpPr/>
          <p:nvPr/>
        </p:nvSpPr>
        <p:spPr>
          <a:xfrm>
            <a:off x="6893474" y="874555"/>
            <a:ext cx="678347" cy="644104"/>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402543913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660059" y="3910338"/>
            <a:ext cx="5402610" cy="2862322"/>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Posteriormente, se estructuró la distribución general del diagrama dentro del entorno de Bonita Studio definiendo la piscina principal del Taller de Electrónica y sus respectivos carriles organizativos como el Área de Recepción y Entrega, el Área de Diagnóstico y Calidad, y el Área de Reparación, lo que permitió mapear de manera secuencial los elementos clave del proceso: desde el evento de inicio con la llegada de los 50 dispositivos y la tarea de recepción, pasando por las estaciones de diagnóstico y reparación (con su respectivo tiempo estándar de 45 minutos), hasta el control de calidad, la compuerta exclusiva de validación y la entrega final del equipo reparado</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569481" y="4075922"/>
            <a:ext cx="5141251" cy="1720151"/>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Como punto de partida dentro de la piscina del Taller de Electrónica, el diagrama modelado en Bonita Studio inicia con el evento de inicio etiquetado como "Llegada de Equipos (50 </a:t>
            </a:r>
            <a:r>
              <a:rPr lang="es-MX" sz="1200" dirty="0" err="1" smtClean="0">
                <a:latin typeface="Arial" panose="020B0604020202020204" pitchFamily="34" charset="0"/>
                <a:cs typeface="Arial" panose="020B0604020202020204" pitchFamily="34" charset="0"/>
              </a:rPr>
              <a:t>uds</a:t>
            </a:r>
            <a:r>
              <a:rPr lang="es-MX" sz="1200" dirty="0" smtClean="0">
                <a:latin typeface="Arial" panose="020B0604020202020204" pitchFamily="34" charset="0"/>
                <a:cs typeface="Arial" panose="020B0604020202020204" pitchFamily="34" charset="0"/>
              </a:rPr>
              <a:t>)" ubicado en el carril superior del Área de Recepción y Entrega, el cual marca el ingreso del lote inicial de dispositivos hacia la primera tarea de registro y clasificación con un tiempo estándar de 5 minutos.</a:t>
            </a:r>
            <a:endParaRPr lang="es-MX" sz="1200" dirty="0">
              <a:latin typeface="Arial" panose="020B0604020202020204" pitchFamily="34" charset="0"/>
              <a:cs typeface="Arial" panose="020B0604020202020204" pitchFamily="34" charset="0"/>
            </a:endParaRPr>
          </a:p>
        </p:txBody>
      </p:sp>
      <p:pic>
        <p:nvPicPr>
          <p:cNvPr id="2" name="Imagen 1"/>
          <p:cNvPicPr>
            <a:picLocks noChangeAspect="1"/>
          </p:cNvPicPr>
          <p:nvPr/>
        </p:nvPicPr>
        <p:blipFill>
          <a:blip r:embed="rId2"/>
          <a:stretch>
            <a:fillRect/>
          </a:stretch>
        </p:blipFill>
        <p:spPr>
          <a:xfrm>
            <a:off x="504808" y="874555"/>
            <a:ext cx="5713112" cy="2873222"/>
          </a:xfrm>
          <a:prstGeom prst="rect">
            <a:avLst/>
          </a:prstGeom>
        </p:spPr>
      </p:pic>
      <p:sp>
        <p:nvSpPr>
          <p:cNvPr id="12" name="Elipse 11"/>
          <p:cNvSpPr/>
          <p:nvPr/>
        </p:nvSpPr>
        <p:spPr>
          <a:xfrm>
            <a:off x="1427394" y="711994"/>
            <a:ext cx="726526" cy="2783045"/>
          </a:xfrm>
          <a:prstGeom prst="ellipse">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0" name="Imagen 9"/>
          <p:cNvPicPr/>
          <p:nvPr/>
        </p:nvPicPr>
        <p:blipFill>
          <a:blip r:embed="rId3"/>
          <a:stretch>
            <a:fillRect/>
          </a:stretch>
        </p:blipFill>
        <p:spPr>
          <a:xfrm>
            <a:off x="6569481" y="791559"/>
            <a:ext cx="4798973" cy="2866041"/>
          </a:xfrm>
          <a:prstGeom prst="rect">
            <a:avLst/>
          </a:prstGeom>
        </p:spPr>
      </p:pic>
      <p:sp>
        <p:nvSpPr>
          <p:cNvPr id="3" name="Elipse 2"/>
          <p:cNvSpPr/>
          <p:nvPr/>
        </p:nvSpPr>
        <p:spPr>
          <a:xfrm>
            <a:off x="6719936" y="1002574"/>
            <a:ext cx="964542" cy="6943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8566816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660059" y="4075922"/>
            <a:ext cx="5402610" cy="1443152"/>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A continuación, el flujo se dirige desde el evento de inicio hacia la tarea de "Registrar y Clasificar Equipo (Tiempo: 5 min)" ubicada en el carril superior del Área de Recepción y Entrega, la cual constituye el primer paso operativo para procesar el lote de dispositivos antes de transferir la información hacia el Área de Diagnóstico y Calidad.</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569481" y="4075922"/>
            <a:ext cx="5141251" cy="1443152"/>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Posteriormente, el flujo de trabajo desciende hacia el Área de Diagnóstico y Calidad para ejecutar la tarea de "Diagnóstico del Equipo (Tiempo: 15 min)", donde se evalúa el estado inicial de cada dispositivo proveniente de la fase de registro antes de derivar el equipo hacia el área de reparación.</a:t>
            </a:r>
            <a:endParaRPr lang="es-MX" sz="1200" dirty="0">
              <a:latin typeface="Arial" panose="020B0604020202020204" pitchFamily="34" charset="0"/>
              <a:cs typeface="Arial" panose="020B0604020202020204" pitchFamily="34" charset="0"/>
            </a:endParaRPr>
          </a:p>
        </p:txBody>
      </p:sp>
      <p:pic>
        <p:nvPicPr>
          <p:cNvPr id="8" name="Imagen 7"/>
          <p:cNvPicPr/>
          <p:nvPr/>
        </p:nvPicPr>
        <p:blipFill>
          <a:blip r:embed="rId2"/>
          <a:stretch>
            <a:fillRect/>
          </a:stretch>
        </p:blipFill>
        <p:spPr>
          <a:xfrm>
            <a:off x="660059" y="187820"/>
            <a:ext cx="5147735" cy="3469780"/>
          </a:xfrm>
          <a:prstGeom prst="rect">
            <a:avLst/>
          </a:prstGeom>
        </p:spPr>
      </p:pic>
      <p:sp>
        <p:nvSpPr>
          <p:cNvPr id="3" name="Elipse 2"/>
          <p:cNvSpPr/>
          <p:nvPr/>
        </p:nvSpPr>
        <p:spPr>
          <a:xfrm>
            <a:off x="1866582" y="422282"/>
            <a:ext cx="1219518" cy="8613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Imagen 8"/>
          <p:cNvPicPr/>
          <p:nvPr/>
        </p:nvPicPr>
        <p:blipFill>
          <a:blip r:embed="rId2"/>
          <a:stretch>
            <a:fillRect/>
          </a:stretch>
        </p:blipFill>
        <p:spPr>
          <a:xfrm>
            <a:off x="6562997" y="187820"/>
            <a:ext cx="5147735" cy="3469780"/>
          </a:xfrm>
          <a:prstGeom prst="rect">
            <a:avLst/>
          </a:prstGeom>
        </p:spPr>
      </p:pic>
      <p:sp>
        <p:nvSpPr>
          <p:cNvPr id="11" name="Elipse 10"/>
          <p:cNvSpPr/>
          <p:nvPr/>
        </p:nvSpPr>
        <p:spPr>
          <a:xfrm>
            <a:off x="6775620" y="1492012"/>
            <a:ext cx="1219518" cy="8613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9411521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660059" y="4075922"/>
            <a:ext cx="5402610" cy="1443152"/>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Seguidamente, el flujo avanza hacia el Área de Reparación para llevar a cabo la tarea de "Proceso de Reparación (Tiempo: 45 min)", la cual representa la estación con mayor carga de trabajo y tiempo estándar dentro del taller, encargada de corregir las fallas detectadas antes de enviar el dispositivo hacia la fase de control de calidad.</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562997" y="3824716"/>
            <a:ext cx="5141251" cy="2274149"/>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Posteriormente, el flujo de trabajo se dirige hacia el área de Diagnóstico y Calidad para ejecutar la tarea de "Control de Calidad (Tiempo: 10 min)", la cual evalúa el dispositivo tras la reparación para conectarse con la compuerta exclusiva de validación "¿Aprobado?"; esta compuerta define el desvío del flujo según los criterios de inspección, permitiendo avanzar hacia la entrega si el resultado es positivo (80%) o activando un bucle de </a:t>
            </a:r>
            <a:r>
              <a:rPr lang="es-MX" sz="1200" dirty="0" err="1" smtClean="0">
                <a:latin typeface="Arial" panose="020B0604020202020204" pitchFamily="34" charset="0"/>
                <a:cs typeface="Arial" panose="020B0604020202020204" pitchFamily="34" charset="0"/>
              </a:rPr>
              <a:t>retrabajo</a:t>
            </a:r>
            <a:r>
              <a:rPr lang="es-MX" sz="1200" dirty="0" smtClean="0">
                <a:latin typeface="Arial" panose="020B0604020202020204" pitchFamily="34" charset="0"/>
                <a:cs typeface="Arial" panose="020B0604020202020204" pitchFamily="34" charset="0"/>
              </a:rPr>
              <a:t> que devuelve el equipo al proceso de reparación (20%) en caso de rechazo.</a:t>
            </a:r>
            <a:endParaRPr lang="es-MX" sz="1200" dirty="0">
              <a:latin typeface="Arial" panose="020B0604020202020204" pitchFamily="34" charset="0"/>
              <a:cs typeface="Arial" panose="020B0604020202020204" pitchFamily="34" charset="0"/>
            </a:endParaRPr>
          </a:p>
        </p:txBody>
      </p:sp>
      <p:pic>
        <p:nvPicPr>
          <p:cNvPr id="8" name="Imagen 7"/>
          <p:cNvPicPr/>
          <p:nvPr/>
        </p:nvPicPr>
        <p:blipFill>
          <a:blip r:embed="rId2"/>
          <a:stretch>
            <a:fillRect/>
          </a:stretch>
        </p:blipFill>
        <p:spPr>
          <a:xfrm>
            <a:off x="660059" y="187820"/>
            <a:ext cx="5147735" cy="3469780"/>
          </a:xfrm>
          <a:prstGeom prst="rect">
            <a:avLst/>
          </a:prstGeom>
        </p:spPr>
      </p:pic>
      <p:sp>
        <p:nvSpPr>
          <p:cNvPr id="3" name="Elipse 2"/>
          <p:cNvSpPr/>
          <p:nvPr/>
        </p:nvSpPr>
        <p:spPr>
          <a:xfrm>
            <a:off x="881844" y="2574669"/>
            <a:ext cx="1219518" cy="8613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Imagen 8"/>
          <p:cNvPicPr/>
          <p:nvPr/>
        </p:nvPicPr>
        <p:blipFill>
          <a:blip r:embed="rId2"/>
          <a:stretch>
            <a:fillRect/>
          </a:stretch>
        </p:blipFill>
        <p:spPr>
          <a:xfrm>
            <a:off x="6562997" y="187820"/>
            <a:ext cx="5147735" cy="3469780"/>
          </a:xfrm>
          <a:prstGeom prst="rect">
            <a:avLst/>
          </a:prstGeom>
        </p:spPr>
      </p:pic>
      <p:sp>
        <p:nvSpPr>
          <p:cNvPr id="11" name="Elipse 10"/>
          <p:cNvSpPr/>
          <p:nvPr/>
        </p:nvSpPr>
        <p:spPr>
          <a:xfrm>
            <a:off x="9677081" y="1492012"/>
            <a:ext cx="1219518" cy="8613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Elipse 9"/>
          <p:cNvSpPr/>
          <p:nvPr/>
        </p:nvSpPr>
        <p:spPr>
          <a:xfrm>
            <a:off x="8654392" y="1492011"/>
            <a:ext cx="1219518" cy="8613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Elipse 11"/>
          <p:cNvSpPr/>
          <p:nvPr/>
        </p:nvSpPr>
        <p:spPr>
          <a:xfrm>
            <a:off x="6569481" y="2646734"/>
            <a:ext cx="1219518" cy="8613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7586020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660059" y="4075922"/>
            <a:ext cx="5402610" cy="1443152"/>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concluir con el flujo operativo del proceso, cuando el dispositivo obtiene un resultado favorable en la compuerta de validación, asciende hacia el Área de Recepción y Entrega para ejecutar la tarea de "Entrega de Equipo Reparado (Tiempo: 5 min)", la cual culmina formalmente el ciclo operativo del taller al conectar directamente con el evento de Fin del diagrama.</a:t>
            </a:r>
            <a:endParaRPr lang="es-MX" sz="1200" dirty="0">
              <a:latin typeface="Arial" panose="020B0604020202020204" pitchFamily="34" charset="0"/>
              <a:cs typeface="Arial" panose="020B0604020202020204" pitchFamily="34" charset="0"/>
            </a:endParaRPr>
          </a:p>
        </p:txBody>
      </p:sp>
      <p:sp>
        <p:nvSpPr>
          <p:cNvPr id="6" name="CuadroTexto 5"/>
          <p:cNvSpPr txBox="1"/>
          <p:nvPr/>
        </p:nvSpPr>
        <p:spPr>
          <a:xfrm>
            <a:off x="6569481" y="4075922"/>
            <a:ext cx="5141251" cy="1443152"/>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Para concluir con el ciclo completo del proceso en el diagrama, el flujo se conecta desde la última tarea de entrega hacia el evento de fin ubicado en el extremo superior derecho del carril del Área de Recepción y Entrega, representando la salida definitiva de cada dispositivo reparado y cerrando formalmente la instancia de ejecución del taller.</a:t>
            </a:r>
            <a:endParaRPr lang="es-MX" sz="1200" dirty="0">
              <a:latin typeface="Arial" panose="020B0604020202020204" pitchFamily="34" charset="0"/>
              <a:cs typeface="Arial" panose="020B0604020202020204" pitchFamily="34" charset="0"/>
            </a:endParaRPr>
          </a:p>
        </p:txBody>
      </p:sp>
      <p:pic>
        <p:nvPicPr>
          <p:cNvPr id="8" name="Imagen 7"/>
          <p:cNvPicPr/>
          <p:nvPr/>
        </p:nvPicPr>
        <p:blipFill>
          <a:blip r:embed="rId2"/>
          <a:stretch>
            <a:fillRect/>
          </a:stretch>
        </p:blipFill>
        <p:spPr>
          <a:xfrm>
            <a:off x="660059" y="187820"/>
            <a:ext cx="5147735" cy="3469780"/>
          </a:xfrm>
          <a:prstGeom prst="rect">
            <a:avLst/>
          </a:prstGeom>
        </p:spPr>
      </p:pic>
      <p:sp>
        <p:nvSpPr>
          <p:cNvPr id="3" name="Elipse 2"/>
          <p:cNvSpPr/>
          <p:nvPr/>
        </p:nvSpPr>
        <p:spPr>
          <a:xfrm>
            <a:off x="3786437" y="1492010"/>
            <a:ext cx="1219518" cy="8613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Imagen 8"/>
          <p:cNvPicPr/>
          <p:nvPr/>
        </p:nvPicPr>
        <p:blipFill>
          <a:blip r:embed="rId2"/>
          <a:stretch>
            <a:fillRect/>
          </a:stretch>
        </p:blipFill>
        <p:spPr>
          <a:xfrm>
            <a:off x="6562997" y="187820"/>
            <a:ext cx="5147735" cy="3469780"/>
          </a:xfrm>
          <a:prstGeom prst="rect">
            <a:avLst/>
          </a:prstGeom>
        </p:spPr>
      </p:pic>
      <p:sp>
        <p:nvSpPr>
          <p:cNvPr id="11" name="Elipse 10"/>
          <p:cNvSpPr/>
          <p:nvPr/>
        </p:nvSpPr>
        <p:spPr>
          <a:xfrm>
            <a:off x="10484730" y="343148"/>
            <a:ext cx="1219518" cy="8613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Elipse 12"/>
          <p:cNvSpPr/>
          <p:nvPr/>
        </p:nvSpPr>
        <p:spPr>
          <a:xfrm>
            <a:off x="3786437" y="343148"/>
            <a:ext cx="1219518" cy="8613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5618149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RESULTADO FINAL</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197756" y="4642449"/>
            <a:ext cx="9676436" cy="1200329"/>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Como resultado final de esta fase de implementación, se consolida el diagrama completo del Taller de Electrónica en Bonita Studio, integrando de manera estructurada las tres áreas operativas el Área de Recepción y Entrega, el Área de Diagnóstico y Calidad, y el Área de Reparación para gestionar de forma integral el flujo de los 50 dispositivos, desde el evento de inicio hasta la compuerta de validación con su respectivo bucle de </a:t>
            </a:r>
            <a:r>
              <a:rPr lang="es-MX" sz="1200" dirty="0" err="1" smtClean="0">
                <a:latin typeface="Arial" panose="020B0604020202020204" pitchFamily="34" charset="0"/>
                <a:cs typeface="Arial" panose="020B0604020202020204" pitchFamily="34" charset="0"/>
              </a:rPr>
              <a:t>retrabajo</a:t>
            </a:r>
            <a:r>
              <a:rPr lang="es-MX" sz="1200" dirty="0" smtClean="0">
                <a:latin typeface="Arial" panose="020B0604020202020204" pitchFamily="34" charset="0"/>
                <a:cs typeface="Arial" panose="020B0604020202020204" pitchFamily="34" charset="0"/>
              </a:rPr>
              <a:t> y el evento de fin, logrando así un modelo BPMN robusto y listo para su ejecución y despliegue operativo.</a:t>
            </a:r>
            <a:endParaRPr lang="es-MX" sz="1200"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a:blip r:embed="rId2"/>
          <a:stretch>
            <a:fillRect/>
          </a:stretch>
        </p:blipFill>
        <p:spPr>
          <a:xfrm>
            <a:off x="2671476" y="839743"/>
            <a:ext cx="6728996" cy="3713218"/>
          </a:xfrm>
          <a:prstGeom prst="rect">
            <a:avLst/>
          </a:prstGeom>
        </p:spPr>
      </p:pic>
    </p:spTree>
    <p:extLst>
      <p:ext uri="{BB962C8B-B14F-4D97-AF65-F5344CB8AC3E}">
        <p14:creationId xmlns:p14="http://schemas.microsoft.com/office/powerpoint/2010/main" val="40994406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EJECUCION DEL DIAGRAMA EN BONITA</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461321" y="4984923"/>
            <a:ext cx="9536056" cy="923330"/>
          </a:xfrm>
          <a:prstGeom prst="rect">
            <a:avLst/>
          </a:prstGeom>
          <a:noFill/>
        </p:spPr>
        <p:txBody>
          <a:bodyPr wrap="square" rtlCol="0">
            <a:spAutoFit/>
          </a:bodyPr>
          <a:lstStyle/>
          <a:p>
            <a:pPr algn="just">
              <a:lnSpc>
                <a:spcPct val="150000"/>
              </a:lnSpc>
            </a:pPr>
            <a:r>
              <a:rPr lang="es-MX" sz="1200" dirty="0" smtClean="0">
                <a:latin typeface="Arial" panose="020B0604020202020204" pitchFamily="34" charset="0"/>
                <a:cs typeface="Arial" panose="020B0604020202020204" pitchFamily="34" charset="0"/>
              </a:rPr>
              <a:t>Como parte de la fase de ejecución y seguimiento, la interfaz de la Bonita </a:t>
            </a:r>
            <a:r>
              <a:rPr lang="es-MX" sz="1200" dirty="0" err="1" smtClean="0">
                <a:latin typeface="Arial" panose="020B0604020202020204" pitchFamily="34" charset="0"/>
                <a:cs typeface="Arial" panose="020B0604020202020204" pitchFamily="34" charset="0"/>
              </a:rPr>
              <a:t>User</a:t>
            </a:r>
            <a:r>
              <a:rPr lang="es-MX" sz="1200" dirty="0" smtClean="0">
                <a:latin typeface="Arial" panose="020B0604020202020204" pitchFamily="34" charset="0"/>
                <a:cs typeface="Arial" panose="020B0604020202020204" pitchFamily="34" charset="0"/>
              </a:rPr>
              <a:t> </a:t>
            </a:r>
            <a:r>
              <a:rPr lang="es-MX" sz="1200" dirty="0" err="1" smtClean="0">
                <a:latin typeface="Arial" panose="020B0604020202020204" pitchFamily="34" charset="0"/>
                <a:cs typeface="Arial" panose="020B0604020202020204" pitchFamily="34" charset="0"/>
              </a:rPr>
              <a:t>Application</a:t>
            </a:r>
            <a:r>
              <a:rPr lang="es-MX" sz="1200" dirty="0" smtClean="0">
                <a:latin typeface="Arial" panose="020B0604020202020204" pitchFamily="34" charset="0"/>
                <a:cs typeface="Arial" panose="020B0604020202020204" pitchFamily="34" charset="0"/>
              </a:rPr>
              <a:t> muestra el módulo de Casos (/bonita/apps/</a:t>
            </a:r>
            <a:r>
              <a:rPr lang="es-MX" sz="1200" dirty="0" err="1" smtClean="0">
                <a:latin typeface="Arial" panose="020B0604020202020204" pitchFamily="34" charset="0"/>
                <a:cs typeface="Arial" panose="020B0604020202020204" pitchFamily="34" charset="0"/>
              </a:rPr>
              <a:t>userAppBonita</a:t>
            </a:r>
            <a:r>
              <a:rPr lang="es-MX" sz="1200" dirty="0" smtClean="0">
                <a:latin typeface="Arial" panose="020B0604020202020204" pitchFamily="34" charset="0"/>
                <a:cs typeface="Arial" panose="020B0604020202020204" pitchFamily="34" charset="0"/>
              </a:rPr>
              <a:t>/case-</a:t>
            </a:r>
            <a:r>
              <a:rPr lang="es-MX" sz="1200" dirty="0" err="1" smtClean="0">
                <a:latin typeface="Arial" panose="020B0604020202020204" pitchFamily="34" charset="0"/>
                <a:cs typeface="Arial" panose="020B0604020202020204" pitchFamily="34" charset="0"/>
              </a:rPr>
              <a:t>list</a:t>
            </a:r>
            <a:r>
              <a:rPr lang="es-MX" sz="1200" dirty="0" smtClean="0">
                <a:latin typeface="Arial" panose="020B0604020202020204" pitchFamily="34" charset="0"/>
                <a:cs typeface="Arial" panose="020B0604020202020204" pitchFamily="34" charset="0"/>
              </a:rPr>
              <a:t>/), sesión iniciada por el usuario Walter Bates, donde es posible visualizar la lista de casos abiertos y archivados del proceso, filtrar por nombre, ordenar los registros o consultar los detalles de las instancias en curso del taller de electrónica.</a:t>
            </a:r>
            <a:endParaRPr lang="es-MX" sz="1200" dirty="0">
              <a:latin typeface="Arial" panose="020B0604020202020204" pitchFamily="34" charset="0"/>
              <a:cs typeface="Arial" panose="020B0604020202020204" pitchFamily="34" charset="0"/>
            </a:endParaRPr>
          </a:p>
        </p:txBody>
      </p:sp>
      <p:pic>
        <p:nvPicPr>
          <p:cNvPr id="7" name="Imagen 6"/>
          <p:cNvPicPr>
            <a:picLocks noChangeAspect="1"/>
          </p:cNvPicPr>
          <p:nvPr/>
        </p:nvPicPr>
        <p:blipFill>
          <a:blip r:embed="rId2"/>
          <a:stretch>
            <a:fillRect/>
          </a:stretch>
        </p:blipFill>
        <p:spPr>
          <a:xfrm>
            <a:off x="2549045" y="977149"/>
            <a:ext cx="7360609" cy="3870368"/>
          </a:xfrm>
          <a:prstGeom prst="rect">
            <a:avLst/>
          </a:prstGeom>
        </p:spPr>
      </p:pic>
    </p:spTree>
    <p:extLst>
      <p:ext uri="{BB962C8B-B14F-4D97-AF65-F5344CB8AC3E}">
        <p14:creationId xmlns:p14="http://schemas.microsoft.com/office/powerpoint/2010/main" val="5236716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p:cNvGraphicFramePr>
            <a:graphicFrameLocks noGrp="1"/>
          </p:cNvGraphicFramePr>
          <p:nvPr>
            <p:extLst>
              <p:ext uri="{D42A27DB-BD31-4B8C-83A1-F6EECF244321}">
                <p14:modId xmlns:p14="http://schemas.microsoft.com/office/powerpoint/2010/main" val="4180424544"/>
              </p:ext>
            </p:extLst>
          </p:nvPr>
        </p:nvGraphicFramePr>
        <p:xfrm>
          <a:off x="509953" y="754836"/>
          <a:ext cx="11113480" cy="5866749"/>
        </p:xfrm>
        <a:graphic>
          <a:graphicData uri="http://schemas.openxmlformats.org/drawingml/2006/table">
            <a:tbl>
              <a:tblPr firstRow="1" bandRow="1">
                <a:tableStyleId>{7DF18680-E054-41AD-8BC1-D1AEF772440D}</a:tableStyleId>
              </a:tblPr>
              <a:tblGrid>
                <a:gridCol w="2778370">
                  <a:extLst>
                    <a:ext uri="{9D8B030D-6E8A-4147-A177-3AD203B41FA5}">
                      <a16:colId xmlns:a16="http://schemas.microsoft.com/office/drawing/2014/main" val="954909225"/>
                    </a:ext>
                  </a:extLst>
                </a:gridCol>
                <a:gridCol w="2778370">
                  <a:extLst>
                    <a:ext uri="{9D8B030D-6E8A-4147-A177-3AD203B41FA5}">
                      <a16:colId xmlns:a16="http://schemas.microsoft.com/office/drawing/2014/main" val="1191806504"/>
                    </a:ext>
                  </a:extLst>
                </a:gridCol>
                <a:gridCol w="2778370">
                  <a:extLst>
                    <a:ext uri="{9D8B030D-6E8A-4147-A177-3AD203B41FA5}">
                      <a16:colId xmlns:a16="http://schemas.microsoft.com/office/drawing/2014/main" val="564869246"/>
                    </a:ext>
                  </a:extLst>
                </a:gridCol>
                <a:gridCol w="2778370">
                  <a:extLst>
                    <a:ext uri="{9D8B030D-6E8A-4147-A177-3AD203B41FA5}">
                      <a16:colId xmlns:a16="http://schemas.microsoft.com/office/drawing/2014/main" val="1856849875"/>
                    </a:ext>
                  </a:extLst>
                </a:gridCol>
              </a:tblGrid>
              <a:tr h="405749">
                <a:tc>
                  <a:txBody>
                    <a:bodyPr/>
                    <a:lstStyle/>
                    <a:p>
                      <a:pPr algn="ctr"/>
                      <a:r>
                        <a:rPr lang="es-MX" dirty="0" smtClean="0"/>
                        <a:t>Aspecto</a:t>
                      </a:r>
                      <a:endParaRPr lang="es-MX" dirty="0"/>
                    </a:p>
                  </a:txBody>
                  <a:tcPr anchor="ctr"/>
                </a:tc>
                <a:tc>
                  <a:txBody>
                    <a:bodyPr/>
                    <a:lstStyle/>
                    <a:p>
                      <a:pPr algn="ctr"/>
                      <a:r>
                        <a:rPr lang="es-MX" dirty="0" err="1" smtClean="0"/>
                        <a:t>Camunda</a:t>
                      </a:r>
                      <a:endParaRPr lang="es-MX" dirty="0"/>
                    </a:p>
                  </a:txBody>
                  <a:tcPr anchor="ctr"/>
                </a:tc>
                <a:tc>
                  <a:txBody>
                    <a:bodyPr/>
                    <a:lstStyle/>
                    <a:p>
                      <a:pPr algn="ctr"/>
                      <a:r>
                        <a:rPr lang="es-MX" dirty="0" err="1" smtClean="0"/>
                        <a:t>Bizagi</a:t>
                      </a:r>
                      <a:endParaRPr lang="es-MX" dirty="0"/>
                    </a:p>
                  </a:txBody>
                  <a:tcPr anchor="ctr"/>
                </a:tc>
                <a:tc>
                  <a:txBody>
                    <a:bodyPr/>
                    <a:lstStyle/>
                    <a:p>
                      <a:pPr algn="ctr"/>
                      <a:r>
                        <a:rPr lang="es-MX" dirty="0" smtClean="0"/>
                        <a:t>Bonita</a:t>
                      </a:r>
                      <a:endParaRPr lang="es-MX" dirty="0"/>
                    </a:p>
                  </a:txBody>
                  <a:tcPr anchor="ctr"/>
                </a:tc>
                <a:extLst>
                  <a:ext uri="{0D108BD9-81ED-4DB2-BD59-A6C34878D82A}">
                    <a16:rowId xmlns:a16="http://schemas.microsoft.com/office/drawing/2014/main" val="2633420258"/>
                  </a:ext>
                </a:extLst>
              </a:tr>
              <a:tr h="370840">
                <a:tc>
                  <a:txBody>
                    <a:bodyPr/>
                    <a:lstStyle/>
                    <a:p>
                      <a:pPr algn="ctr"/>
                      <a:r>
                        <a:rPr lang="es-MX" sz="1400" dirty="0" smtClean="0"/>
                        <a:t>Enfoque principal</a:t>
                      </a:r>
                      <a:endParaRPr lang="es-MX" sz="1400" dirty="0"/>
                    </a:p>
                  </a:txBody>
                  <a:tcPr anchor="ctr">
                    <a:solidFill>
                      <a:srgbClr val="00B0F0"/>
                    </a:solidFill>
                  </a:tcPr>
                </a:tc>
                <a:tc>
                  <a:txBody>
                    <a:bodyPr/>
                    <a:lstStyle/>
                    <a:p>
                      <a:pPr algn="ctr"/>
                      <a:r>
                        <a:rPr lang="es-MX" sz="1400" dirty="0" smtClean="0"/>
                        <a:t>Modelado y automatización de procesos.</a:t>
                      </a:r>
                      <a:endParaRPr lang="es-MX" sz="1400" dirty="0"/>
                    </a:p>
                  </a:txBody>
                  <a:tcPr anchor="ctr"/>
                </a:tc>
                <a:tc>
                  <a:txBody>
                    <a:bodyPr/>
                    <a:lstStyle/>
                    <a:p>
                      <a:pPr algn="ctr"/>
                      <a:r>
                        <a:rPr lang="es-MX" sz="1400" dirty="0" smtClean="0"/>
                        <a:t>Modelado y documentación de procesos.</a:t>
                      </a:r>
                      <a:endParaRPr lang="es-MX" sz="1400" dirty="0"/>
                    </a:p>
                  </a:txBody>
                  <a:tcPr anchor="ctr"/>
                </a:tc>
                <a:tc>
                  <a:txBody>
                    <a:bodyPr/>
                    <a:lstStyle/>
                    <a:p>
                      <a:pPr algn="ctr"/>
                      <a:r>
                        <a:rPr lang="es-MX" sz="1400" dirty="0" smtClean="0"/>
                        <a:t>Modelado y automatización de procesos y aplicaciones.</a:t>
                      </a:r>
                      <a:endParaRPr lang="es-MX" sz="1400" dirty="0"/>
                    </a:p>
                  </a:txBody>
                  <a:tcPr anchor="ctr"/>
                </a:tc>
                <a:extLst>
                  <a:ext uri="{0D108BD9-81ED-4DB2-BD59-A6C34878D82A}">
                    <a16:rowId xmlns:a16="http://schemas.microsoft.com/office/drawing/2014/main" val="2353698368"/>
                  </a:ext>
                </a:extLst>
              </a:tr>
              <a:tr h="370840">
                <a:tc>
                  <a:txBody>
                    <a:bodyPr/>
                    <a:lstStyle/>
                    <a:p>
                      <a:pPr algn="ctr"/>
                      <a:r>
                        <a:rPr lang="es-MX" sz="1400" dirty="0" smtClean="0"/>
                        <a:t>Interfaz</a:t>
                      </a:r>
                      <a:endParaRPr lang="es-MX" sz="1400" dirty="0"/>
                    </a:p>
                  </a:txBody>
                  <a:tcPr anchor="ctr">
                    <a:solidFill>
                      <a:srgbClr val="00B0F0"/>
                    </a:solidFill>
                  </a:tcPr>
                </a:tc>
                <a:tc>
                  <a:txBody>
                    <a:bodyPr/>
                    <a:lstStyle/>
                    <a:p>
                      <a:pPr algn="ctr"/>
                      <a:r>
                        <a:rPr lang="es-MX" sz="1400" dirty="0" smtClean="0"/>
                        <a:t>Sencilla y minimalista.</a:t>
                      </a:r>
                      <a:endParaRPr lang="es-MX" sz="1400" dirty="0"/>
                    </a:p>
                  </a:txBody>
                  <a:tcPr anchor="ctr"/>
                </a:tc>
                <a:tc>
                  <a:txBody>
                    <a:bodyPr/>
                    <a:lstStyle/>
                    <a:p>
                      <a:pPr algn="ctr"/>
                      <a:r>
                        <a:rPr lang="es-MX" sz="1400" dirty="0" smtClean="0"/>
                        <a:t>Más visual y orientada al diseño gráfico.</a:t>
                      </a:r>
                      <a:endParaRPr lang="es-MX" sz="1400" dirty="0"/>
                    </a:p>
                  </a:txBody>
                  <a:tcPr anchor="ctr"/>
                </a:tc>
                <a:tc>
                  <a:txBody>
                    <a:bodyPr/>
                    <a:lstStyle/>
                    <a:p>
                      <a:pPr algn="ctr"/>
                      <a:r>
                        <a:rPr lang="es-MX" sz="1400" dirty="0" smtClean="0"/>
                        <a:t>Visual y orientada a la organización de procesos.</a:t>
                      </a:r>
                      <a:endParaRPr lang="es-MX" sz="1400" dirty="0"/>
                    </a:p>
                  </a:txBody>
                  <a:tcPr anchor="ctr"/>
                </a:tc>
                <a:extLst>
                  <a:ext uri="{0D108BD9-81ED-4DB2-BD59-A6C34878D82A}">
                    <a16:rowId xmlns:a16="http://schemas.microsoft.com/office/drawing/2014/main" val="2720547917"/>
                  </a:ext>
                </a:extLst>
              </a:tr>
              <a:tr h="370840">
                <a:tc>
                  <a:txBody>
                    <a:bodyPr/>
                    <a:lstStyle/>
                    <a:p>
                      <a:pPr algn="ctr"/>
                      <a:r>
                        <a:rPr lang="es-MX" sz="1400" dirty="0" smtClean="0"/>
                        <a:t>Organización por áreas</a:t>
                      </a:r>
                      <a:endParaRPr lang="es-MX" sz="1400" dirty="0"/>
                    </a:p>
                  </a:txBody>
                  <a:tcPr anchor="ctr">
                    <a:solidFill>
                      <a:srgbClr val="00B0F0"/>
                    </a:solidFill>
                  </a:tcPr>
                </a:tc>
                <a:tc>
                  <a:txBody>
                    <a:bodyPr/>
                    <a:lstStyle/>
                    <a:p>
                      <a:pPr algn="ctr"/>
                      <a:r>
                        <a:rPr lang="es-MX" sz="1400" dirty="0" smtClean="0"/>
                        <a:t>Puede utilizar participantes.</a:t>
                      </a:r>
                      <a:endParaRPr lang="es-MX" sz="1400" dirty="0"/>
                    </a:p>
                  </a:txBody>
                  <a:tcPr anchor="ctr"/>
                </a:tc>
                <a:tc>
                  <a:txBody>
                    <a:bodyPr/>
                    <a:lstStyle/>
                    <a:p>
                      <a:pPr algn="ctr"/>
                      <a:r>
                        <a:rPr lang="es-MX" sz="1400" dirty="0" smtClean="0"/>
                        <a:t>Permite dividir el proceso mediante carriles.</a:t>
                      </a:r>
                      <a:endParaRPr lang="es-MX" sz="1400" dirty="0"/>
                    </a:p>
                  </a:txBody>
                  <a:tcPr anchor="ctr"/>
                </a:tc>
                <a:tc>
                  <a:txBody>
                    <a:bodyPr/>
                    <a:lstStyle/>
                    <a:p>
                      <a:pPr algn="ctr"/>
                      <a:r>
                        <a:rPr lang="es-MX" sz="1400" dirty="0" smtClean="0"/>
                        <a:t>Destaca por organizar las actividades en diferentes áreas o participantes.</a:t>
                      </a:r>
                      <a:endParaRPr lang="es-MX" sz="1400" dirty="0"/>
                    </a:p>
                  </a:txBody>
                  <a:tcPr anchor="ctr"/>
                </a:tc>
                <a:extLst>
                  <a:ext uri="{0D108BD9-81ED-4DB2-BD59-A6C34878D82A}">
                    <a16:rowId xmlns:a16="http://schemas.microsoft.com/office/drawing/2014/main" val="878984860"/>
                  </a:ext>
                </a:extLst>
              </a:tr>
              <a:tr h="370840">
                <a:tc>
                  <a:txBody>
                    <a:bodyPr/>
                    <a:lstStyle/>
                    <a:p>
                      <a:pPr algn="ctr"/>
                      <a:r>
                        <a:rPr lang="es-MX" sz="1400" dirty="0" smtClean="0"/>
                        <a:t>Tiempos de actividades</a:t>
                      </a:r>
                      <a:endParaRPr lang="es-MX" sz="1400" dirty="0"/>
                    </a:p>
                  </a:txBody>
                  <a:tcPr anchor="ctr">
                    <a:solidFill>
                      <a:srgbClr val="00B0F0"/>
                    </a:solidFill>
                  </a:tcPr>
                </a:tc>
                <a:tc>
                  <a:txBody>
                    <a:bodyPr/>
                    <a:lstStyle/>
                    <a:p>
                      <a:pPr algn="ctr"/>
                      <a:r>
                        <a:rPr lang="es-MX" sz="1400" dirty="0" smtClean="0"/>
                        <a:t>Se pueden agregar, pero no se utilizaron en nuestro diagrama.</a:t>
                      </a:r>
                      <a:endParaRPr lang="es-MX" sz="1400" dirty="0"/>
                    </a:p>
                  </a:txBody>
                  <a:tcPr anchor="ctr"/>
                </a:tc>
                <a:tc>
                  <a:txBody>
                    <a:bodyPr/>
                    <a:lstStyle/>
                    <a:p>
                      <a:pPr algn="ctr"/>
                      <a:r>
                        <a:rPr lang="es-MX" sz="1400" dirty="0" smtClean="0"/>
                        <a:t>En nuestro diagrama se muestran los tiempos de cada actividad.</a:t>
                      </a:r>
                      <a:endParaRPr lang="es-MX" sz="1400" dirty="0"/>
                    </a:p>
                  </a:txBody>
                  <a:tcPr anchor="ctr"/>
                </a:tc>
                <a:tc>
                  <a:txBody>
                    <a:bodyPr/>
                    <a:lstStyle/>
                    <a:p>
                      <a:pPr algn="ctr"/>
                      <a:r>
                        <a:rPr lang="es-MX" sz="1400" dirty="0" smtClean="0"/>
                        <a:t>En nuestro diagrama se muestran los tiempos de cada actividad.</a:t>
                      </a:r>
                      <a:endParaRPr lang="es-MX" sz="1400" dirty="0"/>
                    </a:p>
                  </a:txBody>
                  <a:tcPr anchor="ctr"/>
                </a:tc>
                <a:extLst>
                  <a:ext uri="{0D108BD9-81ED-4DB2-BD59-A6C34878D82A}">
                    <a16:rowId xmlns:a16="http://schemas.microsoft.com/office/drawing/2014/main" val="594643507"/>
                  </a:ext>
                </a:extLst>
              </a:tr>
              <a:tr h="370840">
                <a:tc>
                  <a:txBody>
                    <a:bodyPr/>
                    <a:lstStyle/>
                    <a:p>
                      <a:pPr algn="ctr"/>
                      <a:r>
                        <a:rPr lang="es-MX" sz="1400" dirty="0" smtClean="0"/>
                        <a:t>Porcentajes en decisiones</a:t>
                      </a:r>
                      <a:endParaRPr lang="es-MX" sz="1400" dirty="0"/>
                    </a:p>
                  </a:txBody>
                  <a:tcPr anchor="ctr">
                    <a:solidFill>
                      <a:srgbClr val="00B0F0"/>
                    </a:solidFill>
                  </a:tcPr>
                </a:tc>
                <a:tc>
                  <a:txBody>
                    <a:bodyPr/>
                    <a:lstStyle/>
                    <a:p>
                      <a:pPr algn="ctr"/>
                      <a:r>
                        <a:rPr lang="es-MX" sz="1400" dirty="0" smtClean="0"/>
                        <a:t>Se muestran porcentajes de aprobación: 80 % y 20 %.</a:t>
                      </a:r>
                      <a:endParaRPr lang="es-MX" sz="1400" dirty="0"/>
                    </a:p>
                  </a:txBody>
                  <a:tcPr anchor="ctr"/>
                </a:tc>
                <a:tc>
                  <a:txBody>
                    <a:bodyPr/>
                    <a:lstStyle/>
                    <a:p>
                      <a:pPr algn="ctr"/>
                      <a:r>
                        <a:rPr lang="es-MX" sz="1400" dirty="0" smtClean="0"/>
                        <a:t>Se muestran porcentajes de aprobación: 80 % y 20 %.</a:t>
                      </a:r>
                      <a:endParaRPr lang="es-MX" sz="1400" dirty="0"/>
                    </a:p>
                  </a:txBody>
                  <a:tcPr anchor="ctr"/>
                </a:tc>
                <a:tc>
                  <a:txBody>
                    <a:bodyPr/>
                    <a:lstStyle/>
                    <a:p>
                      <a:pPr algn="ctr"/>
                      <a:r>
                        <a:rPr lang="es-MX" sz="1400" dirty="0" smtClean="0"/>
                        <a:t>Se muestran porcentajes de aprobación: 80 % y 20 %.</a:t>
                      </a:r>
                      <a:endParaRPr lang="es-MX" sz="1400" dirty="0"/>
                    </a:p>
                  </a:txBody>
                  <a:tcPr anchor="ctr"/>
                </a:tc>
                <a:extLst>
                  <a:ext uri="{0D108BD9-81ED-4DB2-BD59-A6C34878D82A}">
                    <a16:rowId xmlns:a16="http://schemas.microsoft.com/office/drawing/2014/main" val="3909519631"/>
                  </a:ext>
                </a:extLst>
              </a:tr>
              <a:tr h="370840">
                <a:tc>
                  <a:txBody>
                    <a:bodyPr/>
                    <a:lstStyle/>
                    <a:p>
                      <a:pPr algn="ctr"/>
                      <a:r>
                        <a:rPr lang="es-MX" sz="1400" dirty="0" smtClean="0"/>
                        <a:t>Representación del flujo</a:t>
                      </a:r>
                      <a:endParaRPr lang="es-MX" sz="1400" dirty="0"/>
                    </a:p>
                  </a:txBody>
                  <a:tcPr anchor="ctr">
                    <a:solidFill>
                      <a:srgbClr val="00B0F0"/>
                    </a:solidFill>
                  </a:tcPr>
                </a:tc>
                <a:tc>
                  <a:txBody>
                    <a:bodyPr/>
                    <a:lstStyle/>
                    <a:p>
                      <a:pPr algn="ctr"/>
                      <a:r>
                        <a:rPr lang="es-MX" sz="1400" dirty="0" smtClean="0"/>
                        <a:t>Más sencilla y directa</a:t>
                      </a:r>
                      <a:endParaRPr lang="es-MX" sz="1400" dirty="0"/>
                    </a:p>
                  </a:txBody>
                  <a:tcPr anchor="ctr"/>
                </a:tc>
                <a:tc>
                  <a:txBody>
                    <a:bodyPr/>
                    <a:lstStyle/>
                    <a:p>
                      <a:pPr algn="ctr"/>
                      <a:r>
                        <a:rPr lang="es-MX" sz="1400" dirty="0" smtClean="0"/>
                        <a:t>Más detallada y organizada.</a:t>
                      </a:r>
                      <a:endParaRPr lang="es-MX" sz="1400" dirty="0"/>
                    </a:p>
                  </a:txBody>
                  <a:tcPr anchor="ctr"/>
                </a:tc>
                <a:tc>
                  <a:txBody>
                    <a:bodyPr/>
                    <a:lstStyle/>
                    <a:p>
                      <a:pPr algn="ctr"/>
                      <a:r>
                        <a:rPr lang="es-MX" sz="1400" dirty="0" smtClean="0"/>
                        <a:t>Más enfocada en la distribución de actividades por áreas.</a:t>
                      </a:r>
                      <a:endParaRPr lang="es-MX" sz="1400" dirty="0"/>
                    </a:p>
                  </a:txBody>
                  <a:tcPr anchor="ctr"/>
                </a:tc>
                <a:extLst>
                  <a:ext uri="{0D108BD9-81ED-4DB2-BD59-A6C34878D82A}">
                    <a16:rowId xmlns:a16="http://schemas.microsoft.com/office/drawing/2014/main" val="2647151777"/>
                  </a:ext>
                </a:extLst>
              </a:tr>
              <a:tr h="370840">
                <a:tc>
                  <a:txBody>
                    <a:bodyPr/>
                    <a:lstStyle/>
                    <a:p>
                      <a:pPr algn="ctr"/>
                      <a:r>
                        <a:rPr lang="es-MX" sz="1400" dirty="0" smtClean="0"/>
                        <a:t>Automatización</a:t>
                      </a:r>
                      <a:endParaRPr lang="es-MX" sz="1400" dirty="0"/>
                    </a:p>
                  </a:txBody>
                  <a:tcPr anchor="ctr">
                    <a:solidFill>
                      <a:srgbClr val="00B0F0"/>
                    </a:solidFill>
                  </a:tcPr>
                </a:tc>
                <a:tc>
                  <a:txBody>
                    <a:bodyPr/>
                    <a:lstStyle/>
                    <a:p>
                      <a:pPr algn="ctr"/>
                      <a:r>
                        <a:rPr lang="es-MX" sz="1400" dirty="0" smtClean="0"/>
                        <a:t>Sí</a:t>
                      </a:r>
                      <a:endParaRPr lang="es-MX" sz="1400" dirty="0"/>
                    </a:p>
                  </a:txBody>
                  <a:tcPr anchor="ctr"/>
                </a:tc>
                <a:tc>
                  <a:txBody>
                    <a:bodyPr/>
                    <a:lstStyle/>
                    <a:p>
                      <a:pPr algn="ctr"/>
                      <a:r>
                        <a:rPr lang="es-MX" sz="1400" dirty="0" smtClean="0"/>
                        <a:t>Sí</a:t>
                      </a:r>
                      <a:endParaRPr lang="es-MX" sz="1400" dirty="0"/>
                    </a:p>
                  </a:txBody>
                  <a:tcPr anchor="ctr"/>
                </a:tc>
                <a:tc>
                  <a:txBody>
                    <a:bodyPr/>
                    <a:lstStyle/>
                    <a:p>
                      <a:pPr algn="ctr"/>
                      <a:r>
                        <a:rPr lang="es-MX" sz="1400" dirty="0" smtClean="0"/>
                        <a:t>Sí</a:t>
                      </a:r>
                      <a:endParaRPr lang="es-MX" sz="1400" dirty="0"/>
                    </a:p>
                  </a:txBody>
                  <a:tcPr anchor="ctr"/>
                </a:tc>
                <a:extLst>
                  <a:ext uri="{0D108BD9-81ED-4DB2-BD59-A6C34878D82A}">
                    <a16:rowId xmlns:a16="http://schemas.microsoft.com/office/drawing/2014/main" val="2817297618"/>
                  </a:ext>
                </a:extLst>
              </a:tr>
              <a:tr h="370840">
                <a:tc>
                  <a:txBody>
                    <a:bodyPr/>
                    <a:lstStyle/>
                    <a:p>
                      <a:pPr algn="ctr"/>
                      <a:r>
                        <a:rPr lang="es-MX" sz="1400" dirty="0" smtClean="0"/>
                        <a:t>Nivel de detalle del diagrama realizado</a:t>
                      </a:r>
                      <a:endParaRPr lang="es-MX" sz="1400" dirty="0"/>
                    </a:p>
                  </a:txBody>
                  <a:tcPr anchor="ctr">
                    <a:solidFill>
                      <a:srgbClr val="00B0F0"/>
                    </a:solidFill>
                  </a:tcPr>
                </a:tc>
                <a:tc>
                  <a:txBody>
                    <a:bodyPr/>
                    <a:lstStyle/>
                    <a:p>
                      <a:pPr algn="ctr"/>
                      <a:r>
                        <a:rPr lang="es-MX" sz="1400" dirty="0" smtClean="0"/>
                        <a:t>Básico</a:t>
                      </a:r>
                      <a:endParaRPr lang="es-MX" sz="1400" dirty="0"/>
                    </a:p>
                  </a:txBody>
                  <a:tcPr anchor="ctr"/>
                </a:tc>
                <a:tc>
                  <a:txBody>
                    <a:bodyPr/>
                    <a:lstStyle/>
                    <a:p>
                      <a:pPr algn="ctr"/>
                      <a:r>
                        <a:rPr lang="es-MX" sz="1400" dirty="0" smtClean="0"/>
                        <a:t>Alto</a:t>
                      </a:r>
                      <a:endParaRPr lang="es-MX" sz="1400" dirty="0"/>
                    </a:p>
                  </a:txBody>
                  <a:tcPr anchor="ctr"/>
                </a:tc>
                <a:tc>
                  <a:txBody>
                    <a:bodyPr/>
                    <a:lstStyle/>
                    <a:p>
                      <a:pPr algn="ctr"/>
                      <a:r>
                        <a:rPr lang="es-MX" sz="1400" dirty="0" smtClean="0"/>
                        <a:t>Medio</a:t>
                      </a:r>
                      <a:endParaRPr lang="es-MX" sz="1400" dirty="0"/>
                    </a:p>
                  </a:txBody>
                  <a:tcPr anchor="ctr"/>
                </a:tc>
                <a:extLst>
                  <a:ext uri="{0D108BD9-81ED-4DB2-BD59-A6C34878D82A}">
                    <a16:rowId xmlns:a16="http://schemas.microsoft.com/office/drawing/2014/main" val="838122870"/>
                  </a:ext>
                </a:extLst>
              </a:tr>
              <a:tr h="370840">
                <a:tc>
                  <a:txBody>
                    <a:bodyPr/>
                    <a:lstStyle/>
                    <a:p>
                      <a:pPr algn="ctr"/>
                      <a:r>
                        <a:rPr lang="es-MX" sz="1400" dirty="0" smtClean="0"/>
                        <a:t>Característica que más destaca</a:t>
                      </a:r>
                      <a:endParaRPr lang="es-MX" sz="1400" dirty="0"/>
                    </a:p>
                  </a:txBody>
                  <a:tcPr anchor="ctr">
                    <a:solidFill>
                      <a:srgbClr val="00B0F0"/>
                    </a:solidFill>
                  </a:tcPr>
                </a:tc>
                <a:tc>
                  <a:txBody>
                    <a:bodyPr/>
                    <a:lstStyle/>
                    <a:p>
                      <a:pPr algn="ctr"/>
                      <a:r>
                        <a:rPr lang="es-MX" sz="1400" dirty="0" smtClean="0"/>
                        <a:t>Simplicidad del flujo y automatización.</a:t>
                      </a:r>
                      <a:endParaRPr lang="es-MX" sz="1400" dirty="0"/>
                    </a:p>
                  </a:txBody>
                  <a:tcPr anchor="ctr"/>
                </a:tc>
                <a:tc>
                  <a:txBody>
                    <a:bodyPr/>
                    <a:lstStyle/>
                    <a:p>
                      <a:pPr algn="ctr"/>
                      <a:r>
                        <a:rPr lang="es-MX" sz="1400" dirty="0" smtClean="0"/>
                        <a:t>Información adicional, tiempos, porcentajes y organización.</a:t>
                      </a:r>
                      <a:endParaRPr lang="es-MX" sz="1400" dirty="0"/>
                    </a:p>
                  </a:txBody>
                  <a:tcPr anchor="ctr"/>
                </a:tc>
                <a:tc>
                  <a:txBody>
                    <a:bodyPr/>
                    <a:lstStyle/>
                    <a:p>
                      <a:pPr algn="ctr"/>
                      <a:r>
                        <a:rPr lang="es-MX" sz="1400" dirty="0" smtClean="0"/>
                        <a:t>Distribución del proceso entre diferentes áreas.</a:t>
                      </a:r>
                      <a:endParaRPr lang="es-MX" sz="1400" dirty="0"/>
                    </a:p>
                  </a:txBody>
                  <a:tcPr anchor="ctr"/>
                </a:tc>
                <a:extLst>
                  <a:ext uri="{0D108BD9-81ED-4DB2-BD59-A6C34878D82A}">
                    <a16:rowId xmlns:a16="http://schemas.microsoft.com/office/drawing/2014/main" val="4217759096"/>
                  </a:ext>
                </a:extLst>
              </a:tr>
              <a:tr h="370840">
                <a:tc>
                  <a:txBody>
                    <a:bodyPr/>
                    <a:lstStyle/>
                    <a:p>
                      <a:pPr algn="ctr"/>
                      <a:r>
                        <a:rPr lang="es-MX" sz="1400" dirty="0" smtClean="0"/>
                        <a:t>Nivel de detalle observado</a:t>
                      </a:r>
                      <a:endParaRPr lang="es-MX" sz="1400" dirty="0"/>
                    </a:p>
                  </a:txBody>
                  <a:tcPr anchor="ctr">
                    <a:solidFill>
                      <a:srgbClr val="00B0F0"/>
                    </a:solidFill>
                  </a:tcPr>
                </a:tc>
                <a:tc>
                  <a:txBody>
                    <a:bodyPr/>
                    <a:lstStyle/>
                    <a:p>
                      <a:pPr algn="ctr"/>
                      <a:r>
                        <a:rPr lang="es-MX" sz="1400" dirty="0" smtClean="0"/>
                        <a:t>El diagrama es más simple y se concentra en la secuencia principal del proceso.</a:t>
                      </a:r>
                      <a:endParaRPr lang="es-MX" sz="1400" dirty="0"/>
                    </a:p>
                  </a:txBody>
                  <a:tcPr anchor="ctr"/>
                </a:tc>
                <a:tc>
                  <a:txBody>
                    <a:bodyPr/>
                    <a:lstStyle/>
                    <a:p>
                      <a:pPr algn="ctr"/>
                      <a:r>
                        <a:rPr lang="es-MX" sz="1400" dirty="0" smtClean="0"/>
                        <a:t>Presenta mayor información dentro de las actividades, principalmente tiempos y porcentajes.</a:t>
                      </a:r>
                      <a:endParaRPr lang="es-MX" sz="1400" dirty="0"/>
                    </a:p>
                  </a:txBody>
                  <a:tcPr anchor="ctr"/>
                </a:tc>
                <a:tc>
                  <a:txBody>
                    <a:bodyPr/>
                    <a:lstStyle/>
                    <a:p>
                      <a:pPr algn="ctr"/>
                      <a:r>
                        <a:rPr lang="es-MX" sz="1400" dirty="0" smtClean="0"/>
                        <a:t>Presenta mayor énfasis en la distribución de las actividades entre diferentes áreas.</a:t>
                      </a:r>
                      <a:endParaRPr lang="es-MX" sz="1400" dirty="0"/>
                    </a:p>
                  </a:txBody>
                  <a:tcPr anchor="ctr"/>
                </a:tc>
                <a:extLst>
                  <a:ext uri="{0D108BD9-81ED-4DB2-BD59-A6C34878D82A}">
                    <a16:rowId xmlns:a16="http://schemas.microsoft.com/office/drawing/2014/main" val="1096648500"/>
                  </a:ext>
                </a:extLst>
              </a:tr>
            </a:tbl>
          </a:graphicData>
        </a:graphic>
      </p:graphicFrame>
      <p:sp>
        <p:nvSpPr>
          <p:cNvPr id="3" name="CuadroTexto 2"/>
          <p:cNvSpPr txBox="1"/>
          <p:nvPr/>
        </p:nvSpPr>
        <p:spPr>
          <a:xfrm>
            <a:off x="2391507" y="254977"/>
            <a:ext cx="7702063" cy="369332"/>
          </a:xfrm>
          <a:prstGeom prst="rect">
            <a:avLst/>
          </a:prstGeom>
          <a:noFill/>
        </p:spPr>
        <p:txBody>
          <a:bodyPr wrap="square" rtlCol="0">
            <a:spAutoFit/>
          </a:bodyPr>
          <a:lstStyle/>
          <a:p>
            <a:r>
              <a:rPr lang="es-MX" b="1" dirty="0" smtClean="0"/>
              <a:t>CUADRO COMPARATIVO DE LOS PROGRAMAS CAMUNDA, BIZAGUI Y BONITA</a:t>
            </a:r>
            <a:endParaRPr lang="es-MX" b="1" dirty="0"/>
          </a:p>
        </p:txBody>
      </p:sp>
    </p:spTree>
    <p:extLst>
      <p:ext uri="{BB962C8B-B14F-4D97-AF65-F5344CB8AC3E}">
        <p14:creationId xmlns:p14="http://schemas.microsoft.com/office/powerpoint/2010/main" val="35026369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298939"/>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RECOMENDACIONES Y PROPUESTAS DE MEJORA</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354330" y="822159"/>
            <a:ext cx="11750040" cy="5442516"/>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A partir del desarrollo del proyecto y de la información obtenida durante las diferentes etapas de modelado, simulación y ejecución, se pueden establecer diversas propuestas orientadas a mejorar el funcionamiento del proceso</a:t>
            </a:r>
            <a:r>
              <a:rPr lang="es-MX" dirty="0" smtClean="0">
                <a:latin typeface="Arial" panose="020B0604020202020204" pitchFamily="34" charset="0"/>
                <a:cs typeface="Arial" panose="020B0604020202020204" pitchFamily="34" charset="0"/>
              </a:rPr>
              <a:t>. En </a:t>
            </a:r>
            <a:r>
              <a:rPr lang="es-MX" dirty="0">
                <a:latin typeface="Arial" panose="020B0604020202020204" pitchFamily="34" charset="0"/>
                <a:cs typeface="Arial" panose="020B0604020202020204" pitchFamily="34" charset="0"/>
              </a:rPr>
              <a:t>primer lugar, se recomienda mantener una distribución adecuada de los recursos disponibles. La asignación de actividades debe considerar la carga de trabajo de cada área para evitar acumulaciones innecesarias y reducir los tiempos de espera</a:t>
            </a:r>
            <a:r>
              <a:rPr lang="es-MX" dirty="0" smtClean="0">
                <a:latin typeface="Arial" panose="020B0604020202020204" pitchFamily="34" charset="0"/>
                <a:cs typeface="Arial" panose="020B0604020202020204" pitchFamily="34" charset="0"/>
              </a:rPr>
              <a:t>. También </a:t>
            </a:r>
            <a:r>
              <a:rPr lang="es-MX" dirty="0">
                <a:latin typeface="Arial" panose="020B0604020202020204" pitchFamily="34" charset="0"/>
                <a:cs typeface="Arial" panose="020B0604020202020204" pitchFamily="34" charset="0"/>
              </a:rPr>
              <a:t>es recomendable fortalecer las actividades de diagnóstico y control de calidad. Una identificación adecuada de las fallas desde las primeras etapas puede contribuir a disminuir la cantidad de dispositivos que requieren </a:t>
            </a:r>
            <a:r>
              <a:rPr lang="es-MX" dirty="0" err="1">
                <a:latin typeface="Arial" panose="020B0604020202020204" pitchFamily="34" charset="0"/>
                <a:cs typeface="Arial" panose="020B0604020202020204" pitchFamily="34" charset="0"/>
              </a:rPr>
              <a:t>retrabajo</a:t>
            </a:r>
            <a:r>
              <a:rPr lang="es-MX" dirty="0" smtClean="0">
                <a:latin typeface="Arial" panose="020B0604020202020204" pitchFamily="34" charset="0"/>
                <a:cs typeface="Arial" panose="020B0604020202020204" pitchFamily="34" charset="0"/>
              </a:rPr>
              <a:t>. Otra </a:t>
            </a:r>
            <a:r>
              <a:rPr lang="es-MX" dirty="0">
                <a:latin typeface="Arial" panose="020B0604020202020204" pitchFamily="34" charset="0"/>
                <a:cs typeface="Arial" panose="020B0604020202020204" pitchFamily="34" charset="0"/>
              </a:rPr>
              <a:t>propuesta consiste en mantener un seguimiento continuo de las instancias del proceso. La automatización mediante Bonita permite conocer qué tareas se encuentran pendientes, cuáles están en ejecución y cuáles ya fueron completadas. Esta información puede utilizarse para detectar retrasos de manera </a:t>
            </a:r>
            <a:r>
              <a:rPr lang="es-MX" dirty="0" smtClean="0">
                <a:latin typeface="Arial" panose="020B0604020202020204" pitchFamily="34" charset="0"/>
                <a:cs typeface="Arial" panose="020B0604020202020204" pitchFamily="34" charset="0"/>
              </a:rPr>
              <a:t>oportuna. A </a:t>
            </a:r>
            <a:r>
              <a:rPr lang="es-MX" dirty="0" err="1" smtClean="0">
                <a:latin typeface="Arial" panose="020B0604020202020204" pitchFamily="34" charset="0"/>
                <a:cs typeface="Arial" panose="020B0604020202020204" pitchFamily="34" charset="0"/>
              </a:rPr>
              <a:t>simismo</a:t>
            </a:r>
            <a:r>
              <a:rPr lang="es-MX" dirty="0">
                <a:latin typeface="Arial" panose="020B0604020202020204" pitchFamily="34" charset="0"/>
                <a:cs typeface="Arial" panose="020B0604020202020204" pitchFamily="34" charset="0"/>
              </a:rPr>
              <a:t>, se recomienda utilizar los resultados obtenidos mediante </a:t>
            </a:r>
            <a:r>
              <a:rPr lang="es-MX" dirty="0" err="1">
                <a:latin typeface="Arial" panose="020B0604020202020204" pitchFamily="34" charset="0"/>
                <a:cs typeface="Arial" panose="020B0604020202020204" pitchFamily="34" charset="0"/>
              </a:rPr>
              <a:t>Bizagi</a:t>
            </a:r>
            <a:r>
              <a:rPr lang="es-MX" dirty="0">
                <a:latin typeface="Arial" panose="020B0604020202020204" pitchFamily="34" charset="0"/>
                <a:cs typeface="Arial" panose="020B0604020202020204" pitchFamily="34" charset="0"/>
              </a:rPr>
              <a:t> como referencia para analizar diferentes escenarios antes de realizar modificaciones directamente en un entorno real. De esta forma, es posible evaluar previamente los posibles efectos de un cambio en los tiempos, recursos o distribución </a:t>
            </a:r>
            <a:r>
              <a:rPr lang="es-MX" dirty="0" smtClean="0">
                <a:latin typeface="Arial" panose="020B0604020202020204" pitchFamily="34" charset="0"/>
                <a:cs typeface="Arial" panose="020B0604020202020204" pitchFamily="34" charset="0"/>
              </a:rPr>
              <a:t>de actividades.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887634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298939"/>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CONCLUSIÓN</a:t>
            </a:r>
          </a:p>
        </p:txBody>
      </p:sp>
      <p:sp>
        <p:nvSpPr>
          <p:cNvPr id="3" name="CuadroTexto 2"/>
          <p:cNvSpPr txBox="1"/>
          <p:nvPr/>
        </p:nvSpPr>
        <p:spPr>
          <a:xfrm>
            <a:off x="1391132" y="839743"/>
            <a:ext cx="9676436" cy="3831818"/>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El desarrollo de este proyecto integrador ha permitido consolidar de manera exitosa la transición entre el análisis analítico y la implementación tecnológica de un proceso. A través de la simulación en </a:t>
            </a:r>
            <a:r>
              <a:rPr lang="es-MX" dirty="0" err="1" smtClean="0">
                <a:latin typeface="Arial" panose="020B0604020202020204" pitchFamily="34" charset="0"/>
                <a:cs typeface="Arial" panose="020B0604020202020204" pitchFamily="34" charset="0"/>
              </a:rPr>
              <a:t>Bizagi</a:t>
            </a:r>
            <a:r>
              <a:rPr lang="es-MX" dirty="0" smtClean="0">
                <a:latin typeface="Arial" panose="020B0604020202020204" pitchFamily="34" charset="0"/>
                <a:cs typeface="Arial" panose="020B0604020202020204" pitchFamily="34" charset="0"/>
              </a:rPr>
              <a:t> </a:t>
            </a:r>
            <a:r>
              <a:rPr lang="es-MX" dirty="0" err="1" smtClean="0">
                <a:latin typeface="Arial" panose="020B0604020202020204" pitchFamily="34" charset="0"/>
                <a:cs typeface="Arial" panose="020B0604020202020204" pitchFamily="34" charset="0"/>
              </a:rPr>
              <a:t>Modeler</a:t>
            </a:r>
            <a:r>
              <a:rPr lang="es-MX" dirty="0" smtClean="0">
                <a:latin typeface="Arial" panose="020B0604020202020204" pitchFamily="34" charset="0"/>
                <a:cs typeface="Arial" panose="020B0604020202020204" pitchFamily="34" charset="0"/>
              </a:rPr>
              <a:t>, se identificaron las limitaciones operativas y los niveles críticos de saturación en los recursos técnicos, sentando las bases para un rediseño eficiente. Posteriormente, la recreación del modelo en Bonita Studio integrando carriles organizativos, compuertas exclusivas de validación y la gestión de casos en la interfaz de usuario demostró la viabilidad de automatizar flujos complejos de trabajo y </a:t>
            </a:r>
            <a:r>
              <a:rPr lang="es-MX" dirty="0" err="1" smtClean="0">
                <a:latin typeface="Arial" panose="020B0604020202020204" pitchFamily="34" charset="0"/>
                <a:cs typeface="Arial" panose="020B0604020202020204" pitchFamily="34" charset="0"/>
              </a:rPr>
              <a:t>camunda</a:t>
            </a:r>
            <a:r>
              <a:rPr lang="es-MX" dirty="0" smtClean="0">
                <a:latin typeface="Arial" panose="020B0604020202020204" pitchFamily="34" charset="0"/>
                <a:cs typeface="Arial" panose="020B0604020202020204" pitchFamily="34" charset="0"/>
              </a:rPr>
              <a:t> demostrando sencillez y eficiencia, cumpliendo con los estándares de calidad y eficiencia requeridos en la gestión moderna de procesos empresariales.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328159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940777" y="325316"/>
            <a:ext cx="10700238" cy="523220"/>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FUENTES DE CONSULTA</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391132" y="839743"/>
            <a:ext cx="9676436" cy="5078313"/>
          </a:xfrm>
          <a:prstGeom prst="rect">
            <a:avLst/>
          </a:prstGeom>
          <a:noFill/>
        </p:spPr>
        <p:txBody>
          <a:bodyPr wrap="square" rtlCol="0">
            <a:spAutoFit/>
          </a:bodyPr>
          <a:lstStyle/>
          <a:p>
            <a:pPr algn="just">
              <a:lnSpc>
                <a:spcPct val="150000"/>
              </a:lnSpc>
            </a:pPr>
            <a:r>
              <a:rPr lang="es-MX" b="1" dirty="0" err="1"/>
              <a:t>Bizagi</a:t>
            </a:r>
            <a:r>
              <a:rPr lang="es-MX" b="1" dirty="0"/>
              <a:t> </a:t>
            </a:r>
            <a:r>
              <a:rPr lang="es-MX" b="1" dirty="0" err="1"/>
              <a:t>Modeler</a:t>
            </a:r>
            <a:r>
              <a:rPr lang="es-MX" dirty="0"/>
              <a:t>. </a:t>
            </a:r>
            <a:r>
              <a:rPr lang="es-MX" i="1" dirty="0"/>
              <a:t>Introducción a </a:t>
            </a:r>
            <a:r>
              <a:rPr lang="es-MX" i="1" dirty="0" err="1"/>
              <a:t>Bizagi</a:t>
            </a:r>
            <a:r>
              <a:rPr lang="es-MX" i="1" dirty="0"/>
              <a:t> </a:t>
            </a:r>
            <a:r>
              <a:rPr lang="es-MX" i="1" dirty="0" err="1"/>
              <a:t>Modeler</a:t>
            </a:r>
            <a:r>
              <a:rPr lang="es-MX" i="1" dirty="0"/>
              <a:t> y Guía de Simulación</a:t>
            </a:r>
            <a:r>
              <a:rPr lang="es-MX" dirty="0"/>
              <a:t>. Documentación oficial en español sobre el modelamiento de procesos de negocio bajo el estándar BPMN, el uso de piscinas y carriles (</a:t>
            </a:r>
            <a:r>
              <a:rPr lang="es-MX" i="1" dirty="0"/>
              <a:t>pools</a:t>
            </a:r>
            <a:r>
              <a:rPr lang="es-MX" dirty="0"/>
              <a:t> y </a:t>
            </a:r>
            <a:r>
              <a:rPr lang="es-MX" i="1" dirty="0" err="1"/>
              <a:t>lanes</a:t>
            </a:r>
            <a:r>
              <a:rPr lang="es-MX" dirty="0"/>
              <a:t>), y la evaluación cuantitativa de escenarios operativos a través de la simulación de tiempos y recursos. Disponible en la </a:t>
            </a:r>
            <a:r>
              <a:rPr lang="es-MX" dirty="0">
                <a:hlinkClick r:id="rId2"/>
              </a:rPr>
              <a:t>Guía de introducción y bienvenida de </a:t>
            </a:r>
            <a:r>
              <a:rPr lang="es-MX" dirty="0" err="1">
                <a:hlinkClick r:id="rId2"/>
              </a:rPr>
              <a:t>Bizagi</a:t>
            </a:r>
            <a:r>
              <a:rPr lang="es-MX" dirty="0">
                <a:hlinkClick r:id="rId2"/>
              </a:rPr>
              <a:t> </a:t>
            </a:r>
            <a:r>
              <a:rPr lang="es-MX" dirty="0" err="1">
                <a:hlinkClick r:id="rId2"/>
              </a:rPr>
              <a:t>Modeler</a:t>
            </a:r>
            <a:r>
              <a:rPr lang="es-MX" dirty="0"/>
              <a:t> y su sección de </a:t>
            </a:r>
            <a:r>
              <a:rPr lang="es-MX" dirty="0">
                <a:hlinkClick r:id="rId3"/>
              </a:rPr>
              <a:t>Simulación en </a:t>
            </a:r>
            <a:r>
              <a:rPr lang="es-MX" dirty="0" err="1">
                <a:hlinkClick r:id="rId3"/>
              </a:rPr>
              <a:t>Bizagi</a:t>
            </a:r>
            <a:r>
              <a:rPr lang="es-MX" dirty="0" smtClean="0"/>
              <a:t>.</a:t>
            </a:r>
          </a:p>
          <a:p>
            <a:pPr algn="just">
              <a:lnSpc>
                <a:spcPct val="150000"/>
              </a:lnSpc>
            </a:pPr>
            <a:endParaRPr lang="es-MX" dirty="0">
              <a:latin typeface="Arial" panose="020B0604020202020204" pitchFamily="34" charset="0"/>
              <a:cs typeface="Arial" panose="020B0604020202020204" pitchFamily="34" charset="0"/>
            </a:endParaRPr>
          </a:p>
          <a:p>
            <a:pPr algn="just">
              <a:lnSpc>
                <a:spcPct val="150000"/>
              </a:lnSpc>
            </a:pPr>
            <a:r>
              <a:rPr lang="es-MX" b="1" dirty="0"/>
              <a:t>Manual de </a:t>
            </a:r>
            <a:r>
              <a:rPr lang="es-MX" b="1" dirty="0" err="1"/>
              <a:t>Bizagi</a:t>
            </a:r>
            <a:r>
              <a:rPr lang="es-MX" b="1" dirty="0"/>
              <a:t> </a:t>
            </a:r>
            <a:r>
              <a:rPr lang="es-MX" b="1" dirty="0" err="1"/>
              <a:t>Process</a:t>
            </a:r>
            <a:r>
              <a:rPr lang="es-MX" b="1" dirty="0"/>
              <a:t> </a:t>
            </a:r>
            <a:r>
              <a:rPr lang="es-MX" b="1" dirty="0" err="1"/>
              <a:t>Modeler</a:t>
            </a:r>
            <a:r>
              <a:rPr lang="es-MX" b="1" dirty="0"/>
              <a:t> (Gobierno y Gestión Pública)</a:t>
            </a:r>
            <a:r>
              <a:rPr lang="es-MX" dirty="0"/>
              <a:t>. Guía académica y metodológica en español enfocada en la representación gráfica de actividades, modelado de datos, configuración de flujos y el uso de la interfaz orientada a la eficiencia operativa. Puede consultarse en el </a:t>
            </a:r>
            <a:r>
              <a:rPr lang="es-MX" dirty="0">
                <a:hlinkClick r:id="rId4"/>
              </a:rPr>
              <a:t>Manual de </a:t>
            </a:r>
            <a:r>
              <a:rPr lang="es-MX" dirty="0" err="1">
                <a:hlinkClick r:id="rId4"/>
              </a:rPr>
              <a:t>Bizagi</a:t>
            </a:r>
            <a:r>
              <a:rPr lang="es-MX" dirty="0">
                <a:hlinkClick r:id="rId4"/>
              </a:rPr>
              <a:t> </a:t>
            </a:r>
            <a:r>
              <a:rPr lang="es-MX" dirty="0" err="1">
                <a:hlinkClick r:id="rId4"/>
              </a:rPr>
              <a:t>Process</a:t>
            </a:r>
            <a:r>
              <a:rPr lang="es-MX" dirty="0">
                <a:hlinkClick r:id="rId4"/>
              </a:rPr>
              <a:t> </a:t>
            </a:r>
            <a:r>
              <a:rPr lang="es-MX" dirty="0" err="1">
                <a:hlinkClick r:id="rId4"/>
              </a:rPr>
              <a:t>Modeler</a:t>
            </a:r>
            <a:r>
              <a:rPr lang="es-MX" dirty="0">
                <a:hlinkClick r:id="rId4"/>
              </a:rPr>
              <a:t> en PDF</a:t>
            </a:r>
            <a:r>
              <a:rPr lang="es-MX" dirty="0" smtClean="0"/>
              <a:t>.</a:t>
            </a:r>
          </a:p>
          <a:p>
            <a:pPr algn="just">
              <a:lnSpc>
                <a:spcPct val="150000"/>
              </a:lnSpc>
            </a:pPr>
            <a:endParaRPr lang="es-MX" dirty="0">
              <a:latin typeface="Arial" panose="020B0604020202020204" pitchFamily="34" charset="0"/>
              <a:cs typeface="Arial" panose="020B0604020202020204" pitchFamily="34" charset="0"/>
            </a:endParaRPr>
          </a:p>
          <a:p>
            <a:pPr algn="just">
              <a:lnSpc>
                <a:spcPct val="150000"/>
              </a:lnSpc>
            </a:pPr>
            <a:r>
              <a:rPr lang="es-MX" b="1" dirty="0"/>
              <a:t>Bonita </a:t>
            </a:r>
            <a:r>
              <a:rPr lang="es-MX" b="1" dirty="0" err="1"/>
              <a:t>Soft</a:t>
            </a:r>
            <a:r>
              <a:rPr lang="es-MX" b="1" dirty="0"/>
              <a:t> &amp; Bonita BPM</a:t>
            </a:r>
            <a:r>
              <a:rPr lang="es-MX" dirty="0"/>
              <a:t>. </a:t>
            </a:r>
            <a:r>
              <a:rPr lang="es-MX" dirty="0" smtClean="0">
                <a:hlinkClick r:id="rId5"/>
              </a:rPr>
              <a:t>Bonita </a:t>
            </a:r>
            <a:r>
              <a:rPr lang="es-MX" dirty="0" err="1">
                <a:hlinkClick r:id="rId5"/>
              </a:rPr>
              <a:t>Soft</a:t>
            </a:r>
            <a:r>
              <a:rPr lang="es-MX" dirty="0">
                <a:hlinkClick r:id="rId5"/>
              </a:rPr>
              <a:t> en </a:t>
            </a:r>
            <a:r>
              <a:rPr lang="es-MX" dirty="0" err="1">
                <a:hlinkClick r:id="rId5"/>
              </a:rPr>
              <a:t>Scribd</a:t>
            </a:r>
            <a:r>
              <a:rPr lang="es-MX" dirty="0"/>
              <a:t>.</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99464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50968" y="246631"/>
            <a:ext cx="10981592" cy="954107"/>
          </a:xfrm>
          <a:prstGeom prst="rect">
            <a:avLst/>
          </a:prstGeom>
          <a:noFill/>
        </p:spPr>
        <p:txBody>
          <a:bodyPr wrap="square" rtlCol="0">
            <a:spAutoFit/>
          </a:bodyPr>
          <a:lstStyle/>
          <a:p>
            <a:pPr algn="ctr"/>
            <a:r>
              <a:rPr lang="es-MX" sz="2800" b="1" dirty="0" smtClean="0">
                <a:latin typeface="Arial" panose="020B0604020202020204" pitchFamily="34" charset="0"/>
                <a:cs typeface="Arial" panose="020B0604020202020204" pitchFamily="34" charset="0"/>
              </a:rPr>
              <a:t>ANEXOS</a:t>
            </a:r>
          </a:p>
          <a:p>
            <a:pPr algn="ctr"/>
            <a:r>
              <a:rPr lang="es-MX" sz="2800" b="1" dirty="0" smtClean="0">
                <a:latin typeface="Arial" panose="020B0604020202020204" pitchFamily="34" charset="0"/>
                <a:cs typeface="Arial" panose="020B0604020202020204" pitchFamily="34" charset="0"/>
              </a:rPr>
              <a:t>ENLACE DE GITHUB</a:t>
            </a:r>
            <a:endParaRPr lang="es-MX" sz="2800" b="1" dirty="0">
              <a:latin typeface="Arial" panose="020B0604020202020204" pitchFamily="34" charset="0"/>
              <a:cs typeface="Arial" panose="020B0604020202020204" pitchFamily="34" charset="0"/>
            </a:endParaRPr>
          </a:p>
        </p:txBody>
      </p:sp>
      <p:sp>
        <p:nvSpPr>
          <p:cNvPr id="3" name="CuadroTexto 2"/>
          <p:cNvSpPr txBox="1"/>
          <p:nvPr/>
        </p:nvSpPr>
        <p:spPr>
          <a:xfrm>
            <a:off x="1415562" y="1310053"/>
            <a:ext cx="9469315" cy="1754326"/>
          </a:xfrm>
          <a:prstGeom prst="rect">
            <a:avLst/>
          </a:prstGeom>
          <a:noFill/>
        </p:spPr>
        <p:txBody>
          <a:bodyPr wrap="square" rtlCol="0">
            <a:spAutoFit/>
          </a:bodyPr>
          <a:lstStyle/>
          <a:p>
            <a:pPr algn="just"/>
            <a:r>
              <a:rPr lang="es-MX" dirty="0" smtClean="0"/>
              <a:t>En el siguiente link de </a:t>
            </a:r>
            <a:r>
              <a:rPr lang="es-MX" dirty="0" err="1" smtClean="0"/>
              <a:t>Github</a:t>
            </a:r>
            <a:r>
              <a:rPr lang="es-MX" dirty="0" smtClean="0"/>
              <a:t> se subieron al repositorio los documentos generados por el proyecto, se encuentra organizado de la siguiente manera: carpeta principal </a:t>
            </a:r>
            <a:r>
              <a:rPr lang="es-MX" dirty="0" smtClean="0"/>
              <a:t>llamada Tema – 5 dentro de esta carpeta se encuentra </a:t>
            </a:r>
            <a:r>
              <a:rPr lang="es-MX" dirty="0"/>
              <a:t>la actividad </a:t>
            </a:r>
            <a:r>
              <a:rPr lang="es-MX" dirty="0" err="1"/>
              <a:t>Actividad</a:t>
            </a:r>
            <a:r>
              <a:rPr lang="es-MX" dirty="0"/>
              <a:t> 5.1 Proyecto </a:t>
            </a:r>
            <a:r>
              <a:rPr lang="es-MX" dirty="0" smtClean="0"/>
              <a:t>integrador_RobertoCahuare_SIM_5ISCM y la carpeta </a:t>
            </a:r>
            <a:r>
              <a:rPr lang="es-MX" dirty="0" smtClean="0"/>
              <a:t>Proyecto </a:t>
            </a:r>
            <a:r>
              <a:rPr lang="es-MX" dirty="0" smtClean="0"/>
              <a:t>integrador, </a:t>
            </a:r>
            <a:r>
              <a:rPr lang="es-MX" dirty="0" smtClean="0"/>
              <a:t>dentro de esa carpeta se encuentra otras carpetas con diagramas de flujo,  manual de usuario, manual técnico,  simulaciones, programa final, explicación de los métodos principales en r, Python y </a:t>
            </a:r>
            <a:r>
              <a:rPr lang="es-MX" dirty="0" err="1" smtClean="0"/>
              <a:t>javafx</a:t>
            </a:r>
            <a:r>
              <a:rPr lang="es-MX" dirty="0" smtClean="0"/>
              <a:t> y por ultimo se encuentra pruebas realizadas de las simulaciones.</a:t>
            </a:r>
            <a:endParaRPr lang="es-MX" dirty="0"/>
          </a:p>
        </p:txBody>
      </p:sp>
      <p:sp>
        <p:nvSpPr>
          <p:cNvPr id="4" name="CuadroTexto 3"/>
          <p:cNvSpPr txBox="1"/>
          <p:nvPr/>
        </p:nvSpPr>
        <p:spPr>
          <a:xfrm>
            <a:off x="1846384" y="3341077"/>
            <a:ext cx="8607669" cy="461665"/>
          </a:xfrm>
          <a:prstGeom prst="rect">
            <a:avLst/>
          </a:prstGeom>
          <a:noFill/>
        </p:spPr>
        <p:txBody>
          <a:bodyPr wrap="square" rtlCol="0">
            <a:spAutoFit/>
          </a:bodyPr>
          <a:lstStyle/>
          <a:p>
            <a:r>
              <a:rPr lang="es-MX" sz="2400" dirty="0"/>
              <a:t>https://github.com/morenorobertoc41-bit/Proyecto-integrador.git</a:t>
            </a:r>
          </a:p>
        </p:txBody>
      </p:sp>
    </p:spTree>
    <p:extLst>
      <p:ext uri="{BB962C8B-B14F-4D97-AF65-F5344CB8AC3E}">
        <p14:creationId xmlns:p14="http://schemas.microsoft.com/office/powerpoint/2010/main" val="568009034"/>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5914</Words>
  <Application>Microsoft Office PowerPoint</Application>
  <PresentationFormat>Panorámica</PresentationFormat>
  <Paragraphs>181</Paragraphs>
  <Slides>42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42</vt:i4>
      </vt:variant>
    </vt:vector>
  </HeadingPairs>
  <TitlesOfParts>
    <vt:vector size="48" baseType="lpstr">
      <vt:lpstr>Arial</vt:lpstr>
      <vt:lpstr>Calibri</vt:lpstr>
      <vt:lpstr>Calibri Light</vt:lpstr>
      <vt:lpstr>Open Sans</vt:lpstr>
      <vt:lpstr>Open Sans 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Roberto Cahuare</dc:creator>
  <cp:lastModifiedBy>Roberto Cahuare</cp:lastModifiedBy>
  <cp:revision>53</cp:revision>
  <dcterms:created xsi:type="dcterms:W3CDTF">2026-10-03T02:01:47Z</dcterms:created>
  <dcterms:modified xsi:type="dcterms:W3CDTF">2026-10-03T15:17:13Z</dcterms:modified>
</cp:coreProperties>
</file>