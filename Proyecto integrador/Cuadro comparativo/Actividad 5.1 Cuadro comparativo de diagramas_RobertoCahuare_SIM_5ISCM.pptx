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s-MX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7A6C2-3218-4CAB-9D4C-D2B685E58EB4}" type="datetimeFigureOut">
              <a:rPr lang="es-MX" smtClean="0"/>
              <a:t>03/10/2026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BE06-8A44-4EE1-B184-4DFBFBEE0C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65482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7A6C2-3218-4CAB-9D4C-D2B685E58EB4}" type="datetimeFigureOut">
              <a:rPr lang="es-MX" smtClean="0"/>
              <a:t>03/10/2026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BE06-8A44-4EE1-B184-4DFBFBEE0C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60888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7A6C2-3218-4CAB-9D4C-D2B685E58EB4}" type="datetimeFigureOut">
              <a:rPr lang="es-MX" smtClean="0"/>
              <a:t>03/10/2026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BE06-8A44-4EE1-B184-4DFBFBEE0C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68896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7A6C2-3218-4CAB-9D4C-D2B685E58EB4}" type="datetimeFigureOut">
              <a:rPr lang="es-MX" smtClean="0"/>
              <a:t>03/10/2026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BE06-8A44-4EE1-B184-4DFBFBEE0C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84810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7A6C2-3218-4CAB-9D4C-D2B685E58EB4}" type="datetimeFigureOut">
              <a:rPr lang="es-MX" smtClean="0"/>
              <a:t>03/10/2026</a:t>
            </a:fld>
            <a:endParaRPr lang="es-MX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BE06-8A44-4EE1-B184-4DFBFBEE0C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67859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7A6C2-3218-4CAB-9D4C-D2B685E58EB4}" type="datetimeFigureOut">
              <a:rPr lang="es-MX" smtClean="0"/>
              <a:t>03/10/2026</a:t>
            </a:fld>
            <a:endParaRPr lang="es-MX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BE06-8A44-4EE1-B184-4DFBFBEE0C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98483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7A6C2-3218-4CAB-9D4C-D2B685E58EB4}" type="datetimeFigureOut">
              <a:rPr lang="es-MX" smtClean="0"/>
              <a:t>03/10/2026</a:t>
            </a:fld>
            <a:endParaRPr lang="es-MX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BE06-8A44-4EE1-B184-4DFBFBEE0C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61137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7A6C2-3218-4CAB-9D4C-D2B685E58EB4}" type="datetimeFigureOut">
              <a:rPr lang="es-MX" smtClean="0"/>
              <a:t>03/10/2026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BE06-8A44-4EE1-B184-4DFBFBEE0C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92842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7A6C2-3218-4CAB-9D4C-D2B685E58EB4}" type="datetimeFigureOut">
              <a:rPr lang="es-MX" smtClean="0"/>
              <a:t>03/10/2026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BE06-8A44-4EE1-B184-4DFBFBEE0C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46816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7A6C2-3218-4CAB-9D4C-D2B685E58EB4}" type="datetimeFigureOut">
              <a:rPr lang="es-MX" smtClean="0"/>
              <a:t>03/10/2026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BE06-8A44-4EE1-B184-4DFBFBEE0C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88367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7A6C2-3218-4CAB-9D4C-D2B685E58EB4}" type="datetimeFigureOut">
              <a:rPr lang="es-MX" smtClean="0"/>
              <a:t>03/10/2026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BE06-8A44-4EE1-B184-4DFBFBEE0C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9750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D7A6C2-3218-4CAB-9D4C-D2B685E58EB4}" type="datetimeFigureOut">
              <a:rPr lang="es-MX" smtClean="0"/>
              <a:t>03/10/2026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0FBE06-8A44-4EE1-B184-4DFBFBEE0C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8363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7773915"/>
              </p:ext>
            </p:extLst>
          </p:nvPr>
        </p:nvGraphicFramePr>
        <p:xfrm>
          <a:off x="3025815" y="4355458"/>
          <a:ext cx="6407552" cy="621241"/>
        </p:xfrm>
        <a:graphic>
          <a:graphicData uri="http://schemas.openxmlformats.org/drawingml/2006/table">
            <a:tbl>
              <a:tblPr/>
              <a:tblGrid>
                <a:gridCol w="3203776">
                  <a:extLst>
                    <a:ext uri="{9D8B030D-6E8A-4147-A177-3AD203B41FA5}">
                      <a16:colId xmlns:a16="http://schemas.microsoft.com/office/drawing/2014/main" val="3868017447"/>
                    </a:ext>
                  </a:extLst>
                </a:gridCol>
                <a:gridCol w="3203776">
                  <a:extLst>
                    <a:ext uri="{9D8B030D-6E8A-4147-A177-3AD203B41FA5}">
                      <a16:colId xmlns:a16="http://schemas.microsoft.com/office/drawing/2014/main" val="590965609"/>
                    </a:ext>
                  </a:extLst>
                </a:gridCol>
              </a:tblGrid>
              <a:tr h="282067">
                <a:tc>
                  <a:txBody>
                    <a:bodyPr/>
                    <a:lstStyle/>
                    <a:p>
                      <a:r>
                        <a:rPr lang="es-MX" sz="1400" b="1">
                          <a:effectLst/>
                        </a:rPr>
                        <a:t>NOMBRE DEL ALUMNO</a:t>
                      </a:r>
                    </a:p>
                  </a:txBody>
                  <a:tcPr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 b="1" dirty="0">
                          <a:effectLst/>
                        </a:rPr>
                        <a:t>MATRICULA</a:t>
                      </a:r>
                    </a:p>
                  </a:txBody>
                  <a:tcPr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463554"/>
                  </a:ext>
                </a:extLst>
              </a:tr>
              <a:tr h="316441">
                <a:tc>
                  <a:txBody>
                    <a:bodyPr/>
                    <a:lstStyle/>
                    <a:p>
                      <a:r>
                        <a:rPr lang="es-MX" sz="1400" b="1" dirty="0">
                          <a:effectLst/>
                        </a:rPr>
                        <a:t>ROBERTO CARLOS CAHUARE MORENO</a:t>
                      </a:r>
                    </a:p>
                  </a:txBody>
                  <a:tcPr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 b="1" dirty="0">
                          <a:effectLst/>
                        </a:rPr>
                        <a:t>241260048</a:t>
                      </a:r>
                    </a:p>
                  </a:txBody>
                  <a:tcPr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367146"/>
                  </a:ext>
                </a:extLst>
              </a:tr>
            </a:tbl>
          </a:graphicData>
        </a:graphic>
      </p:graphicFrame>
      <p:sp>
        <p:nvSpPr>
          <p:cNvPr id="9" name="Freeform 3"/>
          <p:cNvSpPr/>
          <p:nvPr/>
        </p:nvSpPr>
        <p:spPr>
          <a:xfrm>
            <a:off x="993976" y="278001"/>
            <a:ext cx="2490004" cy="983241"/>
          </a:xfrm>
          <a:custGeom>
            <a:avLst/>
            <a:gdLst/>
            <a:ahLst/>
            <a:cxnLst/>
            <a:rect l="l" t="t" r="r" b="b"/>
            <a:pathLst>
              <a:path w="3657995" h="1617378">
                <a:moveTo>
                  <a:pt x="0" y="0"/>
                </a:moveTo>
                <a:lnTo>
                  <a:pt x="3657995" y="0"/>
                </a:lnTo>
                <a:lnTo>
                  <a:pt x="3657995" y="1617378"/>
                </a:lnTo>
                <a:lnTo>
                  <a:pt x="0" y="16173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0" name="Freeform 4"/>
          <p:cNvSpPr/>
          <p:nvPr/>
        </p:nvSpPr>
        <p:spPr>
          <a:xfrm>
            <a:off x="9433367" y="433955"/>
            <a:ext cx="1569954" cy="1186503"/>
          </a:xfrm>
          <a:custGeom>
            <a:avLst/>
            <a:gdLst/>
            <a:ahLst/>
            <a:cxnLst/>
            <a:rect l="l" t="t" r="r" b="b"/>
            <a:pathLst>
              <a:path w="2777579" h="2263213">
                <a:moveTo>
                  <a:pt x="0" y="0"/>
                </a:moveTo>
                <a:lnTo>
                  <a:pt x="2777579" y="0"/>
                </a:lnTo>
                <a:lnTo>
                  <a:pt x="2777579" y="2263212"/>
                </a:lnTo>
                <a:lnTo>
                  <a:pt x="0" y="22632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1" name="TextBox 2"/>
          <p:cNvSpPr txBox="1"/>
          <p:nvPr/>
        </p:nvSpPr>
        <p:spPr>
          <a:xfrm>
            <a:off x="405116" y="769620"/>
            <a:ext cx="11460479" cy="63607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63"/>
              </a:lnSpc>
            </a:pPr>
            <a:r>
              <a:rPr lang="en-US" sz="105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                      </a:t>
            </a:r>
          </a:p>
          <a:p>
            <a:pPr algn="ctr">
              <a:lnSpc>
                <a:spcPts val="1563"/>
              </a:lnSpc>
            </a:pPr>
            <a:endParaRPr lang="en-US" sz="1050" b="1" dirty="0">
              <a:solidFill>
                <a:srgbClr val="000000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  <a:p>
            <a:pPr algn="ctr">
              <a:lnSpc>
                <a:spcPts val="2604"/>
              </a:lnSpc>
            </a:pPr>
            <a:r>
              <a:rPr lang="en-US" sz="14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TECNOLÓGICO NACIONAL DE MÉXICO</a:t>
            </a:r>
          </a:p>
          <a:p>
            <a:pPr algn="ctr">
              <a:lnSpc>
                <a:spcPts val="2604"/>
              </a:lnSpc>
            </a:pPr>
            <a:r>
              <a:rPr lang="en-US" sz="14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INSTITUTO TECNOLÓGICO DE FRONTERA COMALAPA</a:t>
            </a:r>
          </a:p>
          <a:p>
            <a:pPr algn="ctr">
              <a:lnSpc>
                <a:spcPts val="2604"/>
              </a:lnSpc>
            </a:pPr>
            <a:r>
              <a:rPr lang="en-US" sz="14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UNIDAD VENUSTIANO CARRANZA</a:t>
            </a:r>
          </a:p>
          <a:p>
            <a:pPr algn="ctr">
              <a:lnSpc>
                <a:spcPts val="1563"/>
              </a:lnSpc>
            </a:pPr>
            <a:endParaRPr lang="en-US" sz="1000" b="1" dirty="0">
              <a:solidFill>
                <a:srgbClr val="000000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  <a:p>
            <a:pPr algn="ctr">
              <a:lnSpc>
                <a:spcPts val="2604"/>
              </a:lnSpc>
            </a:pPr>
            <a:r>
              <a:rPr lang="en-US" sz="14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“INGENIERÍA EN SISTEMAS COMPUTACIONALES”</a:t>
            </a:r>
          </a:p>
          <a:p>
            <a:pPr algn="ctr">
              <a:lnSpc>
                <a:spcPts val="2604"/>
              </a:lnSpc>
            </a:pPr>
            <a:endParaRPr lang="en-US" sz="1400" b="1" dirty="0">
              <a:solidFill>
                <a:srgbClr val="000000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  <a:p>
            <a:pPr algn="ctr">
              <a:lnSpc>
                <a:spcPts val="2604"/>
              </a:lnSpc>
            </a:pPr>
            <a:r>
              <a:rPr lang="en-US" sz="14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“SIMULACION”</a:t>
            </a:r>
          </a:p>
          <a:p>
            <a:pPr algn="ctr">
              <a:lnSpc>
                <a:spcPts val="2604"/>
              </a:lnSpc>
            </a:pPr>
            <a:r>
              <a:rPr lang="en-US" sz="14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QUINTO SEMESTRE</a:t>
            </a:r>
          </a:p>
          <a:p>
            <a:pPr algn="ctr">
              <a:lnSpc>
                <a:spcPts val="2604"/>
              </a:lnSpc>
            </a:pPr>
            <a:r>
              <a:rPr lang="en-US" sz="14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ACTIVIDAD</a:t>
            </a:r>
          </a:p>
          <a:p>
            <a:pPr algn="ctr">
              <a:lnSpc>
                <a:spcPts val="2604"/>
              </a:lnSpc>
            </a:pPr>
            <a:r>
              <a:rPr lang="en-US" sz="16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CUADRO COMPARATIVO DE </a:t>
            </a:r>
            <a:r>
              <a:rPr lang="en-US" sz="1600" dirty="0" smtClean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CAMUNDA, BIZAGUI Y BONITA</a:t>
            </a:r>
            <a:endParaRPr lang="en-US" sz="160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ctr">
              <a:lnSpc>
                <a:spcPts val="2604"/>
              </a:lnSpc>
            </a:pPr>
            <a:endParaRPr lang="en-US" sz="160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ctr">
              <a:lnSpc>
                <a:spcPts val="2604"/>
              </a:lnSpc>
            </a:pPr>
            <a:endParaRPr lang="en-US" sz="160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ctr">
              <a:lnSpc>
                <a:spcPts val="2604"/>
              </a:lnSpc>
            </a:pPr>
            <a:r>
              <a:rPr lang="en-US" sz="14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PROFESOR</a:t>
            </a:r>
          </a:p>
          <a:p>
            <a:pPr algn="ctr">
              <a:lnSpc>
                <a:spcPts val="2604"/>
              </a:lnSpc>
            </a:pPr>
            <a:r>
              <a:rPr lang="en-US" sz="14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ING. FRANCISCO JAVIER VELÁZQUEZ MINGO</a:t>
            </a:r>
          </a:p>
          <a:p>
            <a:pPr algn="ctr">
              <a:lnSpc>
                <a:spcPts val="2604"/>
              </a:lnSpc>
            </a:pPr>
            <a:endParaRPr lang="en-US" sz="160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ctr">
              <a:lnSpc>
                <a:spcPts val="2604"/>
              </a:lnSpc>
            </a:pPr>
            <a:endParaRPr lang="en-US" sz="160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ctr">
              <a:lnSpc>
                <a:spcPts val="2604"/>
              </a:lnSpc>
            </a:pPr>
            <a:r>
              <a:rPr lang="en-US" sz="14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                                                                                                </a:t>
            </a:r>
            <a:r>
              <a:rPr lang="en-US" sz="1400" b="1" dirty="0" smtClean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 </a:t>
            </a:r>
            <a:r>
              <a:rPr lang="en-US" sz="14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 OCTUBRE DEL 2026 VENUSTIANO CARRANZA, CHIAPAS</a:t>
            </a:r>
          </a:p>
          <a:p>
            <a:pPr algn="ctr">
              <a:lnSpc>
                <a:spcPts val="1563"/>
              </a:lnSpc>
            </a:pPr>
            <a:endParaRPr lang="en-US" sz="1600" b="1" dirty="0">
              <a:solidFill>
                <a:srgbClr val="000000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  <a:p>
            <a:pPr algn="ctr">
              <a:lnSpc>
                <a:spcPts val="1563"/>
              </a:lnSpc>
            </a:pPr>
            <a:endParaRPr lang="en-US" sz="1600" b="1" dirty="0">
              <a:solidFill>
                <a:srgbClr val="000000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854313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/>
          <p:cNvSpPr txBox="1"/>
          <p:nvPr/>
        </p:nvSpPr>
        <p:spPr>
          <a:xfrm>
            <a:off x="879231" y="316523"/>
            <a:ext cx="107002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</p:txBody>
      </p:sp>
      <p:sp>
        <p:nvSpPr>
          <p:cNvPr id="3" name="CuadroTexto 2"/>
          <p:cNvSpPr txBox="1"/>
          <p:nvPr/>
        </p:nvSpPr>
        <p:spPr>
          <a:xfrm>
            <a:off x="1238491" y="1415560"/>
            <a:ext cx="9676436" cy="3780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En esta actividad se realizó un cuadro comparativo de las herramientas </a:t>
            </a:r>
            <a:r>
              <a:rPr lang="es-MX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Camunda</a:t>
            </a: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MX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Bizagi</a:t>
            </a: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 y Bonita, utilizadas para el modelado y representación de procesos mediante BPMN. El propósito principal fue identificar las características y diferencias que existen entre estas tres herramientas al trabajar con un mismo proceso del Taller de </a:t>
            </a:r>
            <a:r>
              <a:rPr lang="es-MX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Electrónica.A</a:t>
            </a: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 través de la comparación se analizaron aspectos importantes como el enfoque de cada programa, la organización de los procesos, la distribución por áreas, el nivel de detalle y las diferentes opciones que ofrecen para representar la información. De esta manera, fue posible observar que, aunque las tres herramientas tienen funciones similares, cada una presenta características particulares.</a:t>
            </a:r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38608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/>
          <p:cNvSpPr txBox="1"/>
          <p:nvPr/>
        </p:nvSpPr>
        <p:spPr>
          <a:xfrm>
            <a:off x="879231" y="316523"/>
            <a:ext cx="107002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Arial" panose="020B0604020202020204" pitchFamily="34" charset="0"/>
                <a:cs typeface="Arial" panose="020B0604020202020204" pitchFamily="34" charset="0"/>
              </a:rPr>
              <a:t>JUSTIFICACIÓN</a:t>
            </a:r>
          </a:p>
        </p:txBody>
      </p:sp>
      <p:sp>
        <p:nvSpPr>
          <p:cNvPr id="3" name="CuadroTexto 2"/>
          <p:cNvSpPr txBox="1"/>
          <p:nvPr/>
        </p:nvSpPr>
        <p:spPr>
          <a:xfrm>
            <a:off x="1238491" y="1415560"/>
            <a:ext cx="9676436" cy="3365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La realización de este cuadro comparativo permite conocer las principales diferencias entre </a:t>
            </a:r>
            <a:r>
              <a:rPr lang="es-MX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Camunda</a:t>
            </a: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MX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Bizagi</a:t>
            </a: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 y Bonita, facilitando la comprensión de las características que ofrece cada herramienta para el modelado de </a:t>
            </a:r>
            <a:r>
              <a:rPr lang="es-MX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procesos.Comparar</a:t>
            </a: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 las tres herramientas resulta importante porque permite identificar qué elementos tienen en común y cuáles presentan diferencias en la forma de organizar y representar un proceso. Además, realizar esta comparación a partir de los diagramas del Taller de Electrónica permite relacionar las características de cada programa con un ejemplo práctico y observar directamente las diferencias entre ellos.</a:t>
            </a:r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012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/>
          <p:cNvSpPr txBox="1"/>
          <p:nvPr/>
        </p:nvSpPr>
        <p:spPr>
          <a:xfrm>
            <a:off x="879231" y="316523"/>
            <a:ext cx="107002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Arial" panose="020B0604020202020204" pitchFamily="34" charset="0"/>
                <a:cs typeface="Arial" panose="020B0604020202020204" pitchFamily="34" charset="0"/>
              </a:rPr>
              <a:t>OBJETIVOS</a:t>
            </a:r>
          </a:p>
        </p:txBody>
      </p:sp>
      <p:sp>
        <p:nvSpPr>
          <p:cNvPr id="3" name="CuadroTexto 2"/>
          <p:cNvSpPr txBox="1"/>
          <p:nvPr/>
        </p:nvSpPr>
        <p:spPr>
          <a:xfrm>
            <a:off x="1391132" y="1222130"/>
            <a:ext cx="9676436" cy="4662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Objetivo general</a:t>
            </a:r>
          </a:p>
          <a:p>
            <a:pPr algn="just">
              <a:lnSpc>
                <a:spcPct val="150000"/>
              </a:lnSpc>
            </a:pP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Comparar las características principales de </a:t>
            </a:r>
            <a:r>
              <a:rPr lang="es-MX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Camunda</a:t>
            </a: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MX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Bizagi</a:t>
            </a: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 y Bonita mediante la elaboración de un cuadro comparativo, identificando sus similitudes y diferencias en el modelado de procesos.</a:t>
            </a:r>
          </a:p>
          <a:p>
            <a:pPr algn="just">
              <a:lnSpc>
                <a:spcPct val="150000"/>
              </a:lnSpc>
            </a:pP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Objetivos específicos</a:t>
            </a:r>
          </a:p>
          <a:p>
            <a:pPr algn="just">
              <a:lnSpc>
                <a:spcPct val="150000"/>
              </a:lnSpc>
            </a:pP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Identificar las principales características de </a:t>
            </a:r>
            <a:r>
              <a:rPr lang="es-MX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Camunda</a:t>
            </a: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MX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Bizagi</a:t>
            </a: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 y Bonita.</a:t>
            </a:r>
          </a:p>
          <a:p>
            <a:pPr algn="just">
              <a:lnSpc>
                <a:spcPct val="150000"/>
              </a:lnSpc>
            </a:pP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Comparar las diferencias entre las tres herramientas.</a:t>
            </a:r>
          </a:p>
          <a:p>
            <a:pPr algn="just">
              <a:lnSpc>
                <a:spcPct val="150000"/>
              </a:lnSpc>
            </a:pP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Reconocer las características que tienen en común.</a:t>
            </a:r>
          </a:p>
          <a:p>
            <a:pPr algn="just">
              <a:lnSpc>
                <a:spcPct val="150000"/>
              </a:lnSpc>
            </a:pP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Identificar las opciones de organización y representación que ofrece cada programa.</a:t>
            </a:r>
          </a:p>
          <a:p>
            <a:pPr algn="just">
              <a:lnSpc>
                <a:spcPct val="150000"/>
              </a:lnSpc>
            </a:pP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Analizar las diferencias observadas en los diagramas realizados con cada herramienta.</a:t>
            </a:r>
          </a:p>
          <a:p>
            <a:pPr algn="just">
              <a:lnSpc>
                <a:spcPct val="150000"/>
              </a:lnSpc>
            </a:pP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Presentar la información de manera clara y organizada mediante un cuadro comparativo.</a:t>
            </a:r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3704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605251"/>
              </p:ext>
            </p:extLst>
          </p:nvPr>
        </p:nvGraphicFramePr>
        <p:xfrm>
          <a:off x="509953" y="754836"/>
          <a:ext cx="11113480" cy="5866749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78370">
                  <a:extLst>
                    <a:ext uri="{9D8B030D-6E8A-4147-A177-3AD203B41FA5}">
                      <a16:colId xmlns:a16="http://schemas.microsoft.com/office/drawing/2014/main" val="954909225"/>
                    </a:ext>
                  </a:extLst>
                </a:gridCol>
                <a:gridCol w="2778370">
                  <a:extLst>
                    <a:ext uri="{9D8B030D-6E8A-4147-A177-3AD203B41FA5}">
                      <a16:colId xmlns:a16="http://schemas.microsoft.com/office/drawing/2014/main" val="1191806504"/>
                    </a:ext>
                  </a:extLst>
                </a:gridCol>
                <a:gridCol w="2778370">
                  <a:extLst>
                    <a:ext uri="{9D8B030D-6E8A-4147-A177-3AD203B41FA5}">
                      <a16:colId xmlns:a16="http://schemas.microsoft.com/office/drawing/2014/main" val="564869246"/>
                    </a:ext>
                  </a:extLst>
                </a:gridCol>
                <a:gridCol w="2778370">
                  <a:extLst>
                    <a:ext uri="{9D8B030D-6E8A-4147-A177-3AD203B41FA5}">
                      <a16:colId xmlns:a16="http://schemas.microsoft.com/office/drawing/2014/main" val="1856849875"/>
                    </a:ext>
                  </a:extLst>
                </a:gridCol>
              </a:tblGrid>
              <a:tr h="405749">
                <a:tc>
                  <a:txBody>
                    <a:bodyPr/>
                    <a:lstStyle/>
                    <a:p>
                      <a:pPr algn="ctr"/>
                      <a:r>
                        <a:rPr lang="es-MX" dirty="0" smtClean="0"/>
                        <a:t>Aspecto</a:t>
                      </a:r>
                      <a:endParaRPr lang="es-MX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 err="1" smtClean="0"/>
                        <a:t>Camunda</a:t>
                      </a:r>
                      <a:endParaRPr lang="es-MX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 err="1" smtClean="0"/>
                        <a:t>Bizagi</a:t>
                      </a:r>
                      <a:endParaRPr lang="es-MX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 smtClean="0"/>
                        <a:t>Bonita</a:t>
                      </a:r>
                      <a:endParaRPr lang="es-MX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3420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Enfoque principal</a:t>
                      </a:r>
                      <a:endParaRPr lang="es-MX" sz="1400" dirty="0"/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Modelado y automatización de procesos.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Modelado y documentación de procesos.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Modelado y automatización de procesos y aplicaciones.</a:t>
                      </a:r>
                      <a:endParaRPr lang="es-MX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3698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Interfaz</a:t>
                      </a:r>
                      <a:endParaRPr lang="es-MX" sz="1400" dirty="0"/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Sencilla y minimalista.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Más visual y orientada al diseño gráfico.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Visual y orientada a la organización de procesos.</a:t>
                      </a:r>
                      <a:endParaRPr lang="es-MX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0547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Organización por áreas</a:t>
                      </a:r>
                      <a:endParaRPr lang="es-MX" sz="1400" dirty="0"/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Puede utilizar participantes.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Permite dividir el proceso mediante carriles.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Destaca por organizar las actividades en diferentes áreas o participantes.</a:t>
                      </a:r>
                      <a:endParaRPr lang="es-MX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8984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Tiempos de actividades</a:t>
                      </a:r>
                      <a:endParaRPr lang="es-MX" sz="1400" dirty="0"/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Se pueden agregar, pero no se utilizaron en nuestro diagrama.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En nuestro diagrama se muestran los tiempos de cada actividad.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En nuestro diagrama se muestran los tiempos de cada actividad.</a:t>
                      </a:r>
                      <a:endParaRPr lang="es-MX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6435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Porcentajes en decisiones</a:t>
                      </a:r>
                      <a:endParaRPr lang="es-MX" sz="1400" dirty="0"/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Se muestran porcentajes de aprobación: 80 % y 20 %.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Se muestran porcentajes de aprobación: 80 % y 20 %.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Se muestran porcentajes de aprobación: 80 % y 20 %.</a:t>
                      </a:r>
                      <a:endParaRPr lang="es-MX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9519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Representación del flujo</a:t>
                      </a:r>
                      <a:endParaRPr lang="es-MX" sz="1400" dirty="0"/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Más sencilla y directa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Más detallada y organizada.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Más enfocada en la distribución de actividades por áreas.</a:t>
                      </a:r>
                      <a:endParaRPr lang="es-MX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47151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Automatización</a:t>
                      </a:r>
                      <a:endParaRPr lang="es-MX" sz="1400" dirty="0"/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Sí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Sí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Sí</a:t>
                      </a:r>
                      <a:endParaRPr lang="es-MX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729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Nivel de detalle del diagrama realizado</a:t>
                      </a:r>
                      <a:endParaRPr lang="es-MX" sz="1400" dirty="0"/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Básico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Alto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Medio</a:t>
                      </a:r>
                      <a:endParaRPr lang="es-MX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8122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Característica que más destaca</a:t>
                      </a:r>
                      <a:endParaRPr lang="es-MX" sz="1400" dirty="0"/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Simplicidad del flujo y automatización.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Información adicional, tiempos, porcentajes y organización.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Distribución del proceso entre diferentes áreas.</a:t>
                      </a:r>
                      <a:endParaRPr lang="es-MX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7759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Nivel de detalle observado</a:t>
                      </a:r>
                      <a:endParaRPr lang="es-MX" sz="1400" dirty="0"/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El diagrama es más simple y se concentra en la secuencia principal del proceso.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Presenta mayor información dentro de las actividades, principalmente tiempos y porcentajes.</a:t>
                      </a:r>
                      <a:endParaRPr lang="es-MX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 smtClean="0"/>
                        <a:t>Presenta mayor énfasis en la distribución de las actividades entre diferentes áreas.</a:t>
                      </a:r>
                      <a:endParaRPr lang="es-MX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6648500"/>
                  </a:ext>
                </a:extLst>
              </a:tr>
            </a:tbl>
          </a:graphicData>
        </a:graphic>
      </p:graphicFrame>
      <p:sp>
        <p:nvSpPr>
          <p:cNvPr id="3" name="CuadroTexto 2"/>
          <p:cNvSpPr txBox="1"/>
          <p:nvPr/>
        </p:nvSpPr>
        <p:spPr>
          <a:xfrm>
            <a:off x="2391507" y="254977"/>
            <a:ext cx="7702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 smtClean="0"/>
              <a:t>CUADRO COMPARATIVO DE LOS PROGRAMAS CAMUNDA, BIZAGUI Y BONITA</a:t>
            </a:r>
            <a:endParaRPr lang="es-MX" b="1" dirty="0"/>
          </a:p>
        </p:txBody>
      </p:sp>
    </p:spTree>
    <p:extLst>
      <p:ext uri="{BB962C8B-B14F-4D97-AF65-F5344CB8AC3E}">
        <p14:creationId xmlns:p14="http://schemas.microsoft.com/office/powerpoint/2010/main" val="2223643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/>
          <p:cNvSpPr txBox="1"/>
          <p:nvPr/>
        </p:nvSpPr>
        <p:spPr>
          <a:xfrm>
            <a:off x="879231" y="298939"/>
            <a:ext cx="107002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Arial" panose="020B0604020202020204" pitchFamily="34" charset="0"/>
                <a:cs typeface="Arial" panose="020B0604020202020204" pitchFamily="34" charset="0"/>
              </a:rPr>
              <a:t>CONCLUSIÓN</a:t>
            </a:r>
          </a:p>
        </p:txBody>
      </p:sp>
      <p:sp>
        <p:nvSpPr>
          <p:cNvPr id="3" name="CuadroTexto 2"/>
          <p:cNvSpPr txBox="1"/>
          <p:nvPr/>
        </p:nvSpPr>
        <p:spPr>
          <a:xfrm>
            <a:off x="1391132" y="1222130"/>
            <a:ext cx="9676436" cy="5027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En conclusión, la elaboración del cuadro comparativo permitió identificar las principales similitudes y diferencias entre </a:t>
            </a:r>
            <a:r>
              <a:rPr lang="es-MX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Camunda</a:t>
            </a: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MX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Bizagi</a:t>
            </a: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 y Bonita. Al analizar las tres herramientas a partir de los diagramas del Taller de Electrónica, se pudo observar que, aunque tienen funciones similares para el modelado de procesos, cada una presenta diferentes formas de organizar y mostrar la información. La comparación permitió distinguir características particulares de cada herramienta, como la sencillez de representación en </a:t>
            </a:r>
            <a:r>
              <a:rPr lang="es-MX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Camunda</a:t>
            </a: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, el mayor nivel de detalle observado en </a:t>
            </a:r>
            <a:r>
              <a:rPr lang="es-MX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Bizagi</a:t>
            </a:r>
            <a:r>
              <a:rPr lang="es-MX" dirty="0" smtClean="0">
                <a:latin typeface="Arial" panose="020B0604020202020204" pitchFamily="34" charset="0"/>
                <a:cs typeface="Arial" panose="020B0604020202020204" pitchFamily="34" charset="0"/>
              </a:rPr>
              <a:t> y la organización de las actividades por áreas en Bonita. De esta manera, se logró comprender que las tres herramientas pueden utilizarse para representar procesos, pero presentan diferencias en su interfaz, organización y forma de presentar los elementos. En general, esta actividad permitió comprender de manera más clara las características de cada programa mediante una comparación directa, facilitando la identificación de sus similitudes y diferencias.</a:t>
            </a:r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4117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/>
          <p:cNvSpPr txBox="1"/>
          <p:nvPr/>
        </p:nvSpPr>
        <p:spPr>
          <a:xfrm>
            <a:off x="940777" y="325316"/>
            <a:ext cx="107002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Arial" panose="020B0604020202020204" pitchFamily="34" charset="0"/>
                <a:cs typeface="Arial" panose="020B0604020202020204" pitchFamily="34" charset="0"/>
              </a:rPr>
              <a:t>BIBLIOGRAFIA</a:t>
            </a:r>
          </a:p>
        </p:txBody>
      </p:sp>
      <p:sp>
        <p:nvSpPr>
          <p:cNvPr id="3" name="CuadroTexto 2"/>
          <p:cNvSpPr txBox="1"/>
          <p:nvPr/>
        </p:nvSpPr>
        <p:spPr>
          <a:xfrm>
            <a:off x="1740877" y="1213338"/>
            <a:ext cx="867800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Dumas, M., La Rosa, M., </a:t>
            </a:r>
            <a:r>
              <a:rPr lang="es-MX" dirty="0" err="1" smtClean="0"/>
              <a:t>Mendling</a:t>
            </a:r>
            <a:r>
              <a:rPr lang="es-MX" dirty="0" smtClean="0"/>
              <a:t>, J., &amp; </a:t>
            </a:r>
            <a:r>
              <a:rPr lang="es-MX" dirty="0" err="1" smtClean="0"/>
              <a:t>Reijers</a:t>
            </a:r>
            <a:r>
              <a:rPr lang="es-MX" dirty="0" smtClean="0"/>
              <a:t>, H. A. (2020). </a:t>
            </a:r>
            <a:r>
              <a:rPr lang="es-MX" i="1" dirty="0" smtClean="0"/>
              <a:t>Fundamentos de gestión de procesos de negocio</a:t>
            </a:r>
            <a:r>
              <a:rPr lang="es-MX" dirty="0" smtClean="0"/>
              <a:t> (2.ª ed.). Ediciones de la U.</a:t>
            </a:r>
          </a:p>
          <a:p>
            <a:endParaRPr lang="es-MX" dirty="0"/>
          </a:p>
          <a:p>
            <a:r>
              <a:rPr lang="es-MX" dirty="0" smtClean="0"/>
              <a:t>Gras, J. C. (2019). </a:t>
            </a:r>
            <a:r>
              <a:rPr lang="es-MX" i="1" dirty="0" smtClean="0"/>
              <a:t>Modelando el negocio con BPM en el mundo real: Casos prácticos</a:t>
            </a:r>
            <a:r>
              <a:rPr lang="es-MX" dirty="0" smtClean="0"/>
              <a:t>. Juan Carlos Gras.</a:t>
            </a:r>
          </a:p>
          <a:p>
            <a:endParaRPr lang="es-MX" dirty="0"/>
          </a:p>
          <a:p>
            <a:r>
              <a:rPr lang="es-MX" dirty="0" smtClean="0"/>
              <a:t>Moreno, J. J. (Trad.). (2012). BPMN 2.0: Manual de referencia y guía práctica. </a:t>
            </a:r>
            <a:r>
              <a:rPr lang="es-MX" dirty="0" err="1" smtClean="0"/>
              <a:t>Future</a:t>
            </a:r>
            <a:r>
              <a:rPr lang="es-MX" dirty="0" smtClean="0"/>
              <a:t> </a:t>
            </a:r>
            <a:r>
              <a:rPr lang="es-MX" dirty="0" err="1" smtClean="0"/>
              <a:t>Strategies</a:t>
            </a:r>
            <a:r>
              <a:rPr lang="es-MX" dirty="0" smtClean="0"/>
              <a:t> Inc.</a:t>
            </a:r>
          </a:p>
        </p:txBody>
      </p:sp>
    </p:spTree>
    <p:extLst>
      <p:ext uri="{BB962C8B-B14F-4D97-AF65-F5344CB8AC3E}">
        <p14:creationId xmlns:p14="http://schemas.microsoft.com/office/powerpoint/2010/main" val="19950687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928</TotalTime>
  <Words>888</Words>
  <Application>Microsoft Office PowerPoint</Application>
  <PresentationFormat>Panorámica</PresentationFormat>
  <Paragraphs>90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Open Sans</vt:lpstr>
      <vt:lpstr>Open Sans Bold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Roberto Cahuare</dc:creator>
  <cp:lastModifiedBy>Roberto Cahuare</cp:lastModifiedBy>
  <cp:revision>13</cp:revision>
  <dcterms:created xsi:type="dcterms:W3CDTF">2026-10-01T15:50:44Z</dcterms:created>
  <dcterms:modified xsi:type="dcterms:W3CDTF">2026-10-03T13:21:39Z</dcterms:modified>
</cp:coreProperties>
</file>