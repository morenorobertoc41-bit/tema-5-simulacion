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MX"/>
    </a:defPPr>
    <a:lvl1pPr marL="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7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6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14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92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7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9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2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5482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088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8896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810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7859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8483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1137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84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6816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8367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975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A6C2-3218-4CAB-9D4C-D2B685E58EB4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8363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773915"/>
              </p:ext>
            </p:extLst>
          </p:nvPr>
        </p:nvGraphicFramePr>
        <p:xfrm>
          <a:off x="3025815" y="4355458"/>
          <a:ext cx="6407552" cy="621241"/>
        </p:xfrm>
        <a:graphic>
          <a:graphicData uri="http://schemas.openxmlformats.org/drawingml/2006/table">
            <a:tbl>
              <a:tblPr/>
              <a:tblGrid>
                <a:gridCol w="3203776">
                  <a:extLst>
                    <a:ext uri="{9D8B030D-6E8A-4147-A177-3AD203B41FA5}">
                      <a16:colId xmlns:a16="http://schemas.microsoft.com/office/drawing/2014/main" val="3868017447"/>
                    </a:ext>
                  </a:extLst>
                </a:gridCol>
                <a:gridCol w="3203776">
                  <a:extLst>
                    <a:ext uri="{9D8B030D-6E8A-4147-A177-3AD203B41FA5}">
                      <a16:colId xmlns:a16="http://schemas.microsoft.com/office/drawing/2014/main" val="590965609"/>
                    </a:ext>
                  </a:extLst>
                </a:gridCol>
              </a:tblGrid>
              <a:tr h="282067">
                <a:tc>
                  <a:txBody>
                    <a:bodyPr/>
                    <a:lstStyle/>
                    <a:p>
                      <a:r>
                        <a:rPr lang="es-MX" sz="1400" b="1">
                          <a:effectLst/>
                        </a:rPr>
                        <a:t>NOMBRE DEL ALUMNO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b="1" dirty="0">
                          <a:effectLst/>
                        </a:rPr>
                        <a:t>MATRICULA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63554"/>
                  </a:ext>
                </a:extLst>
              </a:tr>
              <a:tr h="316441">
                <a:tc>
                  <a:txBody>
                    <a:bodyPr/>
                    <a:lstStyle/>
                    <a:p>
                      <a:r>
                        <a:rPr lang="es-MX" sz="1400" b="1" dirty="0">
                          <a:effectLst/>
                        </a:rPr>
                        <a:t>ROBERTO CARLOS CAHUARE MORENO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b="1" dirty="0">
                          <a:effectLst/>
                        </a:rPr>
                        <a:t>241260048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67146"/>
                  </a:ext>
                </a:extLst>
              </a:tr>
            </a:tbl>
          </a:graphicData>
        </a:graphic>
      </p:graphicFrame>
      <p:sp>
        <p:nvSpPr>
          <p:cNvPr id="9" name="Freeform 3"/>
          <p:cNvSpPr/>
          <p:nvPr/>
        </p:nvSpPr>
        <p:spPr>
          <a:xfrm>
            <a:off x="993976" y="278001"/>
            <a:ext cx="2490004" cy="983241"/>
          </a:xfrm>
          <a:custGeom>
            <a:avLst/>
            <a:gdLst/>
            <a:ahLst/>
            <a:cxnLst/>
            <a:rect l="l" t="t" r="r" b="b"/>
            <a:pathLst>
              <a:path w="3657995" h="1617378">
                <a:moveTo>
                  <a:pt x="0" y="0"/>
                </a:moveTo>
                <a:lnTo>
                  <a:pt x="3657995" y="0"/>
                </a:lnTo>
                <a:lnTo>
                  <a:pt x="3657995" y="1617378"/>
                </a:lnTo>
                <a:lnTo>
                  <a:pt x="0" y="1617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4"/>
          <p:cNvSpPr/>
          <p:nvPr/>
        </p:nvSpPr>
        <p:spPr>
          <a:xfrm>
            <a:off x="9433367" y="433955"/>
            <a:ext cx="1569954" cy="1186503"/>
          </a:xfrm>
          <a:custGeom>
            <a:avLst/>
            <a:gdLst/>
            <a:ahLst/>
            <a:cxnLst/>
            <a:rect l="l" t="t" r="r" b="b"/>
            <a:pathLst>
              <a:path w="2777579" h="2263213">
                <a:moveTo>
                  <a:pt x="0" y="0"/>
                </a:moveTo>
                <a:lnTo>
                  <a:pt x="2777579" y="0"/>
                </a:lnTo>
                <a:lnTo>
                  <a:pt x="2777579" y="2263212"/>
                </a:lnTo>
                <a:lnTo>
                  <a:pt x="0" y="2263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2"/>
          <p:cNvSpPr txBox="1"/>
          <p:nvPr/>
        </p:nvSpPr>
        <p:spPr>
          <a:xfrm>
            <a:off x="405116" y="769620"/>
            <a:ext cx="11460479" cy="6360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63"/>
              </a:lnSpc>
            </a:pPr>
            <a:r>
              <a:rPr lang="en-US" sz="105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              </a:t>
            </a:r>
          </a:p>
          <a:p>
            <a:pPr algn="ctr">
              <a:lnSpc>
                <a:spcPts val="1563"/>
              </a:lnSpc>
            </a:pPr>
            <a:endParaRPr lang="en-US" sz="105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TECNOLÓGICO NACIONAL DE MÉXICO</a:t>
            </a: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INSTITUTO TECNOLÓGICO DE FRONTERA COMALAPA</a:t>
            </a: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UNIDAD VENUSTIANO CARRANZA</a:t>
            </a:r>
          </a:p>
          <a:p>
            <a:pPr algn="ctr">
              <a:lnSpc>
                <a:spcPts val="1563"/>
              </a:lnSpc>
            </a:pPr>
            <a:endParaRPr lang="en-US" sz="10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“INGENIERÍA EN SISTEMAS COMPUTACIONALES”</a:t>
            </a:r>
          </a:p>
          <a:p>
            <a:pPr algn="ctr">
              <a:lnSpc>
                <a:spcPts val="2604"/>
              </a:lnSpc>
            </a:pPr>
            <a:endParaRPr lang="en-US" sz="14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“SIMULACION”</a:t>
            </a:r>
          </a:p>
          <a:p>
            <a:pPr algn="ctr">
              <a:lnSpc>
                <a:spcPts val="2604"/>
              </a:lnSpc>
            </a:pP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QUINTO SEMESTRE</a:t>
            </a: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ACTIVIDAD</a:t>
            </a:r>
          </a:p>
          <a:p>
            <a:pPr algn="ctr">
              <a:lnSpc>
                <a:spcPts val="2604"/>
              </a:lnSpc>
            </a:pPr>
            <a:r>
              <a:rPr lang="en-US" sz="1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CUADRO COMPARATIVO DE </a:t>
            </a:r>
            <a:r>
              <a:rPr lang="en-US" sz="16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CAMUNDA, BIZAGUI Y BONITA</a:t>
            </a: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604"/>
              </a:lnSpc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604"/>
              </a:lnSpc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PROFESOR</a:t>
            </a:r>
          </a:p>
          <a:p>
            <a:pPr algn="ctr">
              <a:lnSpc>
                <a:spcPts val="2604"/>
              </a:lnSpc>
            </a:pP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ING. FRANCISCO JAVIER VELÁZQUEZ MINGO</a:t>
            </a:r>
          </a:p>
          <a:p>
            <a:pPr algn="ctr">
              <a:lnSpc>
                <a:spcPts val="2604"/>
              </a:lnSpc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604"/>
              </a:lnSpc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                                                                                        </a:t>
            </a:r>
            <a:r>
              <a:rPr lang="en-US" sz="1400" b="1" dirty="0" smtClean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 </a:t>
            </a: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OCTUBRE DEL 2026 VENUSTIANO CARRANZA, CHIAPAS</a:t>
            </a:r>
          </a:p>
          <a:p>
            <a:pPr algn="ctr">
              <a:lnSpc>
                <a:spcPts val="1563"/>
              </a:lnSpc>
            </a:pPr>
            <a:endParaRPr lang="en-US" sz="16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1563"/>
              </a:lnSpc>
            </a:pPr>
            <a:endParaRPr lang="en-US" sz="16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85431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879231" y="316523"/>
            <a:ext cx="10700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238491" y="1415560"/>
            <a:ext cx="9676436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En esta actividad se realizó un cuadro comparativo de las herramientas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y Bonita, utilizadas para el modelado y representación de procesos mediante BPMN. El propósito principal fue identificar las características y diferencias que existen entre estas tres herramientas al trabajar con un mismo proceso del Taller de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Electrónica.A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través de la comparación se analizaron aspectos importantes como el enfoque de cada programa, la organización de los procesos, la distribución por áreas, el nivel de detalle y las diferentes opciones que ofrecen para representar la información. De esta manera, fue posible observar que, aunque las tres herramientas tienen funciones similares, cada una presenta características particulares.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860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879231" y="316523"/>
            <a:ext cx="10700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JUSTIFICACIÓN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238491" y="1415560"/>
            <a:ext cx="9676436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La realización de este cuadro comparativo permite conocer las principales diferencias entre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y Bonita, facilitando la comprensión de las características que ofrece cada herramienta para el modelado de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procesos.Comparar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las tres herramientas resulta importante porque permite identificar qué elementos tienen en común y cuáles presentan diferencias en la forma de organizar y representar un proceso. Además, realizar esta comparación a partir de los diagramas del Taller de Electrónica permite relacionar las características de cada programa con un ejemplo práctico y observar directamente las diferencias entre ellos.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012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879231" y="316523"/>
            <a:ext cx="10700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391132" y="1222130"/>
            <a:ext cx="9676436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Objetivo general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Comparar las características principales de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y Bonita mediante la elaboración de un cuadro comparativo, identificando sus similitudes y diferencias en el modelado de procesos.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Objetivos específicos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Identificar las principales características de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y Bonita.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Comparar las diferencias entre las tres herramientas.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Reconocer las características que tienen en común.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Identificar las opciones de organización y representación que ofrece cada programa.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Analizar las diferencias observadas en los diagramas realizados con cada herramienta.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Presentar la información de manera clara y organizada mediante un cuadro comparativo.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70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605251"/>
              </p:ext>
            </p:extLst>
          </p:nvPr>
        </p:nvGraphicFramePr>
        <p:xfrm>
          <a:off x="509953" y="754836"/>
          <a:ext cx="11113480" cy="586674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78370">
                  <a:extLst>
                    <a:ext uri="{9D8B030D-6E8A-4147-A177-3AD203B41FA5}">
                      <a16:colId xmlns:a16="http://schemas.microsoft.com/office/drawing/2014/main" val="954909225"/>
                    </a:ext>
                  </a:extLst>
                </a:gridCol>
                <a:gridCol w="2778370">
                  <a:extLst>
                    <a:ext uri="{9D8B030D-6E8A-4147-A177-3AD203B41FA5}">
                      <a16:colId xmlns:a16="http://schemas.microsoft.com/office/drawing/2014/main" val="1191806504"/>
                    </a:ext>
                  </a:extLst>
                </a:gridCol>
                <a:gridCol w="2778370">
                  <a:extLst>
                    <a:ext uri="{9D8B030D-6E8A-4147-A177-3AD203B41FA5}">
                      <a16:colId xmlns:a16="http://schemas.microsoft.com/office/drawing/2014/main" val="564869246"/>
                    </a:ext>
                  </a:extLst>
                </a:gridCol>
                <a:gridCol w="2778370">
                  <a:extLst>
                    <a:ext uri="{9D8B030D-6E8A-4147-A177-3AD203B41FA5}">
                      <a16:colId xmlns:a16="http://schemas.microsoft.com/office/drawing/2014/main" val="1856849875"/>
                    </a:ext>
                  </a:extLst>
                </a:gridCol>
              </a:tblGrid>
              <a:tr h="405749">
                <a:tc>
                  <a:txBody>
                    <a:bodyPr/>
                    <a:lstStyle/>
                    <a:p>
                      <a:pPr algn="ctr"/>
                      <a:r>
                        <a:rPr lang="es-MX" dirty="0" smtClean="0"/>
                        <a:t>Aspecto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 err="1" smtClean="0"/>
                        <a:t>Camunda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 err="1" smtClean="0"/>
                        <a:t>Bizagi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 smtClean="0"/>
                        <a:t>Bonita</a:t>
                      </a:r>
                      <a:endParaRPr lang="es-MX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42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Enfoque principal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Modelado y automatización de procesos.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Modelado y documentación de procesos.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Modelado y automatización de procesos y aplicaciones.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698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Interfaz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Sencilla y minimalista.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Más visual y orientada al diseño gráfico.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Visual y orientada a la organización de procesos.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547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Organización por áreas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Puede utilizar participantes.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Permite dividir el proceso mediante carriles.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Destaca por organizar las actividades en diferentes áreas o participantes.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984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Tiempos de actividades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Se pueden agregar, pero no se utilizaron en nuestro diagrama.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En nuestro diagrama se muestran los tiempos de cada actividad.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En nuestro diagrama se muestran los tiempos de cada actividad.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4643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Porcentajes en decisiones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Se muestran porcentajes de aprobación: 80 % y 20 %.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Se muestran porcentajes de aprobación: 80 % y 20 %.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Se muestran porcentajes de aprobación: 80 % y 20 %.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9519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Representación del flujo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Más sencilla y directa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Más detallada y organizada.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Más enfocada en la distribución de actividades por áreas.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151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Automatización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Sí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Sí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Sí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29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Nivel de detalle del diagrama realizado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Básico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Alto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Medio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122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Característica que más destaca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Simplicidad del flujo y automatización.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Información adicional, tiempos, porcentajes y organización.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Distribución del proceso entre diferentes áreas.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7759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Nivel de detalle observado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El diagrama es más simple y se concentra en la secuencia principal del proceso.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Presenta mayor información dentro de las actividades, principalmente tiempos y porcentajes.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Presenta mayor énfasis en la distribución de las actividades entre diferentes áreas.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648500"/>
                  </a:ext>
                </a:extLst>
              </a:tr>
            </a:tbl>
          </a:graphicData>
        </a:graphic>
      </p:graphicFrame>
      <p:sp>
        <p:nvSpPr>
          <p:cNvPr id="3" name="CuadroTexto 2"/>
          <p:cNvSpPr txBox="1"/>
          <p:nvPr/>
        </p:nvSpPr>
        <p:spPr>
          <a:xfrm>
            <a:off x="2391507" y="254977"/>
            <a:ext cx="7702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CUADRO COMPARATIVO DE LOS PROGRAMAS CAMUNDA, BIZAGUI Y BONITA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223643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879231" y="298939"/>
            <a:ext cx="10700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391132" y="1222130"/>
            <a:ext cx="9676436" cy="5027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En conclusión, la elaboración del cuadro comparativo permitió identificar las principales similitudes y diferencias entre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y Bonita. Al analizar las tres herramientas a partir de los diagramas del Taller de Electrónica, se pudo observar que, aunque tienen funciones similares para el modelado de procesos, cada una presenta diferentes formas de organizar y mostrar la información. La comparación permitió distinguir características particulares de cada herramienta, como la sencillez de representación en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, el mayor nivel de detalle observado en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y la organización de las actividades por áreas en Bonita. De esta manera, se logró comprender que las tres herramientas pueden utilizarse para representar procesos, pero presentan diferencias en su interfaz, organización y forma de presentar los elementos. En general, esta actividad permitió comprender de manera más clara las características de cada programa mediante una comparación directa, facilitando la identificación de sus similitudes y diferencias.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117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940777" y="325316"/>
            <a:ext cx="10700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FUENTES DE INFORMACIÓN</a:t>
            </a:r>
            <a:endParaRPr lang="es-MX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740877" y="1213338"/>
            <a:ext cx="86780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Dumas, M., La Rosa, M., </a:t>
            </a:r>
            <a:r>
              <a:rPr lang="es-MX" dirty="0" err="1" smtClean="0"/>
              <a:t>Mendling</a:t>
            </a:r>
            <a:r>
              <a:rPr lang="es-MX" dirty="0" smtClean="0"/>
              <a:t>, J., &amp; </a:t>
            </a:r>
            <a:r>
              <a:rPr lang="es-MX" dirty="0" err="1" smtClean="0"/>
              <a:t>Reijers</a:t>
            </a:r>
            <a:r>
              <a:rPr lang="es-MX" dirty="0" smtClean="0"/>
              <a:t>, H. A. (2020). </a:t>
            </a:r>
            <a:r>
              <a:rPr lang="es-MX" i="1" dirty="0" smtClean="0"/>
              <a:t>Fundamentos de gestión de procesos de negocio</a:t>
            </a:r>
            <a:r>
              <a:rPr lang="es-MX" dirty="0" smtClean="0"/>
              <a:t> (2.ª ed.). Ediciones de la U.</a:t>
            </a:r>
          </a:p>
          <a:p>
            <a:endParaRPr lang="es-MX" dirty="0"/>
          </a:p>
          <a:p>
            <a:r>
              <a:rPr lang="es-MX" dirty="0" smtClean="0"/>
              <a:t>Gras, J. C. (2019). </a:t>
            </a:r>
            <a:r>
              <a:rPr lang="es-MX" i="1" dirty="0" smtClean="0"/>
              <a:t>Modelando el negocio con BPM en el mundo real: Casos prácticos</a:t>
            </a:r>
            <a:r>
              <a:rPr lang="es-MX" dirty="0" smtClean="0"/>
              <a:t>. Juan Carlos Gras.</a:t>
            </a:r>
          </a:p>
          <a:p>
            <a:endParaRPr lang="es-MX" dirty="0"/>
          </a:p>
          <a:p>
            <a:r>
              <a:rPr lang="es-MX" dirty="0" smtClean="0"/>
              <a:t>Moreno, J. J. (Trad.). (2012). BPMN 2.0: Manual de referencia y guía práctica. </a:t>
            </a:r>
            <a:r>
              <a:rPr lang="es-MX" dirty="0" err="1" smtClean="0"/>
              <a:t>Future</a:t>
            </a:r>
            <a:r>
              <a:rPr lang="es-MX" dirty="0" smtClean="0"/>
              <a:t> </a:t>
            </a:r>
            <a:r>
              <a:rPr lang="es-MX" dirty="0" err="1" smtClean="0"/>
              <a:t>Strategies</a:t>
            </a:r>
            <a:r>
              <a:rPr lang="es-MX" dirty="0" smtClean="0"/>
              <a:t> Inc.</a:t>
            </a:r>
          </a:p>
        </p:txBody>
      </p:sp>
    </p:spTree>
    <p:extLst>
      <p:ext uri="{BB962C8B-B14F-4D97-AF65-F5344CB8AC3E}">
        <p14:creationId xmlns:p14="http://schemas.microsoft.com/office/powerpoint/2010/main" val="19950687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928</TotalTime>
  <Words>890</Words>
  <Application>Microsoft Office PowerPoint</Application>
  <PresentationFormat>Panorámica</PresentationFormat>
  <Paragraphs>90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Open Sans</vt:lpstr>
      <vt:lpstr>Open Sans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Roberto Cahuare</dc:creator>
  <cp:lastModifiedBy>Roberto Cahuare</cp:lastModifiedBy>
  <cp:revision>14</cp:revision>
  <dcterms:created xsi:type="dcterms:W3CDTF">2026-10-01T15:50:44Z</dcterms:created>
  <dcterms:modified xsi:type="dcterms:W3CDTF">2026-10-04T00:03:00Z</dcterms:modified>
</cp:coreProperties>
</file>