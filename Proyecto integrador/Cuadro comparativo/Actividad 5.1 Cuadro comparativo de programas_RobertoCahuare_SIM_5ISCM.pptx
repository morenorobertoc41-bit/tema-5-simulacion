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59" r:id="rId6"/>
    <p:sldId id="260" r:id="rId7"/>
    <p:sldId id="261" r:id="rId8"/>
    <p:sldId id="262" r:id="rId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MX"/>
          </a:p>
        </p:txBody>
      </p:sp>
      <p:sp>
        <p:nvSpPr>
          <p:cNvPr id="4" name="Marcador de fecha 3"/>
          <p:cNvSpPr>
            <a:spLocks noGrp="1"/>
          </p:cNvSpPr>
          <p:nvPr>
            <p:ph type="dt" sz="half" idx="10"/>
          </p:nvPr>
        </p:nvSpPr>
        <p:spPr/>
        <p:txBody>
          <a:bodyPr/>
          <a:lstStyle/>
          <a:p>
            <a:fld id="{7F90D390-F520-4D71-A1FC-12C7BF8022A2}"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780528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7F90D390-F520-4D71-A1FC-12C7BF8022A2}"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3040653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7F90D390-F520-4D71-A1FC-12C7BF8022A2}"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1725833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7F90D390-F520-4D71-A1FC-12C7BF8022A2}" type="datetimeFigureOut">
              <a:rPr lang="es-MX" smtClean="0"/>
              <a:t>03/10/2026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2009338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7F90D390-F520-4D71-A1FC-12C7BF8022A2}" type="datetimeFigureOut">
              <a:rPr lang="es-MX" smtClean="0"/>
              <a:t>03/10/2026</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2153693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7F90D390-F520-4D71-A1FC-12C7BF8022A2}" type="datetimeFigureOut">
              <a:rPr lang="es-MX" smtClean="0"/>
              <a:t>03/10/2026</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2213451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7F90D390-F520-4D71-A1FC-12C7BF8022A2}" type="datetimeFigureOut">
              <a:rPr lang="es-MX" smtClean="0"/>
              <a:t>03/10/2026</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1624553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7F90D390-F520-4D71-A1FC-12C7BF8022A2}" type="datetimeFigureOut">
              <a:rPr lang="es-MX" smtClean="0"/>
              <a:t>03/10/2026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3031689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7F90D390-F520-4D71-A1FC-12C7BF8022A2}" type="datetimeFigureOut">
              <a:rPr lang="es-MX" smtClean="0"/>
              <a:t>03/10/2026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962840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7F90D390-F520-4D71-A1FC-12C7BF8022A2}"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2058352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7F90D390-F520-4D71-A1FC-12C7BF8022A2}" type="datetimeFigureOut">
              <a:rPr lang="es-MX" smtClean="0"/>
              <a:t>03/10/2026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34A90EA-13CF-4546-A393-04EF022DDDEF}" type="slidenum">
              <a:rPr lang="es-MX" smtClean="0"/>
              <a:t>‹Nº›</a:t>
            </a:fld>
            <a:endParaRPr lang="es-MX"/>
          </a:p>
        </p:txBody>
      </p:sp>
    </p:spTree>
    <p:extLst>
      <p:ext uri="{BB962C8B-B14F-4D97-AF65-F5344CB8AC3E}">
        <p14:creationId xmlns:p14="http://schemas.microsoft.com/office/powerpoint/2010/main" val="810070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90D390-F520-4D71-A1FC-12C7BF8022A2}" type="datetimeFigureOut">
              <a:rPr lang="es-MX" smtClean="0"/>
              <a:t>03/10/2026</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4A90EA-13CF-4546-A393-04EF022DDDEF}" type="slidenum">
              <a:rPr lang="es-MX" smtClean="0"/>
              <a:t>‹Nº›</a:t>
            </a:fld>
            <a:endParaRPr lang="es-MX"/>
          </a:p>
        </p:txBody>
      </p:sp>
    </p:spTree>
    <p:extLst>
      <p:ext uri="{BB962C8B-B14F-4D97-AF65-F5344CB8AC3E}">
        <p14:creationId xmlns:p14="http://schemas.microsoft.com/office/powerpoint/2010/main" val="38557373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p:cNvGraphicFramePr>
            <a:graphicFrameLocks noGrp="1"/>
          </p:cNvGraphicFramePr>
          <p:nvPr>
            <p:extLst>
              <p:ext uri="{D42A27DB-BD31-4B8C-83A1-F6EECF244321}">
                <p14:modId xmlns:p14="http://schemas.microsoft.com/office/powerpoint/2010/main" val="46572169"/>
              </p:ext>
            </p:extLst>
          </p:nvPr>
        </p:nvGraphicFramePr>
        <p:xfrm>
          <a:off x="3025815" y="4355458"/>
          <a:ext cx="6407552" cy="621241"/>
        </p:xfrm>
        <a:graphic>
          <a:graphicData uri="http://schemas.openxmlformats.org/drawingml/2006/table">
            <a:tbl>
              <a:tblPr/>
              <a:tblGrid>
                <a:gridCol w="3203776">
                  <a:extLst>
                    <a:ext uri="{9D8B030D-6E8A-4147-A177-3AD203B41FA5}">
                      <a16:colId xmlns:a16="http://schemas.microsoft.com/office/drawing/2014/main" val="3868017447"/>
                    </a:ext>
                  </a:extLst>
                </a:gridCol>
                <a:gridCol w="3203776">
                  <a:extLst>
                    <a:ext uri="{9D8B030D-6E8A-4147-A177-3AD203B41FA5}">
                      <a16:colId xmlns:a16="http://schemas.microsoft.com/office/drawing/2014/main" val="590965609"/>
                    </a:ext>
                  </a:extLst>
                </a:gridCol>
              </a:tblGrid>
              <a:tr h="282067">
                <a:tc>
                  <a:txBody>
                    <a:bodyPr/>
                    <a:lstStyle/>
                    <a:p>
                      <a:r>
                        <a:rPr lang="es-MX" sz="1400" b="1">
                          <a:effectLst/>
                        </a:rPr>
                        <a:t>NOMBRE DEL ALUMNO</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1F4E79"/>
                    </a:solidFill>
                  </a:tcPr>
                </a:tc>
                <a:tc>
                  <a:txBody>
                    <a:bodyPr/>
                    <a:lstStyle/>
                    <a:p>
                      <a:r>
                        <a:rPr lang="es-MX" sz="1400" b="1" dirty="0">
                          <a:effectLst/>
                        </a:rPr>
                        <a:t>MATRICULA</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1F4E79"/>
                    </a:solidFill>
                  </a:tcPr>
                </a:tc>
                <a:extLst>
                  <a:ext uri="{0D108BD9-81ED-4DB2-BD59-A6C34878D82A}">
                    <a16:rowId xmlns:a16="http://schemas.microsoft.com/office/drawing/2014/main" val="106463554"/>
                  </a:ext>
                </a:extLst>
              </a:tr>
              <a:tr h="316441">
                <a:tc>
                  <a:txBody>
                    <a:bodyPr/>
                    <a:lstStyle/>
                    <a:p>
                      <a:r>
                        <a:rPr lang="es-MX" sz="1400" b="1" dirty="0">
                          <a:effectLst/>
                        </a:rPr>
                        <a:t>ROBERTO CARLOS CAHUARE MORENO</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s-MX" sz="1400" b="1" dirty="0">
                          <a:effectLst/>
                        </a:rPr>
                        <a:t>241260048</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8367146"/>
                  </a:ext>
                </a:extLst>
              </a:tr>
            </a:tbl>
          </a:graphicData>
        </a:graphic>
      </p:graphicFrame>
      <p:sp>
        <p:nvSpPr>
          <p:cNvPr id="5" name="Freeform 3"/>
          <p:cNvSpPr/>
          <p:nvPr/>
        </p:nvSpPr>
        <p:spPr>
          <a:xfrm>
            <a:off x="993976" y="278001"/>
            <a:ext cx="2490004" cy="983241"/>
          </a:xfrm>
          <a:custGeom>
            <a:avLst/>
            <a:gdLst/>
            <a:ahLst/>
            <a:cxnLst/>
            <a:rect l="l" t="t" r="r" b="b"/>
            <a:pathLst>
              <a:path w="3657995" h="1617378">
                <a:moveTo>
                  <a:pt x="0" y="0"/>
                </a:moveTo>
                <a:lnTo>
                  <a:pt x="3657995" y="0"/>
                </a:lnTo>
                <a:lnTo>
                  <a:pt x="3657995" y="1617378"/>
                </a:lnTo>
                <a:lnTo>
                  <a:pt x="0" y="1617378"/>
                </a:lnTo>
                <a:lnTo>
                  <a:pt x="0" y="0"/>
                </a:lnTo>
                <a:close/>
              </a:path>
            </a:pathLst>
          </a:custGeom>
          <a:blipFill>
            <a:blip r:embed="rId2"/>
            <a:stretch>
              <a:fillRect/>
            </a:stretch>
          </a:blipFill>
        </p:spPr>
      </p:sp>
      <p:sp>
        <p:nvSpPr>
          <p:cNvPr id="6" name="Freeform 4"/>
          <p:cNvSpPr/>
          <p:nvPr/>
        </p:nvSpPr>
        <p:spPr>
          <a:xfrm>
            <a:off x="9433367" y="433955"/>
            <a:ext cx="1569954" cy="1186503"/>
          </a:xfrm>
          <a:custGeom>
            <a:avLst/>
            <a:gdLst/>
            <a:ahLst/>
            <a:cxnLst/>
            <a:rect l="l" t="t" r="r" b="b"/>
            <a:pathLst>
              <a:path w="2777579" h="2263213">
                <a:moveTo>
                  <a:pt x="0" y="0"/>
                </a:moveTo>
                <a:lnTo>
                  <a:pt x="2777579" y="0"/>
                </a:lnTo>
                <a:lnTo>
                  <a:pt x="2777579" y="2263212"/>
                </a:lnTo>
                <a:lnTo>
                  <a:pt x="0" y="2263212"/>
                </a:lnTo>
                <a:lnTo>
                  <a:pt x="0" y="0"/>
                </a:lnTo>
                <a:close/>
              </a:path>
            </a:pathLst>
          </a:custGeom>
          <a:blipFill>
            <a:blip r:embed="rId3"/>
            <a:stretch>
              <a:fillRect/>
            </a:stretch>
          </a:blipFill>
        </p:spPr>
      </p:sp>
      <p:sp>
        <p:nvSpPr>
          <p:cNvPr id="7" name="TextBox 2"/>
          <p:cNvSpPr txBox="1"/>
          <p:nvPr/>
        </p:nvSpPr>
        <p:spPr>
          <a:xfrm>
            <a:off x="405116" y="769620"/>
            <a:ext cx="11460479" cy="6360716"/>
          </a:xfrm>
          <a:prstGeom prst="rect">
            <a:avLst/>
          </a:prstGeom>
        </p:spPr>
        <p:txBody>
          <a:bodyPr wrap="square" lIns="0" tIns="0" rIns="0" bIns="0" rtlCol="0" anchor="t">
            <a:spAutoFit/>
          </a:bodyPr>
          <a:lstStyle/>
          <a:p>
            <a:pPr algn="ctr">
              <a:lnSpc>
                <a:spcPts val="1563"/>
              </a:lnSpc>
            </a:pPr>
            <a:r>
              <a:rPr lang="en-US" sz="1050" b="1" dirty="0">
                <a:solidFill>
                  <a:srgbClr val="000000"/>
                </a:solidFill>
                <a:latin typeface="Open Sans Bold"/>
                <a:ea typeface="Open Sans Bold"/>
                <a:cs typeface="Open Sans Bold"/>
                <a:sym typeface="Open Sans Bold"/>
              </a:rPr>
              <a:t>                        </a:t>
            </a:r>
          </a:p>
          <a:p>
            <a:pPr algn="ctr">
              <a:lnSpc>
                <a:spcPts val="1563"/>
              </a:lnSpc>
            </a:pPr>
            <a:endParaRPr lang="en-US" sz="105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TECNOLÓGICO NACIONAL DE MÉXICO</a:t>
            </a:r>
          </a:p>
          <a:p>
            <a:pPr algn="ctr">
              <a:lnSpc>
                <a:spcPts val="2604"/>
              </a:lnSpc>
            </a:pPr>
            <a:r>
              <a:rPr lang="en-US" sz="1400" b="1" dirty="0">
                <a:solidFill>
                  <a:srgbClr val="000000"/>
                </a:solidFill>
                <a:latin typeface="Open Sans Bold"/>
                <a:ea typeface="Open Sans Bold"/>
                <a:cs typeface="Open Sans Bold"/>
                <a:sym typeface="Open Sans Bold"/>
              </a:rPr>
              <a:t>INSTITUTO TECNOLÓGICO DE FRONTERA COMALAPA</a:t>
            </a:r>
          </a:p>
          <a:p>
            <a:pPr algn="ctr">
              <a:lnSpc>
                <a:spcPts val="2604"/>
              </a:lnSpc>
            </a:pPr>
            <a:r>
              <a:rPr lang="en-US" sz="1400" b="1" dirty="0">
                <a:solidFill>
                  <a:srgbClr val="000000"/>
                </a:solidFill>
                <a:latin typeface="Open Sans Bold"/>
                <a:ea typeface="Open Sans Bold"/>
                <a:cs typeface="Open Sans Bold"/>
                <a:sym typeface="Open Sans Bold"/>
              </a:rPr>
              <a:t>UNIDAD VENUSTIANO CARRANZA</a:t>
            </a:r>
          </a:p>
          <a:p>
            <a:pPr algn="ctr">
              <a:lnSpc>
                <a:spcPts val="1563"/>
              </a:lnSpc>
            </a:pPr>
            <a:endParaRPr lang="en-US" sz="100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“INGENIERÍA EN SISTEMAS COMPUTACIONALES”</a:t>
            </a:r>
          </a:p>
          <a:p>
            <a:pPr algn="ctr">
              <a:lnSpc>
                <a:spcPts val="2604"/>
              </a:lnSpc>
            </a:pPr>
            <a:endParaRPr lang="en-US" sz="1400" b="1" dirty="0">
              <a:solidFill>
                <a:srgbClr val="000000"/>
              </a:solidFill>
              <a:latin typeface="Open Sans Bold"/>
              <a:ea typeface="Open Sans Bold"/>
              <a:cs typeface="Open Sans Bold"/>
              <a:sym typeface="Open Sans Bold"/>
            </a:endParaRPr>
          </a:p>
          <a:p>
            <a:pPr algn="ctr">
              <a:lnSpc>
                <a:spcPts val="2604"/>
              </a:lnSpc>
            </a:pPr>
            <a:r>
              <a:rPr lang="en-US" sz="1400" b="1" dirty="0">
                <a:solidFill>
                  <a:srgbClr val="000000"/>
                </a:solidFill>
                <a:latin typeface="Open Sans Bold"/>
                <a:ea typeface="Open Sans Bold"/>
                <a:cs typeface="Open Sans Bold"/>
                <a:sym typeface="Open Sans Bold"/>
              </a:rPr>
              <a:t>“SIMULACION”</a:t>
            </a:r>
          </a:p>
          <a:p>
            <a:pPr algn="ctr">
              <a:lnSpc>
                <a:spcPts val="2604"/>
              </a:lnSpc>
            </a:pPr>
            <a:r>
              <a:rPr lang="en-US" sz="1400" dirty="0">
                <a:solidFill>
                  <a:srgbClr val="000000"/>
                </a:solidFill>
                <a:latin typeface="Open Sans"/>
                <a:ea typeface="Open Sans"/>
                <a:cs typeface="Open Sans"/>
                <a:sym typeface="Open Sans"/>
              </a:rPr>
              <a:t> QUINTO SEMESTRE</a:t>
            </a:r>
          </a:p>
          <a:p>
            <a:pPr algn="ctr">
              <a:lnSpc>
                <a:spcPts val="2604"/>
              </a:lnSpc>
            </a:pPr>
            <a:r>
              <a:rPr lang="en-US" sz="1400" b="1" dirty="0">
                <a:solidFill>
                  <a:srgbClr val="000000"/>
                </a:solidFill>
                <a:latin typeface="Open Sans Bold"/>
                <a:ea typeface="Open Sans Bold"/>
                <a:cs typeface="Open Sans Bold"/>
                <a:sym typeface="Open Sans Bold"/>
              </a:rPr>
              <a:t>ACTIVIDAD</a:t>
            </a:r>
          </a:p>
          <a:p>
            <a:pPr algn="ctr">
              <a:lnSpc>
                <a:spcPts val="2604"/>
              </a:lnSpc>
            </a:pPr>
            <a:r>
              <a:rPr lang="en-US" sz="1600" dirty="0">
                <a:solidFill>
                  <a:srgbClr val="000000"/>
                </a:solidFill>
                <a:latin typeface="Open Sans"/>
                <a:ea typeface="Open Sans"/>
                <a:cs typeface="Open Sans"/>
                <a:sym typeface="Open Sans"/>
              </a:rPr>
              <a:t>CUADRO COMPARATIVO </a:t>
            </a:r>
            <a:r>
              <a:rPr lang="en-US" sz="1600" dirty="0" smtClean="0">
                <a:solidFill>
                  <a:srgbClr val="000000"/>
                </a:solidFill>
                <a:latin typeface="Open Sans"/>
                <a:ea typeface="Open Sans"/>
                <a:cs typeface="Open Sans"/>
                <a:sym typeface="Open Sans"/>
              </a:rPr>
              <a:t>DEL ECENARIO ACTUAL Y MEJORADO DEL TALLER DE ELECTRONICO</a:t>
            </a: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r>
              <a:rPr lang="en-US" sz="1400" b="1" dirty="0">
                <a:solidFill>
                  <a:srgbClr val="000000"/>
                </a:solidFill>
                <a:latin typeface="Open Sans Bold"/>
                <a:ea typeface="Open Sans Bold"/>
                <a:cs typeface="Open Sans Bold"/>
                <a:sym typeface="Open Sans Bold"/>
              </a:rPr>
              <a:t>PROFESOR</a:t>
            </a:r>
          </a:p>
          <a:p>
            <a:pPr algn="ctr">
              <a:lnSpc>
                <a:spcPts val="2604"/>
              </a:lnSpc>
            </a:pPr>
            <a:r>
              <a:rPr lang="en-US" sz="1400" dirty="0">
                <a:solidFill>
                  <a:srgbClr val="000000"/>
                </a:solidFill>
                <a:latin typeface="Open Sans"/>
                <a:ea typeface="Open Sans"/>
                <a:cs typeface="Open Sans"/>
                <a:sym typeface="Open Sans"/>
              </a:rPr>
              <a:t>ING. FRANCISCO JAVIER VELÁZQUEZ MINGO</a:t>
            </a: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endParaRPr lang="en-US" sz="1600" dirty="0">
              <a:solidFill>
                <a:srgbClr val="000000"/>
              </a:solidFill>
              <a:latin typeface="Open Sans"/>
              <a:ea typeface="Open Sans"/>
              <a:cs typeface="Open Sans"/>
              <a:sym typeface="Open Sans"/>
            </a:endParaRPr>
          </a:p>
          <a:p>
            <a:pPr algn="ctr">
              <a:lnSpc>
                <a:spcPts val="2604"/>
              </a:lnSpc>
            </a:pPr>
            <a:r>
              <a:rPr lang="en-US" sz="1400" b="1" dirty="0">
                <a:solidFill>
                  <a:srgbClr val="000000"/>
                </a:solidFill>
                <a:latin typeface="Open Sans Bold"/>
                <a:ea typeface="Open Sans Bold"/>
                <a:cs typeface="Open Sans Bold"/>
                <a:sym typeface="Open Sans Bold"/>
              </a:rPr>
              <a:t>                                                                                                  </a:t>
            </a:r>
            <a:r>
              <a:rPr lang="en-US" sz="1400" b="1" dirty="0" smtClean="0">
                <a:solidFill>
                  <a:srgbClr val="000000"/>
                </a:solidFill>
                <a:latin typeface="Open Sans Bold"/>
                <a:ea typeface="Open Sans Bold"/>
                <a:cs typeface="Open Sans Bold"/>
                <a:sym typeface="Open Sans Bold"/>
              </a:rPr>
              <a:t>4 </a:t>
            </a:r>
            <a:r>
              <a:rPr lang="en-US" sz="1400" b="1" dirty="0">
                <a:solidFill>
                  <a:srgbClr val="000000"/>
                </a:solidFill>
                <a:latin typeface="Open Sans Bold"/>
                <a:ea typeface="Open Sans Bold"/>
                <a:cs typeface="Open Sans Bold"/>
                <a:sym typeface="Open Sans Bold"/>
              </a:rPr>
              <a:t>DE OCTUBRE DEL 2026 VENUSTIANO CARRANZA, CHIAPAS</a:t>
            </a:r>
          </a:p>
          <a:p>
            <a:pPr algn="ctr">
              <a:lnSpc>
                <a:spcPts val="1563"/>
              </a:lnSpc>
            </a:pPr>
            <a:endParaRPr lang="en-US" sz="1600" b="1" dirty="0">
              <a:solidFill>
                <a:srgbClr val="000000"/>
              </a:solidFill>
              <a:latin typeface="Open Sans Bold"/>
              <a:ea typeface="Open Sans Bold"/>
              <a:cs typeface="Open Sans Bold"/>
              <a:sym typeface="Open Sans Bold"/>
            </a:endParaRPr>
          </a:p>
          <a:p>
            <a:pPr algn="ctr">
              <a:lnSpc>
                <a:spcPts val="1563"/>
              </a:lnSpc>
            </a:pPr>
            <a:endParaRPr lang="en-US" sz="1600" b="1" dirty="0">
              <a:solidFill>
                <a:srgbClr val="000000"/>
              </a:solidFill>
              <a:latin typeface="Open Sans Bold"/>
              <a:ea typeface="Open Sans Bold"/>
              <a:cs typeface="Open Sans Bold"/>
              <a:sym typeface="Open Sans Bold"/>
            </a:endParaRPr>
          </a:p>
        </p:txBody>
      </p:sp>
    </p:spTree>
    <p:extLst>
      <p:ext uri="{BB962C8B-B14F-4D97-AF65-F5344CB8AC3E}">
        <p14:creationId xmlns:p14="http://schemas.microsoft.com/office/powerpoint/2010/main" val="4205610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a:latin typeface="Arial" panose="020B0604020202020204" pitchFamily="34" charset="0"/>
                <a:cs typeface="Arial" panose="020B0604020202020204" pitchFamily="34" charset="0"/>
              </a:rPr>
              <a:t>INTRODUCCIÓN</a:t>
            </a:r>
          </a:p>
        </p:txBody>
      </p:sp>
      <p:sp>
        <p:nvSpPr>
          <p:cNvPr id="3" name="CuadroTexto 2"/>
          <p:cNvSpPr txBox="1"/>
          <p:nvPr/>
        </p:nvSpPr>
        <p:spPr>
          <a:xfrm>
            <a:off x="1391132" y="1222130"/>
            <a:ext cx="9676436" cy="4611519"/>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La presente actividad tiene como finalidad realizar un cuadro comparativo de las simulaciones desarrolladas en los lenguajes de programación R, Python y </a:t>
            </a:r>
            <a:r>
              <a:rPr lang="es-MX" dirty="0" err="1" smtClean="0">
                <a:latin typeface="Arial" panose="020B0604020202020204" pitchFamily="34" charset="0"/>
                <a:cs typeface="Arial" panose="020B0604020202020204" pitchFamily="34" charset="0"/>
              </a:rPr>
              <a:t>JavaFX</a:t>
            </a:r>
            <a:r>
              <a:rPr lang="es-MX" dirty="0" smtClean="0">
                <a:latin typeface="Arial" panose="020B0604020202020204" pitchFamily="34" charset="0"/>
                <a:cs typeface="Arial" panose="020B0604020202020204" pitchFamily="34" charset="0"/>
              </a:rPr>
              <a:t>, considerando dos versiones del mismo proceso: el escenario actual y el escenario mejorado. En ambos escenarios se representa el funcionamiento de un Taller de Electrónica, donde los equipos pasan por diferentes etapas, desde su recepción y diagnóstico hasta la reparación, pruebas de calidad y </a:t>
            </a:r>
            <a:r>
              <a:rPr lang="es-MX" dirty="0" err="1" smtClean="0">
                <a:latin typeface="Arial" panose="020B0604020202020204" pitchFamily="34" charset="0"/>
                <a:cs typeface="Arial" panose="020B0604020202020204" pitchFamily="34" charset="0"/>
              </a:rPr>
              <a:t>entrega.La</a:t>
            </a:r>
            <a:r>
              <a:rPr lang="es-MX" dirty="0" smtClean="0">
                <a:latin typeface="Arial" panose="020B0604020202020204" pitchFamily="34" charset="0"/>
                <a:cs typeface="Arial" panose="020B0604020202020204" pitchFamily="34" charset="0"/>
              </a:rPr>
              <a:t> comparación permite observar cómo se comporta el proceso inicialmente y qué cambios se presentan después de aplicar mejoras relacionadas principalmente con la capacidad de atención en la etapa de reparación. Asimismo, se analiza cómo los tres lenguajes de programación permiten representar el mismo proceso mediante simulaciones, identificando las semejanzas y diferencias existentes entre las versiones desarrolladas.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7786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a:latin typeface="Arial" panose="020B0604020202020204" pitchFamily="34" charset="0"/>
                <a:cs typeface="Arial" panose="020B0604020202020204" pitchFamily="34" charset="0"/>
              </a:rPr>
              <a:t>JUSTIFICACIÓN</a:t>
            </a:r>
          </a:p>
        </p:txBody>
      </p:sp>
      <p:sp>
        <p:nvSpPr>
          <p:cNvPr id="3" name="CuadroTexto 2"/>
          <p:cNvSpPr txBox="1"/>
          <p:nvPr/>
        </p:nvSpPr>
        <p:spPr>
          <a:xfrm>
            <a:off x="1391132" y="1222130"/>
            <a:ext cx="9676436" cy="4611519"/>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La realización de esta actividad es importante porque permite analizar de manera práctica el comportamiento de un proceso antes y después de implementar una mejora. Mediante las simulaciones es posible identificar problemas dentro del flujo de trabajo, especialmente aquellos relacionados con la acumulación de equipos y los cuellos de botella que pueden presentarse durante la </a:t>
            </a:r>
            <a:r>
              <a:rPr lang="es-MX" dirty="0" err="1" smtClean="0">
                <a:latin typeface="Arial" panose="020B0604020202020204" pitchFamily="34" charset="0"/>
                <a:cs typeface="Arial" panose="020B0604020202020204" pitchFamily="34" charset="0"/>
              </a:rPr>
              <a:t>reparación.La</a:t>
            </a:r>
            <a:r>
              <a:rPr lang="es-MX" dirty="0" smtClean="0">
                <a:latin typeface="Arial" panose="020B0604020202020204" pitchFamily="34" charset="0"/>
                <a:cs typeface="Arial" panose="020B0604020202020204" pitchFamily="34" charset="0"/>
              </a:rPr>
              <a:t> comparación entre el escenario actual y el escenario mejorado permite comprender cómo una modificación en los recursos disponibles puede influir en el funcionamiento general del proceso. Además, desarrollar la misma simulación en R, Python y </a:t>
            </a:r>
            <a:r>
              <a:rPr lang="es-MX" dirty="0" err="1" smtClean="0">
                <a:latin typeface="Arial" panose="020B0604020202020204" pitchFamily="34" charset="0"/>
                <a:cs typeface="Arial" panose="020B0604020202020204" pitchFamily="34" charset="0"/>
              </a:rPr>
              <a:t>JavaFX</a:t>
            </a:r>
            <a:r>
              <a:rPr lang="es-MX" dirty="0" smtClean="0">
                <a:latin typeface="Arial" panose="020B0604020202020204" pitchFamily="34" charset="0"/>
                <a:cs typeface="Arial" panose="020B0604020202020204" pitchFamily="34" charset="0"/>
              </a:rPr>
              <a:t> permite observar diferentes formas de representar y visualizar un mismo problema mediante distintos lenguajes de </a:t>
            </a:r>
            <a:r>
              <a:rPr lang="es-MX" dirty="0" err="1" smtClean="0">
                <a:latin typeface="Arial" panose="020B0604020202020204" pitchFamily="34" charset="0"/>
                <a:cs typeface="Arial" panose="020B0604020202020204" pitchFamily="34" charset="0"/>
              </a:rPr>
              <a:t>programación.De</a:t>
            </a:r>
            <a:r>
              <a:rPr lang="es-MX" dirty="0" smtClean="0">
                <a:latin typeface="Arial" panose="020B0604020202020204" pitchFamily="34" charset="0"/>
                <a:cs typeface="Arial" panose="020B0604020202020204" pitchFamily="34" charset="0"/>
              </a:rPr>
              <a:t> esta manera, el cuadro comparativo facilita la identificación de los cambios realizados, sus efectos dentro de la simulación y las características que comparten las tres implementaciones.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4001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316523"/>
            <a:ext cx="10700238" cy="523220"/>
          </a:xfrm>
          <a:prstGeom prst="rect">
            <a:avLst/>
          </a:prstGeom>
          <a:noFill/>
        </p:spPr>
        <p:txBody>
          <a:bodyPr wrap="square" rtlCol="0">
            <a:spAutoFit/>
          </a:bodyPr>
          <a:lstStyle/>
          <a:p>
            <a:pPr algn="ctr"/>
            <a:r>
              <a:rPr lang="es-MX" sz="2800" b="1" dirty="0">
                <a:latin typeface="Arial" panose="020B0604020202020204" pitchFamily="34" charset="0"/>
                <a:cs typeface="Arial" panose="020B0604020202020204" pitchFamily="34" charset="0"/>
              </a:rPr>
              <a:t>OBJETIVOS</a:t>
            </a:r>
          </a:p>
        </p:txBody>
      </p:sp>
      <p:sp>
        <p:nvSpPr>
          <p:cNvPr id="3" name="CuadroTexto 2"/>
          <p:cNvSpPr txBox="1"/>
          <p:nvPr/>
        </p:nvSpPr>
        <p:spPr>
          <a:xfrm>
            <a:off x="694593" y="752999"/>
            <a:ext cx="11280530" cy="5909310"/>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Objetivo general</a:t>
            </a:r>
          </a:p>
          <a:p>
            <a:pPr algn="just">
              <a:lnSpc>
                <a:spcPct val="150000"/>
              </a:lnSpc>
            </a:pPr>
            <a:r>
              <a:rPr lang="es-MX" dirty="0" smtClean="0">
                <a:latin typeface="Arial" panose="020B0604020202020204" pitchFamily="34" charset="0"/>
                <a:cs typeface="Arial" panose="020B0604020202020204" pitchFamily="34" charset="0"/>
              </a:rPr>
              <a:t>Comparar el escenario actual y el escenario mejorado de la simulación del Taller de Electrónica, desarrollados en los lenguajes R, Python y </a:t>
            </a:r>
            <a:r>
              <a:rPr lang="es-MX" dirty="0" err="1" smtClean="0">
                <a:latin typeface="Arial" panose="020B0604020202020204" pitchFamily="34" charset="0"/>
                <a:cs typeface="Arial" panose="020B0604020202020204" pitchFamily="34" charset="0"/>
              </a:rPr>
              <a:t>JavaFX</a:t>
            </a:r>
            <a:r>
              <a:rPr lang="es-MX" dirty="0" smtClean="0">
                <a:latin typeface="Arial" panose="020B0604020202020204" pitchFamily="34" charset="0"/>
                <a:cs typeface="Arial" panose="020B0604020202020204" pitchFamily="34" charset="0"/>
              </a:rPr>
              <a:t>, con la finalidad de identificar los principales cambios realizados y su efecto en el funcionamiento del proceso.</a:t>
            </a:r>
          </a:p>
          <a:p>
            <a:pPr algn="just">
              <a:lnSpc>
                <a:spcPct val="150000"/>
              </a:lnSpc>
            </a:pPr>
            <a:r>
              <a:rPr lang="es-MX" dirty="0" smtClean="0">
                <a:latin typeface="Arial" panose="020B0604020202020204" pitchFamily="34" charset="0"/>
                <a:cs typeface="Arial" panose="020B0604020202020204" pitchFamily="34" charset="0"/>
              </a:rPr>
              <a:t>Objetivos específicos</a:t>
            </a:r>
          </a:p>
          <a:p>
            <a:pPr algn="just">
              <a:lnSpc>
                <a:spcPct val="150000"/>
              </a:lnSpc>
            </a:pPr>
            <a:r>
              <a:rPr lang="es-MX" dirty="0" smtClean="0">
                <a:latin typeface="Arial" panose="020B0604020202020204" pitchFamily="34" charset="0"/>
                <a:cs typeface="Arial" panose="020B0604020202020204" pitchFamily="34" charset="0"/>
              </a:rPr>
              <a:t>Analizar el funcionamiento del escenario actual de la simulación del Taller de Electrónica.</a:t>
            </a:r>
          </a:p>
          <a:p>
            <a:pPr algn="just">
              <a:lnSpc>
                <a:spcPct val="150000"/>
              </a:lnSpc>
            </a:pPr>
            <a:r>
              <a:rPr lang="es-MX" dirty="0" smtClean="0">
                <a:latin typeface="Arial" panose="020B0604020202020204" pitchFamily="34" charset="0"/>
                <a:cs typeface="Arial" panose="020B0604020202020204" pitchFamily="34" charset="0"/>
              </a:rPr>
              <a:t>Identificar las modificaciones realizadas en el escenario mejorado.</a:t>
            </a:r>
          </a:p>
          <a:p>
            <a:pPr algn="just">
              <a:lnSpc>
                <a:spcPct val="150000"/>
              </a:lnSpc>
            </a:pPr>
            <a:r>
              <a:rPr lang="es-MX" dirty="0" smtClean="0">
                <a:latin typeface="Arial" panose="020B0604020202020204" pitchFamily="34" charset="0"/>
                <a:cs typeface="Arial" panose="020B0604020202020204" pitchFamily="34" charset="0"/>
              </a:rPr>
              <a:t>Comparar el comportamiento del proceso antes y después de aplicar las mejoras.</a:t>
            </a:r>
          </a:p>
          <a:p>
            <a:pPr algn="just">
              <a:lnSpc>
                <a:spcPct val="150000"/>
              </a:lnSpc>
            </a:pPr>
            <a:r>
              <a:rPr lang="es-MX" dirty="0" smtClean="0">
                <a:latin typeface="Arial" panose="020B0604020202020204" pitchFamily="34" charset="0"/>
                <a:cs typeface="Arial" panose="020B0604020202020204" pitchFamily="34" charset="0"/>
              </a:rPr>
              <a:t>Analizar cómo se representa el proceso de simulación en R, Python y </a:t>
            </a:r>
            <a:r>
              <a:rPr lang="es-MX" dirty="0" err="1" smtClean="0">
                <a:latin typeface="Arial" panose="020B0604020202020204" pitchFamily="34" charset="0"/>
                <a:cs typeface="Arial" panose="020B0604020202020204" pitchFamily="34" charset="0"/>
              </a:rPr>
              <a:t>JavaFX</a:t>
            </a:r>
            <a:r>
              <a:rPr lang="es-MX" dirty="0" smtClean="0">
                <a:latin typeface="Arial" panose="020B0604020202020204" pitchFamily="34" charset="0"/>
                <a:cs typeface="Arial" panose="020B0604020202020204" pitchFamily="34" charset="0"/>
              </a:rPr>
              <a:t>.</a:t>
            </a:r>
          </a:p>
          <a:p>
            <a:pPr algn="just">
              <a:lnSpc>
                <a:spcPct val="150000"/>
              </a:lnSpc>
            </a:pPr>
            <a:r>
              <a:rPr lang="es-MX" dirty="0" smtClean="0">
                <a:latin typeface="Arial" panose="020B0604020202020204" pitchFamily="34" charset="0"/>
                <a:cs typeface="Arial" panose="020B0604020202020204" pitchFamily="34" charset="0"/>
              </a:rPr>
              <a:t>Identificar las principales diferencias y semejanzas entre las simulaciones desarrolladas en los tres lenguajes.</a:t>
            </a:r>
          </a:p>
          <a:p>
            <a:pPr algn="just">
              <a:lnSpc>
                <a:spcPct val="150000"/>
              </a:lnSpc>
            </a:pPr>
            <a:r>
              <a:rPr lang="es-MX" dirty="0" smtClean="0">
                <a:latin typeface="Arial" panose="020B0604020202020204" pitchFamily="34" charset="0"/>
                <a:cs typeface="Arial" panose="020B0604020202020204" pitchFamily="34" charset="0"/>
              </a:rPr>
              <a:t>Observar el efecto de la modificación de los recursos destinados a la etapa de reparación sobre el flujo de los equipos.</a:t>
            </a:r>
          </a:p>
          <a:p>
            <a:pPr algn="just">
              <a:lnSpc>
                <a:spcPct val="150000"/>
              </a:lnSpc>
            </a:pPr>
            <a:r>
              <a:rPr lang="es-MX" dirty="0" smtClean="0">
                <a:latin typeface="Arial" panose="020B0604020202020204" pitchFamily="34" charset="0"/>
                <a:cs typeface="Arial" panose="020B0604020202020204" pitchFamily="34" charset="0"/>
              </a:rPr>
              <a:t>Reconocer la importancia de las simulaciones para analizar procesos y detectar posibles cuellos de botella.</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4942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p:cNvGraphicFramePr>
            <a:graphicFrameLocks noGrp="1"/>
          </p:cNvGraphicFramePr>
          <p:nvPr>
            <p:extLst>
              <p:ext uri="{D42A27DB-BD31-4B8C-83A1-F6EECF244321}">
                <p14:modId xmlns:p14="http://schemas.microsoft.com/office/powerpoint/2010/main" val="1451258680"/>
              </p:ext>
            </p:extLst>
          </p:nvPr>
        </p:nvGraphicFramePr>
        <p:xfrm>
          <a:off x="422031" y="624309"/>
          <a:ext cx="11509128" cy="6040120"/>
        </p:xfrm>
        <a:graphic>
          <a:graphicData uri="http://schemas.openxmlformats.org/drawingml/2006/table">
            <a:tbl>
              <a:tblPr firstRow="1" bandRow="1">
                <a:tableStyleId>{21E4AEA4-8DFA-4A89-87EB-49C32662AFE0}</a:tableStyleId>
              </a:tblPr>
              <a:tblGrid>
                <a:gridCol w="1918188">
                  <a:extLst>
                    <a:ext uri="{9D8B030D-6E8A-4147-A177-3AD203B41FA5}">
                      <a16:colId xmlns:a16="http://schemas.microsoft.com/office/drawing/2014/main" val="332815218"/>
                    </a:ext>
                  </a:extLst>
                </a:gridCol>
                <a:gridCol w="1918188">
                  <a:extLst>
                    <a:ext uri="{9D8B030D-6E8A-4147-A177-3AD203B41FA5}">
                      <a16:colId xmlns:a16="http://schemas.microsoft.com/office/drawing/2014/main" val="555936405"/>
                    </a:ext>
                  </a:extLst>
                </a:gridCol>
                <a:gridCol w="1918188">
                  <a:extLst>
                    <a:ext uri="{9D8B030D-6E8A-4147-A177-3AD203B41FA5}">
                      <a16:colId xmlns:a16="http://schemas.microsoft.com/office/drawing/2014/main" val="1106946201"/>
                    </a:ext>
                  </a:extLst>
                </a:gridCol>
                <a:gridCol w="1918188">
                  <a:extLst>
                    <a:ext uri="{9D8B030D-6E8A-4147-A177-3AD203B41FA5}">
                      <a16:colId xmlns:a16="http://schemas.microsoft.com/office/drawing/2014/main" val="3606981555"/>
                    </a:ext>
                  </a:extLst>
                </a:gridCol>
                <a:gridCol w="1918188">
                  <a:extLst>
                    <a:ext uri="{9D8B030D-6E8A-4147-A177-3AD203B41FA5}">
                      <a16:colId xmlns:a16="http://schemas.microsoft.com/office/drawing/2014/main" val="1856864384"/>
                    </a:ext>
                  </a:extLst>
                </a:gridCol>
                <a:gridCol w="1918188">
                  <a:extLst>
                    <a:ext uri="{9D8B030D-6E8A-4147-A177-3AD203B41FA5}">
                      <a16:colId xmlns:a16="http://schemas.microsoft.com/office/drawing/2014/main" val="124858718"/>
                    </a:ext>
                  </a:extLst>
                </a:gridCol>
              </a:tblGrid>
              <a:tr h="370840">
                <a:tc>
                  <a:txBody>
                    <a:bodyPr/>
                    <a:lstStyle/>
                    <a:p>
                      <a:pPr algn="ctr"/>
                      <a:r>
                        <a:rPr lang="es-MX" sz="1200" dirty="0" smtClean="0"/>
                        <a:t>Aspecto</a:t>
                      </a:r>
                      <a:endParaRPr lang="es-MX" sz="1200" dirty="0"/>
                    </a:p>
                  </a:txBody>
                  <a:tcPr anchor="ctr"/>
                </a:tc>
                <a:tc>
                  <a:txBody>
                    <a:bodyPr/>
                    <a:lstStyle/>
                    <a:p>
                      <a:pPr algn="ctr"/>
                      <a:r>
                        <a:rPr lang="es-MX" sz="1200" dirty="0" smtClean="0"/>
                        <a:t>Escenario actual – R</a:t>
                      </a:r>
                      <a:endParaRPr lang="es-MX" sz="1200" dirty="0"/>
                    </a:p>
                  </a:txBody>
                  <a:tcPr anchor="ctr"/>
                </a:tc>
                <a:tc>
                  <a:txBody>
                    <a:bodyPr/>
                    <a:lstStyle/>
                    <a:p>
                      <a:pPr algn="ctr"/>
                      <a:r>
                        <a:rPr lang="es-MX" sz="1200" dirty="0" smtClean="0"/>
                        <a:t>Escenario mejorado – R</a:t>
                      </a:r>
                      <a:endParaRPr lang="es-MX" sz="1200" dirty="0"/>
                    </a:p>
                  </a:txBody>
                  <a:tcPr anchor="ctr"/>
                </a:tc>
                <a:tc>
                  <a:txBody>
                    <a:bodyPr/>
                    <a:lstStyle/>
                    <a:p>
                      <a:pPr algn="ctr"/>
                      <a:r>
                        <a:rPr lang="es-MX" sz="1200" dirty="0" smtClean="0"/>
                        <a:t>Escenario actual – Python</a:t>
                      </a:r>
                      <a:endParaRPr lang="es-MX" sz="1200" dirty="0"/>
                    </a:p>
                  </a:txBody>
                  <a:tcPr anchor="ctr"/>
                </a:tc>
                <a:tc>
                  <a:txBody>
                    <a:bodyPr/>
                    <a:lstStyle/>
                    <a:p>
                      <a:pPr algn="ctr"/>
                      <a:r>
                        <a:rPr lang="es-MX" sz="1200" dirty="0" smtClean="0"/>
                        <a:t>Escenario mejorado – Python</a:t>
                      </a:r>
                      <a:endParaRPr lang="es-MX" sz="1200" dirty="0"/>
                    </a:p>
                  </a:txBody>
                  <a:tcPr anchor="ctr"/>
                </a:tc>
                <a:tc>
                  <a:txBody>
                    <a:bodyPr/>
                    <a:lstStyle/>
                    <a:p>
                      <a:pPr algn="ctr"/>
                      <a:r>
                        <a:rPr lang="es-MX" sz="1200" dirty="0" err="1" smtClean="0"/>
                        <a:t>JavaFX</a:t>
                      </a:r>
                      <a:r>
                        <a:rPr lang="es-MX" sz="1200" dirty="0" smtClean="0"/>
                        <a:t> – Actual y mejorado</a:t>
                      </a:r>
                      <a:endParaRPr lang="es-MX" sz="1200" dirty="0"/>
                    </a:p>
                  </a:txBody>
                  <a:tcPr anchor="ctr"/>
                </a:tc>
                <a:extLst>
                  <a:ext uri="{0D108BD9-81ED-4DB2-BD59-A6C34878D82A}">
                    <a16:rowId xmlns:a16="http://schemas.microsoft.com/office/drawing/2014/main" val="1289209584"/>
                  </a:ext>
                </a:extLst>
              </a:tr>
              <a:tr h="370840">
                <a:tc>
                  <a:txBody>
                    <a:bodyPr/>
                    <a:lstStyle/>
                    <a:p>
                      <a:pPr algn="ctr"/>
                      <a:r>
                        <a:rPr lang="es-MX" sz="1200" dirty="0" smtClean="0"/>
                        <a:t>Cantidad de técnicos en reparación</a:t>
                      </a:r>
                      <a:endParaRPr lang="es-MX" sz="1200" dirty="0"/>
                    </a:p>
                  </a:txBody>
                  <a:tcPr anchor="ctr">
                    <a:solidFill>
                      <a:srgbClr val="92D050"/>
                    </a:solidFill>
                  </a:tcPr>
                </a:tc>
                <a:tc>
                  <a:txBody>
                    <a:bodyPr/>
                    <a:lstStyle/>
                    <a:p>
                      <a:pPr algn="ctr"/>
                      <a:r>
                        <a:rPr lang="es-MX" sz="1200" dirty="0" smtClean="0"/>
                        <a:t>1 técnico</a:t>
                      </a:r>
                      <a:endParaRPr lang="es-MX" sz="1200" dirty="0"/>
                    </a:p>
                  </a:txBody>
                  <a:tcPr anchor="ctr"/>
                </a:tc>
                <a:tc>
                  <a:txBody>
                    <a:bodyPr/>
                    <a:lstStyle/>
                    <a:p>
                      <a:pPr algn="ctr"/>
                      <a:r>
                        <a:rPr lang="es-MX" sz="1200" dirty="0" smtClean="0"/>
                        <a:t>Permite aumentar hasta 3 técnicos</a:t>
                      </a:r>
                      <a:endParaRPr lang="es-MX" sz="1200" dirty="0"/>
                    </a:p>
                  </a:txBody>
                  <a:tcPr anchor="ctr"/>
                </a:tc>
                <a:tc>
                  <a:txBody>
                    <a:bodyPr/>
                    <a:lstStyle/>
                    <a:p>
                      <a:pPr algn="ctr"/>
                      <a:r>
                        <a:rPr lang="es-MX" sz="1200" dirty="0" smtClean="0"/>
                        <a:t>1 técnico</a:t>
                      </a:r>
                      <a:endParaRPr lang="es-MX" sz="1200" dirty="0"/>
                    </a:p>
                  </a:txBody>
                  <a:tcPr anchor="ctr"/>
                </a:tc>
                <a:tc>
                  <a:txBody>
                    <a:bodyPr/>
                    <a:lstStyle/>
                    <a:p>
                      <a:pPr algn="ctr"/>
                      <a:r>
                        <a:rPr lang="es-MX" sz="1200" dirty="0" smtClean="0"/>
                        <a:t>Permite aumentar hasta 3 técnicos</a:t>
                      </a:r>
                      <a:endParaRPr lang="es-MX" sz="1200" dirty="0"/>
                    </a:p>
                  </a:txBody>
                  <a:tcPr anchor="ctr"/>
                </a:tc>
                <a:tc>
                  <a:txBody>
                    <a:bodyPr/>
                    <a:lstStyle/>
                    <a:p>
                      <a:pPr algn="ctr"/>
                      <a:r>
                        <a:rPr lang="es-MX" sz="1200" dirty="0" smtClean="0"/>
                        <a:t>Se incorpora la posibilidad de modificar la cantidad de técnicos en reparación</a:t>
                      </a:r>
                      <a:endParaRPr lang="es-MX" sz="1200" dirty="0"/>
                    </a:p>
                  </a:txBody>
                  <a:tcPr anchor="ctr"/>
                </a:tc>
                <a:extLst>
                  <a:ext uri="{0D108BD9-81ED-4DB2-BD59-A6C34878D82A}">
                    <a16:rowId xmlns:a16="http://schemas.microsoft.com/office/drawing/2014/main" val="1035333552"/>
                  </a:ext>
                </a:extLst>
              </a:tr>
              <a:tr h="370840">
                <a:tc>
                  <a:txBody>
                    <a:bodyPr/>
                    <a:lstStyle/>
                    <a:p>
                      <a:pPr algn="ctr"/>
                      <a:r>
                        <a:rPr lang="es-MX" sz="1200" dirty="0" smtClean="0"/>
                        <a:t>Atención de reparaciones</a:t>
                      </a:r>
                      <a:endParaRPr lang="es-MX" sz="1200" dirty="0"/>
                    </a:p>
                  </a:txBody>
                  <a:tcPr anchor="ctr">
                    <a:solidFill>
                      <a:srgbClr val="92D050"/>
                    </a:solidFill>
                  </a:tcPr>
                </a:tc>
                <a:tc>
                  <a:txBody>
                    <a:bodyPr/>
                    <a:lstStyle/>
                    <a:p>
                      <a:pPr algn="ctr"/>
                      <a:r>
                        <a:rPr lang="es-MX" sz="1200" dirty="0" smtClean="0"/>
                        <a:t>Las reparaciones se procesan de manera individual</a:t>
                      </a:r>
                      <a:endParaRPr lang="es-MX" sz="1200" dirty="0"/>
                    </a:p>
                  </a:txBody>
                  <a:tcPr anchor="ctr"/>
                </a:tc>
                <a:tc>
                  <a:txBody>
                    <a:bodyPr/>
                    <a:lstStyle/>
                    <a:p>
                      <a:pPr algn="ctr"/>
                      <a:r>
                        <a:rPr lang="es-MX" sz="1200" dirty="0" smtClean="0"/>
                        <a:t>Permite procesar varias reparaciones en paralelo</a:t>
                      </a:r>
                      <a:endParaRPr lang="es-MX" sz="1200" dirty="0"/>
                    </a:p>
                  </a:txBody>
                  <a:tcPr anchor="ctr"/>
                </a:tc>
                <a:tc>
                  <a:txBody>
                    <a:bodyPr/>
                    <a:lstStyle/>
                    <a:p>
                      <a:pPr algn="ctr"/>
                      <a:r>
                        <a:rPr lang="es-MX" sz="1200" dirty="0" smtClean="0"/>
                        <a:t>Las reparaciones se procesan de manera individual</a:t>
                      </a:r>
                      <a:endParaRPr lang="es-MX" sz="1200" dirty="0"/>
                    </a:p>
                  </a:txBody>
                  <a:tcPr anchor="ctr"/>
                </a:tc>
                <a:tc>
                  <a:txBody>
                    <a:bodyPr/>
                    <a:lstStyle/>
                    <a:p>
                      <a:pPr algn="ctr"/>
                      <a:r>
                        <a:rPr lang="es-MX" sz="1200" dirty="0" smtClean="0"/>
                        <a:t>Permite atender varias reparaciones simultáneamente</a:t>
                      </a:r>
                      <a:endParaRPr lang="es-MX" sz="1200" dirty="0"/>
                    </a:p>
                  </a:txBody>
                  <a:tcPr anchor="ctr"/>
                </a:tc>
                <a:tc>
                  <a:txBody>
                    <a:bodyPr/>
                    <a:lstStyle/>
                    <a:p>
                      <a:pPr algn="ctr"/>
                      <a:r>
                        <a:rPr lang="es-MX" sz="1200" dirty="0" smtClean="0"/>
                        <a:t>Se mejora la capacidad de atención de reparaciones</a:t>
                      </a:r>
                      <a:endParaRPr lang="es-MX" sz="1200" dirty="0"/>
                    </a:p>
                  </a:txBody>
                  <a:tcPr anchor="ctr"/>
                </a:tc>
                <a:extLst>
                  <a:ext uri="{0D108BD9-81ED-4DB2-BD59-A6C34878D82A}">
                    <a16:rowId xmlns:a16="http://schemas.microsoft.com/office/drawing/2014/main" val="3508852890"/>
                  </a:ext>
                </a:extLst>
              </a:tr>
              <a:tr h="370840">
                <a:tc>
                  <a:txBody>
                    <a:bodyPr/>
                    <a:lstStyle/>
                    <a:p>
                      <a:pPr algn="ctr"/>
                      <a:r>
                        <a:rPr lang="es-MX" sz="1200" dirty="0" smtClean="0"/>
                        <a:t>Cuello de botella</a:t>
                      </a:r>
                      <a:endParaRPr lang="es-MX" sz="1200" dirty="0"/>
                    </a:p>
                  </a:txBody>
                  <a:tcPr anchor="ctr">
                    <a:solidFill>
                      <a:srgbClr val="92D050"/>
                    </a:solidFill>
                  </a:tcPr>
                </a:tc>
                <a:tc>
                  <a:txBody>
                    <a:bodyPr/>
                    <a:lstStyle/>
                    <a:p>
                      <a:pPr algn="ctr"/>
                      <a:r>
                        <a:rPr lang="es-MX" sz="1200" dirty="0" smtClean="0"/>
                        <a:t>La reparación representa el principal cuello de botella</a:t>
                      </a:r>
                      <a:endParaRPr lang="es-MX" sz="1200" dirty="0"/>
                    </a:p>
                  </a:txBody>
                  <a:tcPr anchor="ctr"/>
                </a:tc>
                <a:tc>
                  <a:txBody>
                    <a:bodyPr/>
                    <a:lstStyle/>
                    <a:p>
                      <a:pPr algn="ctr"/>
                      <a:r>
                        <a:rPr lang="es-MX" sz="1200" dirty="0" smtClean="0"/>
                        <a:t>Se busca reducir el cuello de botella aumentando los recursos disponibles</a:t>
                      </a:r>
                      <a:endParaRPr lang="es-MX" sz="1200" dirty="0"/>
                    </a:p>
                  </a:txBody>
                  <a:tcPr anchor="ctr"/>
                </a:tc>
                <a:tc>
                  <a:txBody>
                    <a:bodyPr/>
                    <a:lstStyle/>
                    <a:p>
                      <a:pPr algn="ctr"/>
                      <a:r>
                        <a:rPr lang="es-MX" sz="1200" dirty="0" smtClean="0"/>
                        <a:t>La reparación limita el flujo cuando existe acumulación</a:t>
                      </a:r>
                      <a:endParaRPr lang="es-MX" sz="1200" dirty="0"/>
                    </a:p>
                  </a:txBody>
                  <a:tcPr anchor="ctr"/>
                </a:tc>
                <a:tc>
                  <a:txBody>
                    <a:bodyPr/>
                    <a:lstStyle/>
                    <a:p>
                      <a:pPr algn="ctr"/>
                      <a:r>
                        <a:rPr lang="es-MX" sz="1200" dirty="0" smtClean="0"/>
                        <a:t>Se reduce la acumulación mediante técnicos adicionales</a:t>
                      </a:r>
                      <a:endParaRPr lang="es-MX" sz="1200" dirty="0"/>
                    </a:p>
                  </a:txBody>
                  <a:tcPr anchor="ctr"/>
                </a:tc>
                <a:tc>
                  <a:txBody>
                    <a:bodyPr/>
                    <a:lstStyle/>
                    <a:p>
                      <a:pPr algn="ctr"/>
                      <a:r>
                        <a:rPr lang="es-MX" sz="1200" dirty="0" smtClean="0"/>
                        <a:t>Se busca representar la misma mejora en la capacidad de reparación</a:t>
                      </a:r>
                      <a:endParaRPr lang="es-MX" sz="1200" dirty="0"/>
                    </a:p>
                  </a:txBody>
                  <a:tcPr anchor="ctr"/>
                </a:tc>
                <a:extLst>
                  <a:ext uri="{0D108BD9-81ED-4DB2-BD59-A6C34878D82A}">
                    <a16:rowId xmlns:a16="http://schemas.microsoft.com/office/drawing/2014/main" val="4114297465"/>
                  </a:ext>
                </a:extLst>
              </a:tr>
              <a:tr h="370840">
                <a:tc>
                  <a:txBody>
                    <a:bodyPr/>
                    <a:lstStyle/>
                    <a:p>
                      <a:pPr algn="ctr"/>
                      <a:r>
                        <a:rPr lang="es-MX" sz="1200" dirty="0" smtClean="0"/>
                        <a:t>Cantidad de equipos</a:t>
                      </a:r>
                      <a:endParaRPr lang="es-MX" sz="1200" dirty="0"/>
                    </a:p>
                  </a:txBody>
                  <a:tcPr anchor="ctr">
                    <a:solidFill>
                      <a:srgbClr val="92D050"/>
                    </a:solidFill>
                  </a:tcPr>
                </a:tc>
                <a:tc>
                  <a:txBody>
                    <a:bodyPr/>
                    <a:lstStyle/>
                    <a:p>
                      <a:pPr algn="ctr"/>
                      <a:r>
                        <a:rPr lang="es-MX" sz="1200" dirty="0" smtClean="0"/>
                        <a:t>50 equipos</a:t>
                      </a:r>
                      <a:endParaRPr lang="es-MX" sz="1200" dirty="0"/>
                    </a:p>
                  </a:txBody>
                  <a:tcPr anchor="ctr"/>
                </a:tc>
                <a:tc>
                  <a:txBody>
                    <a:bodyPr/>
                    <a:lstStyle/>
                    <a:p>
                      <a:pPr algn="ctr"/>
                      <a:r>
                        <a:rPr lang="es-MX" sz="1200" dirty="0" smtClean="0"/>
                        <a:t>50 equipos</a:t>
                      </a:r>
                      <a:endParaRPr lang="es-MX" sz="1200" dirty="0"/>
                    </a:p>
                  </a:txBody>
                  <a:tcPr anchor="ctr"/>
                </a:tc>
                <a:tc>
                  <a:txBody>
                    <a:bodyPr/>
                    <a:lstStyle/>
                    <a:p>
                      <a:pPr algn="ctr"/>
                      <a:r>
                        <a:rPr lang="es-MX" sz="1200" dirty="0" smtClean="0"/>
                        <a:t>50 equipos</a:t>
                      </a:r>
                      <a:endParaRPr lang="es-MX" sz="1200" dirty="0"/>
                    </a:p>
                  </a:txBody>
                  <a:tcPr anchor="ctr"/>
                </a:tc>
                <a:tc>
                  <a:txBody>
                    <a:bodyPr/>
                    <a:lstStyle/>
                    <a:p>
                      <a:pPr algn="ctr"/>
                      <a:r>
                        <a:rPr lang="es-MX" sz="1200" dirty="0" smtClean="0"/>
                        <a:t>50 equipos</a:t>
                      </a:r>
                      <a:endParaRPr lang="es-MX" sz="1200" dirty="0"/>
                    </a:p>
                  </a:txBody>
                  <a:tcPr anchor="ctr"/>
                </a:tc>
                <a:tc>
                  <a:txBody>
                    <a:bodyPr/>
                    <a:lstStyle/>
                    <a:p>
                      <a:pPr algn="ctr"/>
                      <a:r>
                        <a:rPr lang="es-MX" sz="1200" dirty="0" smtClean="0"/>
                        <a:t>50 equipos</a:t>
                      </a:r>
                      <a:endParaRPr lang="es-MX" sz="1200" dirty="0"/>
                    </a:p>
                  </a:txBody>
                  <a:tcPr anchor="ctr"/>
                </a:tc>
                <a:extLst>
                  <a:ext uri="{0D108BD9-81ED-4DB2-BD59-A6C34878D82A}">
                    <a16:rowId xmlns:a16="http://schemas.microsoft.com/office/drawing/2014/main" val="297672606"/>
                  </a:ext>
                </a:extLst>
              </a:tr>
              <a:tr h="370840">
                <a:tc>
                  <a:txBody>
                    <a:bodyPr/>
                    <a:lstStyle/>
                    <a:p>
                      <a:pPr algn="ctr"/>
                      <a:r>
                        <a:rPr lang="es-MX" sz="1200" dirty="0" smtClean="0"/>
                        <a:t>Tiempo de reparación</a:t>
                      </a:r>
                      <a:endParaRPr lang="es-MX" sz="1200" dirty="0"/>
                    </a:p>
                  </a:txBody>
                  <a:tcPr anchor="ctr">
                    <a:solidFill>
                      <a:srgbClr val="92D050"/>
                    </a:solidFill>
                  </a:tcPr>
                </a:tc>
                <a:tc>
                  <a:txBody>
                    <a:bodyPr/>
                    <a:lstStyle/>
                    <a:p>
                      <a:pPr algn="ctr"/>
                      <a:r>
                        <a:rPr lang="es-MX" sz="1200" dirty="0" smtClean="0"/>
                        <a:t>45 minutos aproximadamente</a:t>
                      </a:r>
                      <a:endParaRPr lang="es-MX" sz="1200" dirty="0"/>
                    </a:p>
                  </a:txBody>
                  <a:tcPr anchor="ctr"/>
                </a:tc>
                <a:tc>
                  <a:txBody>
                    <a:bodyPr/>
                    <a:lstStyle/>
                    <a:p>
                      <a:pPr algn="ctr"/>
                      <a:r>
                        <a:rPr lang="es-MX" sz="1200" dirty="0" smtClean="0"/>
                        <a:t>45 minutos aproximadamente</a:t>
                      </a:r>
                      <a:endParaRPr lang="es-MX" sz="1200" dirty="0"/>
                    </a:p>
                  </a:txBody>
                  <a:tcPr anchor="ctr"/>
                </a:tc>
                <a:tc>
                  <a:txBody>
                    <a:bodyPr/>
                    <a:lstStyle/>
                    <a:p>
                      <a:pPr algn="ctr"/>
                      <a:r>
                        <a:rPr lang="es-MX" sz="1200" dirty="0" smtClean="0"/>
                        <a:t>45 minutos aproximadamente</a:t>
                      </a:r>
                      <a:endParaRPr lang="es-MX" sz="1200" dirty="0"/>
                    </a:p>
                  </a:txBody>
                  <a:tcPr anchor="ctr"/>
                </a:tc>
                <a:tc>
                  <a:txBody>
                    <a:bodyPr/>
                    <a:lstStyle/>
                    <a:p>
                      <a:pPr algn="ctr"/>
                      <a:r>
                        <a:rPr lang="es-MX" sz="1200" dirty="0" smtClean="0"/>
                        <a:t>45 minutos aproximadamente</a:t>
                      </a:r>
                      <a:endParaRPr lang="es-MX" sz="1200" dirty="0"/>
                    </a:p>
                  </a:txBody>
                  <a:tcPr anchor="ctr"/>
                </a:tc>
                <a:tc>
                  <a:txBody>
                    <a:bodyPr/>
                    <a:lstStyle/>
                    <a:p>
                      <a:pPr algn="ctr"/>
                      <a:r>
                        <a:rPr lang="es-MX" sz="1200" dirty="0" smtClean="0"/>
                        <a:t>45 minutos aproximadamente</a:t>
                      </a:r>
                      <a:endParaRPr lang="es-MX" sz="1200" dirty="0"/>
                    </a:p>
                  </a:txBody>
                  <a:tcPr anchor="ctr"/>
                </a:tc>
                <a:extLst>
                  <a:ext uri="{0D108BD9-81ED-4DB2-BD59-A6C34878D82A}">
                    <a16:rowId xmlns:a16="http://schemas.microsoft.com/office/drawing/2014/main" val="1956976634"/>
                  </a:ext>
                </a:extLst>
              </a:tr>
              <a:tr h="370840">
                <a:tc>
                  <a:txBody>
                    <a:bodyPr/>
                    <a:lstStyle/>
                    <a:p>
                      <a:pPr algn="ctr"/>
                      <a:r>
                        <a:rPr lang="es-MX" sz="1200" dirty="0" smtClean="0"/>
                        <a:t>Llegada de equipos</a:t>
                      </a:r>
                      <a:endParaRPr lang="es-MX" sz="1200" dirty="0"/>
                    </a:p>
                  </a:txBody>
                  <a:tcPr anchor="ctr">
                    <a:solidFill>
                      <a:srgbClr val="92D050"/>
                    </a:solidFill>
                  </a:tcPr>
                </a:tc>
                <a:tc>
                  <a:txBody>
                    <a:bodyPr/>
                    <a:lstStyle/>
                    <a:p>
                      <a:pPr algn="ctr"/>
                      <a:r>
                        <a:rPr lang="es-MX" sz="1200" dirty="0" smtClean="0"/>
                        <a:t>Cada aproximadamente 15 minutos</a:t>
                      </a:r>
                      <a:endParaRPr lang="es-MX" sz="1200" dirty="0"/>
                    </a:p>
                  </a:txBody>
                  <a:tcPr anchor="ctr"/>
                </a:tc>
                <a:tc>
                  <a:txBody>
                    <a:bodyPr/>
                    <a:lstStyle/>
                    <a:p>
                      <a:pPr algn="ctr"/>
                      <a:r>
                        <a:rPr lang="es-MX" sz="1200" dirty="0" smtClean="0"/>
                        <a:t>Se mantiene la misma llegada de equipos</a:t>
                      </a:r>
                      <a:endParaRPr lang="es-MX" sz="1200" dirty="0"/>
                    </a:p>
                  </a:txBody>
                  <a:tcPr anchor="ctr"/>
                </a:tc>
                <a:tc>
                  <a:txBody>
                    <a:bodyPr/>
                    <a:lstStyle/>
                    <a:p>
                      <a:pPr algn="ctr"/>
                      <a:r>
                        <a:rPr lang="es-MX" sz="1200" dirty="0" smtClean="0"/>
                        <a:t>Cada aproximadamente 15 minutos</a:t>
                      </a:r>
                      <a:endParaRPr lang="es-MX" sz="1200" dirty="0"/>
                    </a:p>
                  </a:txBody>
                  <a:tcPr anchor="ctr"/>
                </a:tc>
                <a:tc>
                  <a:txBody>
                    <a:bodyPr/>
                    <a:lstStyle/>
                    <a:p>
                      <a:pPr algn="ctr"/>
                      <a:r>
                        <a:rPr lang="es-MX" sz="1200" dirty="0" smtClean="0"/>
                        <a:t>Se mantiene la misma llegada de equipos</a:t>
                      </a:r>
                      <a:endParaRPr lang="es-MX" sz="1200" dirty="0"/>
                    </a:p>
                  </a:txBody>
                  <a:tcPr anchor="ctr"/>
                </a:tc>
                <a:tc>
                  <a:txBody>
                    <a:bodyPr/>
                    <a:lstStyle/>
                    <a:p>
                      <a:pPr algn="ctr"/>
                      <a:r>
                        <a:rPr lang="es-MX" sz="1200" dirty="0" smtClean="0"/>
                        <a:t>Se conserva el mismo flujo de llegada</a:t>
                      </a:r>
                      <a:endParaRPr lang="es-MX" sz="1200" dirty="0"/>
                    </a:p>
                  </a:txBody>
                  <a:tcPr anchor="ctr"/>
                </a:tc>
                <a:extLst>
                  <a:ext uri="{0D108BD9-81ED-4DB2-BD59-A6C34878D82A}">
                    <a16:rowId xmlns:a16="http://schemas.microsoft.com/office/drawing/2014/main" val="3987712163"/>
                  </a:ext>
                </a:extLst>
              </a:tr>
              <a:tr h="370840">
                <a:tc>
                  <a:txBody>
                    <a:bodyPr/>
                    <a:lstStyle/>
                    <a:p>
                      <a:pPr algn="ctr"/>
                      <a:r>
                        <a:rPr lang="es-MX" sz="1200" dirty="0" smtClean="0"/>
                        <a:t>Visualización del proceso</a:t>
                      </a:r>
                      <a:endParaRPr lang="es-MX" sz="1200" dirty="0"/>
                    </a:p>
                  </a:txBody>
                  <a:tcPr anchor="ctr">
                    <a:solidFill>
                      <a:srgbClr val="92D050"/>
                    </a:solidFill>
                  </a:tcPr>
                </a:tc>
                <a:tc>
                  <a:txBody>
                    <a:bodyPr/>
                    <a:lstStyle/>
                    <a:p>
                      <a:pPr algn="ctr"/>
                      <a:r>
                        <a:rPr lang="es-MX" sz="1200" dirty="0" smtClean="0"/>
                        <a:t>Permite observar el movimiento de los equipos y las estaciones</a:t>
                      </a:r>
                      <a:endParaRPr lang="es-MX" sz="1200" dirty="0"/>
                    </a:p>
                  </a:txBody>
                  <a:tcPr anchor="ctr"/>
                </a:tc>
                <a:tc>
                  <a:txBody>
                    <a:bodyPr/>
                    <a:lstStyle/>
                    <a:p>
                      <a:pPr algn="ctr"/>
                      <a:r>
                        <a:rPr lang="es-MX" sz="1200" dirty="0" smtClean="0"/>
                        <a:t>Mantiene la visualización y muestra el comportamiento con mayor capacidad</a:t>
                      </a:r>
                      <a:endParaRPr lang="es-MX" sz="1200" dirty="0"/>
                    </a:p>
                  </a:txBody>
                  <a:tcPr anchor="ctr"/>
                </a:tc>
                <a:tc>
                  <a:txBody>
                    <a:bodyPr/>
                    <a:lstStyle/>
                    <a:p>
                      <a:pPr algn="ctr"/>
                      <a:r>
                        <a:rPr lang="es-MX" sz="1200" dirty="0" smtClean="0"/>
                        <a:t>Interfaz gráfica mediante </a:t>
                      </a:r>
                      <a:r>
                        <a:rPr lang="es-MX" sz="1200" dirty="0" err="1" smtClean="0"/>
                        <a:t>Tkinter</a:t>
                      </a:r>
                      <a:endParaRPr lang="es-MX" sz="1200" dirty="0"/>
                    </a:p>
                  </a:txBody>
                  <a:tcPr anchor="ctr"/>
                </a:tc>
                <a:tc>
                  <a:txBody>
                    <a:bodyPr/>
                    <a:lstStyle/>
                    <a:p>
                      <a:pPr algn="ctr"/>
                      <a:r>
                        <a:rPr lang="es-MX" sz="1200" dirty="0" smtClean="0"/>
                        <a:t>Interfaz mejorada y control de técnicos</a:t>
                      </a:r>
                      <a:endParaRPr lang="es-MX" sz="1200" dirty="0"/>
                    </a:p>
                  </a:txBody>
                  <a:tcPr anchor="ctr"/>
                </a:tc>
                <a:tc>
                  <a:txBody>
                    <a:bodyPr/>
                    <a:lstStyle/>
                    <a:p>
                      <a:pPr algn="ctr"/>
                      <a:r>
                        <a:rPr lang="es-MX" sz="1200" dirty="0" smtClean="0"/>
                        <a:t>Interfaz gráfica mediante </a:t>
                      </a:r>
                      <a:r>
                        <a:rPr lang="es-MX" sz="1200" dirty="0" err="1" smtClean="0"/>
                        <a:t>JavaFX</a:t>
                      </a:r>
                      <a:endParaRPr lang="es-MX" sz="1200" dirty="0"/>
                    </a:p>
                  </a:txBody>
                  <a:tcPr anchor="ctr"/>
                </a:tc>
                <a:extLst>
                  <a:ext uri="{0D108BD9-81ED-4DB2-BD59-A6C34878D82A}">
                    <a16:rowId xmlns:a16="http://schemas.microsoft.com/office/drawing/2014/main" val="2326748298"/>
                  </a:ext>
                </a:extLst>
              </a:tr>
              <a:tr h="370840">
                <a:tc>
                  <a:txBody>
                    <a:bodyPr/>
                    <a:lstStyle/>
                    <a:p>
                      <a:pPr algn="ctr"/>
                      <a:r>
                        <a:rPr lang="es-MX" sz="1200" dirty="0" smtClean="0"/>
                        <a:t>Control de simulación</a:t>
                      </a:r>
                      <a:endParaRPr lang="es-MX" sz="1200" dirty="0"/>
                    </a:p>
                  </a:txBody>
                  <a:tcPr anchor="ctr">
                    <a:solidFill>
                      <a:srgbClr val="92D050"/>
                    </a:solidFill>
                  </a:tcPr>
                </a:tc>
                <a:tc>
                  <a:txBody>
                    <a:bodyPr/>
                    <a:lstStyle/>
                    <a:p>
                      <a:pPr algn="ctr"/>
                      <a:r>
                        <a:rPr lang="es-MX" sz="1200" dirty="0" smtClean="0"/>
                        <a:t>Iniciar, pausar, reiniciar y cambiar velocidad</a:t>
                      </a:r>
                      <a:endParaRPr lang="es-MX" sz="1200" dirty="0"/>
                    </a:p>
                  </a:txBody>
                  <a:tcPr anchor="ctr"/>
                </a:tc>
                <a:tc>
                  <a:txBody>
                    <a:bodyPr/>
                    <a:lstStyle/>
                    <a:p>
                      <a:pPr algn="ctr"/>
                      <a:r>
                        <a:rPr lang="es-MX" sz="1200" dirty="0" smtClean="0"/>
                        <a:t>Mantiene estos controles y agrega el control de técnicos</a:t>
                      </a:r>
                      <a:endParaRPr lang="es-MX" sz="1200" dirty="0"/>
                    </a:p>
                  </a:txBody>
                  <a:tcPr anchor="ctr"/>
                </a:tc>
                <a:tc>
                  <a:txBody>
                    <a:bodyPr/>
                    <a:lstStyle/>
                    <a:p>
                      <a:pPr algn="ctr"/>
                      <a:r>
                        <a:rPr lang="es-MX" sz="1200" dirty="0" smtClean="0"/>
                        <a:t>Iniciar, pausar, reiniciar y cambiar velocidad</a:t>
                      </a:r>
                      <a:endParaRPr lang="es-MX" sz="1200" dirty="0"/>
                    </a:p>
                  </a:txBody>
                  <a:tcPr anchor="ctr"/>
                </a:tc>
                <a:tc>
                  <a:txBody>
                    <a:bodyPr/>
                    <a:lstStyle/>
                    <a:p>
                      <a:pPr algn="ctr"/>
                      <a:r>
                        <a:rPr lang="es-MX" sz="1200" dirty="0" smtClean="0"/>
                        <a:t>Mantiene estos controles y agrega el control de técnicos</a:t>
                      </a:r>
                      <a:endParaRPr lang="es-MX" sz="1200" dirty="0"/>
                    </a:p>
                  </a:txBody>
                  <a:tcPr anchor="ctr"/>
                </a:tc>
                <a:tc>
                  <a:txBody>
                    <a:bodyPr/>
                    <a:lstStyle/>
                    <a:p>
                      <a:pPr algn="ctr"/>
                      <a:r>
                        <a:rPr lang="es-MX" sz="1200" dirty="0" smtClean="0"/>
                        <a:t>Permite controlar la ejecución de la simulación</a:t>
                      </a:r>
                      <a:endParaRPr lang="es-MX" sz="1200" dirty="0"/>
                    </a:p>
                  </a:txBody>
                  <a:tcPr anchor="ctr"/>
                </a:tc>
                <a:extLst>
                  <a:ext uri="{0D108BD9-81ED-4DB2-BD59-A6C34878D82A}">
                    <a16:rowId xmlns:a16="http://schemas.microsoft.com/office/drawing/2014/main" val="411338704"/>
                  </a:ext>
                </a:extLst>
              </a:tr>
              <a:tr h="370840">
                <a:tc>
                  <a:txBody>
                    <a:bodyPr/>
                    <a:lstStyle/>
                    <a:p>
                      <a:pPr algn="ctr"/>
                      <a:r>
                        <a:rPr lang="es-MX" sz="1200" dirty="0" smtClean="0"/>
                        <a:t>Métricas</a:t>
                      </a:r>
                      <a:endParaRPr lang="es-MX" sz="1200" dirty="0"/>
                    </a:p>
                  </a:txBody>
                  <a:tcPr anchor="ctr">
                    <a:solidFill>
                      <a:srgbClr val="92D050"/>
                    </a:solidFill>
                  </a:tcPr>
                </a:tc>
                <a:tc>
                  <a:txBody>
                    <a:bodyPr/>
                    <a:lstStyle/>
                    <a:p>
                      <a:pPr algn="ctr"/>
                      <a:r>
                        <a:rPr lang="es-MX" sz="1200" dirty="0" smtClean="0"/>
                        <a:t>Equipos totales, en proceso, completados y tiempo promedio</a:t>
                      </a:r>
                      <a:endParaRPr lang="es-MX" sz="1200" dirty="0"/>
                    </a:p>
                  </a:txBody>
                  <a:tcPr anchor="ctr"/>
                </a:tc>
                <a:tc>
                  <a:txBody>
                    <a:bodyPr/>
                    <a:lstStyle/>
                    <a:p>
                      <a:pPr algn="ctr"/>
                      <a:r>
                        <a:rPr lang="es-MX" sz="1200" dirty="0" smtClean="0"/>
                        <a:t>Mantiene las métricas para observar el efecto de la mejora</a:t>
                      </a:r>
                      <a:endParaRPr lang="es-MX" sz="1200" dirty="0"/>
                    </a:p>
                  </a:txBody>
                  <a:tcPr anchor="ctr"/>
                </a:tc>
                <a:tc>
                  <a:txBody>
                    <a:bodyPr/>
                    <a:lstStyle/>
                    <a:p>
                      <a:pPr algn="ctr"/>
                      <a:r>
                        <a:rPr lang="es-MX" sz="1200" dirty="0" smtClean="0"/>
                        <a:t>Equipos totales, en proceso, completados y tiempo promedio</a:t>
                      </a:r>
                      <a:endParaRPr lang="es-MX" sz="1200" dirty="0"/>
                    </a:p>
                  </a:txBody>
                  <a:tcPr anchor="ctr"/>
                </a:tc>
                <a:tc>
                  <a:txBody>
                    <a:bodyPr/>
                    <a:lstStyle/>
                    <a:p>
                      <a:pPr algn="ctr"/>
                      <a:r>
                        <a:rPr lang="es-MX" sz="1200" dirty="0" smtClean="0"/>
                        <a:t>Mantiene las métricas para comparar el comportamiento</a:t>
                      </a:r>
                      <a:endParaRPr lang="es-MX" sz="1200" dirty="0"/>
                    </a:p>
                  </a:txBody>
                  <a:tcPr anchor="ctr"/>
                </a:tc>
                <a:tc>
                  <a:txBody>
                    <a:bodyPr/>
                    <a:lstStyle/>
                    <a:p>
                      <a:pPr algn="ctr"/>
                      <a:r>
                        <a:rPr lang="es-MX" sz="1200" dirty="0" smtClean="0"/>
                        <a:t>Permite mostrar los resultados de la simulación</a:t>
                      </a:r>
                      <a:endParaRPr lang="es-MX" sz="1200" dirty="0"/>
                    </a:p>
                  </a:txBody>
                  <a:tcPr anchor="ctr"/>
                </a:tc>
                <a:extLst>
                  <a:ext uri="{0D108BD9-81ED-4DB2-BD59-A6C34878D82A}">
                    <a16:rowId xmlns:a16="http://schemas.microsoft.com/office/drawing/2014/main" val="844308910"/>
                  </a:ext>
                </a:extLst>
              </a:tr>
              <a:tr h="370840">
                <a:tc>
                  <a:txBody>
                    <a:bodyPr/>
                    <a:lstStyle/>
                    <a:p>
                      <a:pPr algn="ctr"/>
                      <a:r>
                        <a:rPr lang="es-MX" sz="1200" dirty="0" smtClean="0"/>
                        <a:t>Objetivo del escenario</a:t>
                      </a:r>
                      <a:endParaRPr lang="es-MX" sz="1200" dirty="0"/>
                    </a:p>
                  </a:txBody>
                  <a:tcPr anchor="ctr">
                    <a:solidFill>
                      <a:srgbClr val="92D050"/>
                    </a:solidFill>
                  </a:tcPr>
                </a:tc>
                <a:tc>
                  <a:txBody>
                    <a:bodyPr/>
                    <a:lstStyle/>
                    <a:p>
                      <a:pPr algn="ctr"/>
                      <a:r>
                        <a:rPr lang="es-MX" sz="1200" dirty="0" smtClean="0"/>
                        <a:t>Representar la situación inicial del taller</a:t>
                      </a:r>
                      <a:endParaRPr lang="es-MX" sz="1200" dirty="0"/>
                    </a:p>
                  </a:txBody>
                  <a:tcPr anchor="ctr"/>
                </a:tc>
                <a:tc>
                  <a:txBody>
                    <a:bodyPr/>
                    <a:lstStyle/>
                    <a:p>
                      <a:pPr algn="ctr"/>
                      <a:r>
                        <a:rPr lang="es-MX" sz="1200" dirty="0" smtClean="0"/>
                        <a:t>Analizar una alternativa para mejorar el flujo</a:t>
                      </a:r>
                      <a:endParaRPr lang="es-MX" sz="1200" dirty="0"/>
                    </a:p>
                  </a:txBody>
                  <a:tcPr anchor="ctr"/>
                </a:tc>
                <a:tc>
                  <a:txBody>
                    <a:bodyPr/>
                    <a:lstStyle/>
                    <a:p>
                      <a:pPr algn="ctr"/>
                      <a:r>
                        <a:rPr lang="es-MX" sz="1200" dirty="0" smtClean="0"/>
                        <a:t>Representar la situación inicial del taller</a:t>
                      </a:r>
                      <a:endParaRPr lang="es-MX" sz="1200" dirty="0"/>
                    </a:p>
                  </a:txBody>
                  <a:tcPr anchor="ctr"/>
                </a:tc>
                <a:tc>
                  <a:txBody>
                    <a:bodyPr/>
                    <a:lstStyle/>
                    <a:p>
                      <a:pPr algn="ctr"/>
                      <a:r>
                        <a:rPr lang="es-MX" sz="1200" dirty="0" smtClean="0"/>
                        <a:t>Analizar una alternativa para mejorar el flujo</a:t>
                      </a:r>
                      <a:endParaRPr lang="es-MX" sz="1200" dirty="0"/>
                    </a:p>
                  </a:txBody>
                  <a:tcPr anchor="ctr"/>
                </a:tc>
                <a:tc>
                  <a:txBody>
                    <a:bodyPr/>
                    <a:lstStyle/>
                    <a:p>
                      <a:pPr algn="ctr"/>
                      <a:r>
                        <a:rPr lang="es-MX" sz="1200" dirty="0" smtClean="0"/>
                        <a:t>Representar y analizar ambos escenarios</a:t>
                      </a:r>
                      <a:endParaRPr lang="es-MX" sz="1200" dirty="0"/>
                    </a:p>
                  </a:txBody>
                  <a:tcPr anchor="ctr"/>
                </a:tc>
                <a:extLst>
                  <a:ext uri="{0D108BD9-81ED-4DB2-BD59-A6C34878D82A}">
                    <a16:rowId xmlns:a16="http://schemas.microsoft.com/office/drawing/2014/main" val="1757223709"/>
                  </a:ext>
                </a:extLst>
              </a:tr>
            </a:tbl>
          </a:graphicData>
        </a:graphic>
      </p:graphicFrame>
      <p:sp>
        <p:nvSpPr>
          <p:cNvPr id="3" name="CuadroTexto 2"/>
          <p:cNvSpPr txBox="1"/>
          <p:nvPr/>
        </p:nvSpPr>
        <p:spPr>
          <a:xfrm>
            <a:off x="1732085" y="254977"/>
            <a:ext cx="9117623" cy="369332"/>
          </a:xfrm>
          <a:prstGeom prst="rect">
            <a:avLst/>
          </a:prstGeom>
          <a:noFill/>
        </p:spPr>
        <p:txBody>
          <a:bodyPr wrap="square" rtlCol="0">
            <a:spAutoFit/>
          </a:bodyPr>
          <a:lstStyle/>
          <a:p>
            <a:r>
              <a:rPr lang="es-MX" b="1" dirty="0" smtClean="0"/>
              <a:t>CUADRO COMPARATIVO ECENARIO ACTUAL, ECENARIO MEJORADO EN R, PYTHON Y JAVAFX</a:t>
            </a:r>
            <a:endParaRPr lang="es-MX" b="1" dirty="0"/>
          </a:p>
        </p:txBody>
      </p:sp>
    </p:spTree>
    <p:extLst>
      <p:ext uri="{BB962C8B-B14F-4D97-AF65-F5344CB8AC3E}">
        <p14:creationId xmlns:p14="http://schemas.microsoft.com/office/powerpoint/2010/main" val="3873476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2391507" y="254977"/>
            <a:ext cx="7702063" cy="369332"/>
          </a:xfrm>
          <a:prstGeom prst="rect">
            <a:avLst/>
          </a:prstGeom>
          <a:noFill/>
        </p:spPr>
        <p:txBody>
          <a:bodyPr wrap="square" rtlCol="0">
            <a:spAutoFit/>
          </a:bodyPr>
          <a:lstStyle/>
          <a:p>
            <a:r>
              <a:rPr lang="es-MX" b="1" dirty="0" smtClean="0"/>
              <a:t>CUADRO COMPARATIVO ECENARIO ACTUAL, ECENARIO MEJORADO</a:t>
            </a:r>
            <a:endParaRPr lang="es-MX" b="1" dirty="0"/>
          </a:p>
        </p:txBody>
      </p:sp>
      <p:graphicFrame>
        <p:nvGraphicFramePr>
          <p:cNvPr id="3" name="Tabla 2"/>
          <p:cNvGraphicFramePr>
            <a:graphicFrameLocks noGrp="1"/>
          </p:cNvGraphicFramePr>
          <p:nvPr>
            <p:extLst>
              <p:ext uri="{D42A27DB-BD31-4B8C-83A1-F6EECF244321}">
                <p14:modId xmlns:p14="http://schemas.microsoft.com/office/powerpoint/2010/main" val="2536926780"/>
              </p:ext>
            </p:extLst>
          </p:nvPr>
        </p:nvGraphicFramePr>
        <p:xfrm>
          <a:off x="848458" y="763628"/>
          <a:ext cx="10788159" cy="5400040"/>
        </p:xfrm>
        <a:graphic>
          <a:graphicData uri="http://schemas.openxmlformats.org/drawingml/2006/table">
            <a:tbl>
              <a:tblPr firstRow="1" bandRow="1">
                <a:tableStyleId>{C4B1156A-380E-4F78-BDF5-A606A8083BF9}</a:tableStyleId>
              </a:tblPr>
              <a:tblGrid>
                <a:gridCol w="3596053">
                  <a:extLst>
                    <a:ext uri="{9D8B030D-6E8A-4147-A177-3AD203B41FA5}">
                      <a16:colId xmlns:a16="http://schemas.microsoft.com/office/drawing/2014/main" val="581884019"/>
                    </a:ext>
                  </a:extLst>
                </a:gridCol>
                <a:gridCol w="3596053">
                  <a:extLst>
                    <a:ext uri="{9D8B030D-6E8A-4147-A177-3AD203B41FA5}">
                      <a16:colId xmlns:a16="http://schemas.microsoft.com/office/drawing/2014/main" val="930435380"/>
                    </a:ext>
                  </a:extLst>
                </a:gridCol>
                <a:gridCol w="3596053">
                  <a:extLst>
                    <a:ext uri="{9D8B030D-6E8A-4147-A177-3AD203B41FA5}">
                      <a16:colId xmlns:a16="http://schemas.microsoft.com/office/drawing/2014/main" val="2247900412"/>
                    </a:ext>
                  </a:extLst>
                </a:gridCol>
              </a:tblGrid>
              <a:tr h="370840">
                <a:tc>
                  <a:txBody>
                    <a:bodyPr/>
                    <a:lstStyle/>
                    <a:p>
                      <a:pPr algn="ctr"/>
                      <a:r>
                        <a:rPr lang="es-MX" dirty="0" smtClean="0"/>
                        <a:t>Característica</a:t>
                      </a:r>
                      <a:endParaRPr lang="es-MX" dirty="0"/>
                    </a:p>
                  </a:txBody>
                  <a:tcPr anchor="ctr">
                    <a:solidFill>
                      <a:schemeClr val="accent2">
                        <a:lumMod val="60000"/>
                        <a:lumOff val="40000"/>
                      </a:schemeClr>
                    </a:solidFill>
                  </a:tcPr>
                </a:tc>
                <a:tc>
                  <a:txBody>
                    <a:bodyPr/>
                    <a:lstStyle/>
                    <a:p>
                      <a:pPr algn="ctr"/>
                      <a:r>
                        <a:rPr lang="es-MX" dirty="0" smtClean="0"/>
                        <a:t>Escenario actual</a:t>
                      </a:r>
                      <a:endParaRPr lang="es-MX" dirty="0"/>
                    </a:p>
                  </a:txBody>
                  <a:tcPr anchor="ctr">
                    <a:solidFill>
                      <a:schemeClr val="accent2">
                        <a:lumMod val="60000"/>
                        <a:lumOff val="40000"/>
                      </a:schemeClr>
                    </a:solidFill>
                  </a:tcPr>
                </a:tc>
                <a:tc>
                  <a:txBody>
                    <a:bodyPr/>
                    <a:lstStyle/>
                    <a:p>
                      <a:pPr algn="ctr"/>
                      <a:r>
                        <a:rPr lang="es-MX" dirty="0" smtClean="0"/>
                        <a:t>Escenario mejorado</a:t>
                      </a:r>
                      <a:endParaRPr lang="es-MX" dirty="0"/>
                    </a:p>
                  </a:txBody>
                  <a:tcPr anchor="ctr">
                    <a:solidFill>
                      <a:schemeClr val="accent2">
                        <a:lumMod val="60000"/>
                        <a:lumOff val="40000"/>
                      </a:schemeClr>
                    </a:solidFill>
                  </a:tcPr>
                </a:tc>
                <a:extLst>
                  <a:ext uri="{0D108BD9-81ED-4DB2-BD59-A6C34878D82A}">
                    <a16:rowId xmlns:a16="http://schemas.microsoft.com/office/drawing/2014/main" val="1112968181"/>
                  </a:ext>
                </a:extLst>
              </a:tr>
              <a:tr h="370840">
                <a:tc>
                  <a:txBody>
                    <a:bodyPr/>
                    <a:lstStyle/>
                    <a:p>
                      <a:pPr algn="ctr"/>
                      <a:r>
                        <a:rPr lang="es-MX" dirty="0" smtClean="0"/>
                        <a:t>Recursos disponibles</a:t>
                      </a:r>
                      <a:endParaRPr lang="es-MX" dirty="0"/>
                    </a:p>
                  </a:txBody>
                  <a:tcPr anchor="ctr"/>
                </a:tc>
                <a:tc>
                  <a:txBody>
                    <a:bodyPr/>
                    <a:lstStyle/>
                    <a:p>
                      <a:pPr algn="ctr"/>
                      <a:r>
                        <a:rPr lang="es-MX" dirty="0" smtClean="0"/>
                        <a:t>Se trabaja con un solo técnico en reparación.</a:t>
                      </a:r>
                      <a:endParaRPr lang="es-MX" dirty="0"/>
                    </a:p>
                  </a:txBody>
                  <a:tcPr anchor="ctr"/>
                </a:tc>
                <a:tc>
                  <a:txBody>
                    <a:bodyPr/>
                    <a:lstStyle/>
                    <a:p>
                      <a:pPr algn="ctr"/>
                      <a:r>
                        <a:rPr lang="es-MX" dirty="0" smtClean="0"/>
                        <a:t>Se pueden utilizar hasta tres técnicos en reparación.</a:t>
                      </a:r>
                      <a:endParaRPr lang="es-MX" dirty="0"/>
                    </a:p>
                  </a:txBody>
                  <a:tcPr anchor="ctr"/>
                </a:tc>
                <a:extLst>
                  <a:ext uri="{0D108BD9-81ED-4DB2-BD59-A6C34878D82A}">
                    <a16:rowId xmlns:a16="http://schemas.microsoft.com/office/drawing/2014/main" val="2831498122"/>
                  </a:ext>
                </a:extLst>
              </a:tr>
              <a:tr h="370840">
                <a:tc>
                  <a:txBody>
                    <a:bodyPr/>
                    <a:lstStyle/>
                    <a:p>
                      <a:pPr algn="ctr"/>
                      <a:r>
                        <a:rPr lang="es-MX" dirty="0" smtClean="0"/>
                        <a:t>Capacidad de reparación</a:t>
                      </a:r>
                      <a:endParaRPr lang="es-MX" dirty="0"/>
                    </a:p>
                  </a:txBody>
                  <a:tcPr anchor="ctr"/>
                </a:tc>
                <a:tc>
                  <a:txBody>
                    <a:bodyPr/>
                    <a:lstStyle/>
                    <a:p>
                      <a:pPr algn="ctr"/>
                      <a:r>
                        <a:rPr lang="es-MX" dirty="0" smtClean="0"/>
                        <a:t>Una reparación se atiende a la vez.</a:t>
                      </a:r>
                      <a:endParaRPr lang="es-MX" dirty="0"/>
                    </a:p>
                  </a:txBody>
                  <a:tcPr anchor="ctr"/>
                </a:tc>
                <a:tc>
                  <a:txBody>
                    <a:bodyPr/>
                    <a:lstStyle/>
                    <a:p>
                      <a:pPr algn="ctr"/>
                      <a:r>
                        <a:rPr lang="es-MX" dirty="0" smtClean="0"/>
                        <a:t>Varias reparaciones pueden realizarse simultáneamente.</a:t>
                      </a:r>
                      <a:endParaRPr lang="es-MX" dirty="0"/>
                    </a:p>
                  </a:txBody>
                  <a:tcPr anchor="ctr"/>
                </a:tc>
                <a:extLst>
                  <a:ext uri="{0D108BD9-81ED-4DB2-BD59-A6C34878D82A}">
                    <a16:rowId xmlns:a16="http://schemas.microsoft.com/office/drawing/2014/main" val="1515892999"/>
                  </a:ext>
                </a:extLst>
              </a:tr>
              <a:tr h="370840">
                <a:tc>
                  <a:txBody>
                    <a:bodyPr/>
                    <a:lstStyle/>
                    <a:p>
                      <a:pPr algn="ctr"/>
                      <a:r>
                        <a:rPr lang="es-MX" dirty="0" smtClean="0"/>
                        <a:t>Acumulación de equipos</a:t>
                      </a:r>
                      <a:endParaRPr lang="es-MX" dirty="0"/>
                    </a:p>
                  </a:txBody>
                  <a:tcPr anchor="ctr"/>
                </a:tc>
                <a:tc>
                  <a:txBody>
                    <a:bodyPr/>
                    <a:lstStyle/>
                    <a:p>
                      <a:pPr algn="ctr"/>
                      <a:r>
                        <a:rPr lang="es-MX" dirty="0" smtClean="0"/>
                        <a:t>Puede generarse una cola de equipos esperando reparación.</a:t>
                      </a:r>
                      <a:endParaRPr lang="es-MX" dirty="0"/>
                    </a:p>
                  </a:txBody>
                  <a:tcPr anchor="ctr"/>
                </a:tc>
                <a:tc>
                  <a:txBody>
                    <a:bodyPr/>
                    <a:lstStyle/>
                    <a:p>
                      <a:pPr algn="ctr"/>
                      <a:r>
                        <a:rPr lang="es-MX" dirty="0" smtClean="0"/>
                        <a:t>La capacidad adicional permite disminuir la acumulación.</a:t>
                      </a:r>
                      <a:endParaRPr lang="es-MX" dirty="0"/>
                    </a:p>
                  </a:txBody>
                  <a:tcPr anchor="ctr"/>
                </a:tc>
                <a:extLst>
                  <a:ext uri="{0D108BD9-81ED-4DB2-BD59-A6C34878D82A}">
                    <a16:rowId xmlns:a16="http://schemas.microsoft.com/office/drawing/2014/main" val="1977775434"/>
                  </a:ext>
                </a:extLst>
              </a:tr>
              <a:tr h="370840">
                <a:tc>
                  <a:txBody>
                    <a:bodyPr/>
                    <a:lstStyle/>
                    <a:p>
                      <a:pPr algn="ctr"/>
                      <a:r>
                        <a:rPr lang="es-MX" dirty="0" smtClean="0"/>
                        <a:t>Cuello de botella</a:t>
                      </a:r>
                      <a:endParaRPr lang="es-MX" dirty="0"/>
                    </a:p>
                  </a:txBody>
                  <a:tcPr anchor="ctr"/>
                </a:tc>
                <a:tc>
                  <a:txBody>
                    <a:bodyPr/>
                    <a:lstStyle/>
                    <a:p>
                      <a:pPr algn="ctr"/>
                      <a:r>
                        <a:rPr lang="es-MX" dirty="0" smtClean="0"/>
                        <a:t>La estación de reparación limita el flujo del proceso.</a:t>
                      </a:r>
                      <a:endParaRPr lang="es-MX" dirty="0"/>
                    </a:p>
                  </a:txBody>
                  <a:tcPr anchor="ctr"/>
                </a:tc>
                <a:tc>
                  <a:txBody>
                    <a:bodyPr/>
                    <a:lstStyle/>
                    <a:p>
                      <a:pPr algn="ctr"/>
                      <a:r>
                        <a:rPr lang="es-MX" dirty="0" smtClean="0"/>
                        <a:t>Se busca disminuir ese efecto aumentando la capacidad de reparación.</a:t>
                      </a:r>
                      <a:endParaRPr lang="es-MX" dirty="0"/>
                    </a:p>
                  </a:txBody>
                  <a:tcPr anchor="ctr"/>
                </a:tc>
                <a:extLst>
                  <a:ext uri="{0D108BD9-81ED-4DB2-BD59-A6C34878D82A}">
                    <a16:rowId xmlns:a16="http://schemas.microsoft.com/office/drawing/2014/main" val="4139117498"/>
                  </a:ext>
                </a:extLst>
              </a:tr>
              <a:tr h="370840">
                <a:tc>
                  <a:txBody>
                    <a:bodyPr/>
                    <a:lstStyle/>
                    <a:p>
                      <a:pPr algn="ctr"/>
                      <a:r>
                        <a:rPr lang="es-MX" dirty="0" smtClean="0"/>
                        <a:t>Flexibilidad</a:t>
                      </a:r>
                      <a:endParaRPr lang="es-MX" dirty="0"/>
                    </a:p>
                  </a:txBody>
                  <a:tcPr anchor="ctr"/>
                </a:tc>
                <a:tc>
                  <a:txBody>
                    <a:bodyPr/>
                    <a:lstStyle/>
                    <a:p>
                      <a:pPr algn="ctr"/>
                      <a:r>
                        <a:rPr lang="es-MX" dirty="0" smtClean="0"/>
                        <a:t>La cantidad de técnicos es fija.</a:t>
                      </a:r>
                      <a:endParaRPr lang="es-MX" dirty="0"/>
                    </a:p>
                  </a:txBody>
                  <a:tcPr anchor="ctr"/>
                </a:tc>
                <a:tc>
                  <a:txBody>
                    <a:bodyPr/>
                    <a:lstStyle/>
                    <a:p>
                      <a:pPr algn="ctr"/>
                      <a:r>
                        <a:rPr lang="es-MX" dirty="0" smtClean="0"/>
                        <a:t>La cantidad de técnicos puede modificarse durante la simulación.</a:t>
                      </a:r>
                      <a:endParaRPr lang="es-MX" dirty="0"/>
                    </a:p>
                  </a:txBody>
                  <a:tcPr anchor="ctr"/>
                </a:tc>
                <a:extLst>
                  <a:ext uri="{0D108BD9-81ED-4DB2-BD59-A6C34878D82A}">
                    <a16:rowId xmlns:a16="http://schemas.microsoft.com/office/drawing/2014/main" val="3987491650"/>
                  </a:ext>
                </a:extLst>
              </a:tr>
              <a:tr h="370840">
                <a:tc>
                  <a:txBody>
                    <a:bodyPr/>
                    <a:lstStyle/>
                    <a:p>
                      <a:pPr algn="ctr"/>
                      <a:r>
                        <a:rPr lang="es-MX" dirty="0" smtClean="0"/>
                        <a:t>Comparación de resultados</a:t>
                      </a:r>
                      <a:endParaRPr lang="es-MX" dirty="0"/>
                    </a:p>
                  </a:txBody>
                  <a:tcPr anchor="ctr"/>
                </a:tc>
                <a:tc>
                  <a:txBody>
                    <a:bodyPr/>
                    <a:lstStyle/>
                    <a:p>
                      <a:pPr algn="ctr"/>
                      <a:r>
                        <a:rPr lang="es-MX" dirty="0" smtClean="0"/>
                        <a:t>Sirve como referencia de la situación inicial.</a:t>
                      </a:r>
                      <a:endParaRPr lang="es-MX" dirty="0"/>
                    </a:p>
                  </a:txBody>
                  <a:tcPr anchor="ctr"/>
                </a:tc>
                <a:tc>
                  <a:txBody>
                    <a:bodyPr/>
                    <a:lstStyle/>
                    <a:p>
                      <a:pPr algn="ctr"/>
                      <a:r>
                        <a:rPr lang="es-MX" dirty="0" smtClean="0"/>
                        <a:t>Permite observar qué sucede cuando se modifica el recurso disponible.</a:t>
                      </a:r>
                      <a:endParaRPr lang="es-MX" dirty="0"/>
                    </a:p>
                  </a:txBody>
                  <a:tcPr anchor="ctr"/>
                </a:tc>
                <a:extLst>
                  <a:ext uri="{0D108BD9-81ED-4DB2-BD59-A6C34878D82A}">
                    <a16:rowId xmlns:a16="http://schemas.microsoft.com/office/drawing/2014/main" val="3268279077"/>
                  </a:ext>
                </a:extLst>
              </a:tr>
              <a:tr h="370840">
                <a:tc>
                  <a:txBody>
                    <a:bodyPr/>
                    <a:lstStyle/>
                    <a:p>
                      <a:pPr algn="ctr"/>
                      <a:r>
                        <a:rPr lang="es-MX" dirty="0" smtClean="0"/>
                        <a:t>Propósito</a:t>
                      </a:r>
                      <a:endParaRPr lang="es-MX" dirty="0"/>
                    </a:p>
                  </a:txBody>
                  <a:tcPr anchor="ctr"/>
                </a:tc>
                <a:tc>
                  <a:txBody>
                    <a:bodyPr/>
                    <a:lstStyle/>
                    <a:p>
                      <a:pPr algn="ctr"/>
                      <a:r>
                        <a:rPr lang="es-MX" dirty="0" smtClean="0"/>
                        <a:t>Representar el funcionamiento actual.</a:t>
                      </a:r>
                      <a:endParaRPr lang="es-MX" dirty="0"/>
                    </a:p>
                  </a:txBody>
                  <a:tcPr anchor="ctr"/>
                </a:tc>
                <a:tc>
                  <a:txBody>
                    <a:bodyPr/>
                    <a:lstStyle/>
                    <a:p>
                      <a:pPr algn="ctr"/>
                      <a:r>
                        <a:rPr lang="es-MX" dirty="0" smtClean="0"/>
                        <a:t>Evaluar una alternativa de mejora del proceso.</a:t>
                      </a:r>
                      <a:endParaRPr lang="es-MX" dirty="0"/>
                    </a:p>
                  </a:txBody>
                  <a:tcPr anchor="ctr"/>
                </a:tc>
                <a:extLst>
                  <a:ext uri="{0D108BD9-81ED-4DB2-BD59-A6C34878D82A}">
                    <a16:rowId xmlns:a16="http://schemas.microsoft.com/office/drawing/2014/main" val="2328468052"/>
                  </a:ext>
                </a:extLst>
              </a:tr>
            </a:tbl>
          </a:graphicData>
        </a:graphic>
      </p:graphicFrame>
    </p:spTree>
    <p:extLst>
      <p:ext uri="{BB962C8B-B14F-4D97-AF65-F5344CB8AC3E}">
        <p14:creationId xmlns:p14="http://schemas.microsoft.com/office/powerpoint/2010/main" val="2906788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879231" y="298939"/>
            <a:ext cx="10700238" cy="523220"/>
          </a:xfrm>
          <a:prstGeom prst="rect">
            <a:avLst/>
          </a:prstGeom>
          <a:noFill/>
        </p:spPr>
        <p:txBody>
          <a:bodyPr wrap="square" rtlCol="0">
            <a:spAutoFit/>
          </a:bodyPr>
          <a:lstStyle/>
          <a:p>
            <a:pPr algn="ctr"/>
            <a:r>
              <a:rPr lang="es-MX" sz="2800" b="1" dirty="0">
                <a:latin typeface="Arial" panose="020B0604020202020204" pitchFamily="34" charset="0"/>
                <a:cs typeface="Arial" panose="020B0604020202020204" pitchFamily="34" charset="0"/>
              </a:rPr>
              <a:t>CONCLUSIÓN</a:t>
            </a:r>
          </a:p>
        </p:txBody>
      </p:sp>
      <p:sp>
        <p:nvSpPr>
          <p:cNvPr id="3" name="CuadroTexto 2"/>
          <p:cNvSpPr txBox="1"/>
          <p:nvPr/>
        </p:nvSpPr>
        <p:spPr>
          <a:xfrm>
            <a:off x="1391132" y="1222130"/>
            <a:ext cx="9676436" cy="5442516"/>
          </a:xfrm>
          <a:prstGeom prst="rect">
            <a:avLst/>
          </a:prstGeom>
          <a:noFill/>
        </p:spPr>
        <p:txBody>
          <a:bodyPr wrap="square" rtlCol="0">
            <a:spAutoFit/>
          </a:bodyPr>
          <a:lstStyle/>
          <a:p>
            <a:pPr algn="just">
              <a:lnSpc>
                <a:spcPct val="150000"/>
              </a:lnSpc>
            </a:pPr>
            <a:r>
              <a:rPr lang="es-MX" dirty="0" smtClean="0">
                <a:latin typeface="Arial" panose="020B0604020202020204" pitchFamily="34" charset="0"/>
                <a:cs typeface="Arial" panose="020B0604020202020204" pitchFamily="34" charset="0"/>
              </a:rPr>
              <a:t>En conclusión, realizar la comparación entre el escenario actual y el escenario mejorado, se pudo observar cómo una modificación en los recursos disponibles dentro del proceso puede cambiar el comportamiento de la simulación. En particular, la etapa de reparación representa un punto importante del flujo, ya que una mayor capacidad de atención permite manejar las reparaciones de manera paralela y disminuir la acumulación de equipos en esta etapa. </a:t>
            </a:r>
          </a:p>
          <a:p>
            <a:pPr algn="just">
              <a:lnSpc>
                <a:spcPct val="150000"/>
              </a:lnSpc>
            </a:pPr>
            <a:r>
              <a:rPr lang="es-MX" dirty="0" smtClean="0">
                <a:latin typeface="Arial" panose="020B0604020202020204" pitchFamily="34" charset="0"/>
                <a:cs typeface="Arial" panose="020B0604020202020204" pitchFamily="34" charset="0"/>
              </a:rPr>
              <a:t>El desarrollo de las simulaciones en R, Python y </a:t>
            </a:r>
            <a:r>
              <a:rPr lang="es-MX" dirty="0" err="1" smtClean="0">
                <a:latin typeface="Arial" panose="020B0604020202020204" pitchFamily="34" charset="0"/>
                <a:cs typeface="Arial" panose="020B0604020202020204" pitchFamily="34" charset="0"/>
              </a:rPr>
              <a:t>JavaFX</a:t>
            </a:r>
            <a:r>
              <a:rPr lang="es-MX" dirty="0" smtClean="0">
                <a:latin typeface="Arial" panose="020B0604020202020204" pitchFamily="34" charset="0"/>
                <a:cs typeface="Arial" panose="020B0604020202020204" pitchFamily="34" charset="0"/>
              </a:rPr>
              <a:t> permitió representar el mismo proceso utilizando diferentes herramientas y formas de implementación. Aunque cada lenguaje puede presentar diferencias en su programación, interfaz y visualización, los tres permiten representar las etapas principales del Taller de Electrónica y analizar el comportamiento del proceso. Finalmente, la comparación de ambos escenarios permite comprender la utilidad de la simulación como herramienta para detectar problemas, analizar alternativas y evaluar cambios en un proceso, antes de llevar una modificación directamente a un entorno real.</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022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940777" y="325316"/>
            <a:ext cx="10700238" cy="523220"/>
          </a:xfrm>
          <a:prstGeom prst="rect">
            <a:avLst/>
          </a:prstGeom>
          <a:noFill/>
        </p:spPr>
        <p:txBody>
          <a:bodyPr wrap="square" rtlCol="0">
            <a:spAutoFit/>
          </a:bodyPr>
          <a:lstStyle/>
          <a:p>
            <a:pPr algn="ctr"/>
            <a:r>
              <a:rPr lang="es-MX" sz="2800" b="1" dirty="0">
                <a:latin typeface="Arial" panose="020B0604020202020204" pitchFamily="34" charset="0"/>
                <a:cs typeface="Arial" panose="020B0604020202020204" pitchFamily="34" charset="0"/>
              </a:rPr>
              <a:t>BIBLIOGRAFIA</a:t>
            </a:r>
          </a:p>
        </p:txBody>
      </p:sp>
      <p:sp>
        <p:nvSpPr>
          <p:cNvPr id="3" name="CuadroTexto 2"/>
          <p:cNvSpPr txBox="1"/>
          <p:nvPr/>
        </p:nvSpPr>
        <p:spPr>
          <a:xfrm>
            <a:off x="1740877" y="1213338"/>
            <a:ext cx="8678008" cy="3693319"/>
          </a:xfrm>
          <a:prstGeom prst="rect">
            <a:avLst/>
          </a:prstGeom>
          <a:noFill/>
        </p:spPr>
        <p:txBody>
          <a:bodyPr wrap="square" rtlCol="0">
            <a:spAutoFit/>
          </a:bodyPr>
          <a:lstStyle/>
          <a:p>
            <a:r>
              <a:rPr lang="es-MX" dirty="0" smtClean="0"/>
              <a:t>Shannon, R. E. (1988). Simulación de sistemas: Diseño, desarrollo e implantación. Editorial Trillas.</a:t>
            </a:r>
          </a:p>
          <a:p>
            <a:endParaRPr lang="es-MX" dirty="0" smtClean="0"/>
          </a:p>
          <a:p>
            <a:r>
              <a:rPr lang="es-MX" dirty="0" smtClean="0"/>
              <a:t>Herrera Vidal, G. (2020). Simulación de sistemas discretos: Un enfoque industrial. </a:t>
            </a:r>
            <a:r>
              <a:rPr lang="es-MX" dirty="0" err="1" smtClean="0"/>
              <a:t>Alpha</a:t>
            </a:r>
            <a:r>
              <a:rPr lang="es-MX" dirty="0" smtClean="0"/>
              <a:t> Editorial.</a:t>
            </a:r>
          </a:p>
          <a:p>
            <a:endParaRPr lang="es-MX" dirty="0"/>
          </a:p>
          <a:p>
            <a:r>
              <a:rPr lang="es-MX" dirty="0" smtClean="0"/>
              <a:t>Gómez Jiménez, J., Gómez Jiménez, J., &amp; Sánchez del Pozo Fernández, A. J. (2021). </a:t>
            </a:r>
          </a:p>
          <a:p>
            <a:endParaRPr lang="es-MX" dirty="0" smtClean="0"/>
          </a:p>
          <a:p>
            <a:r>
              <a:rPr lang="es-MX" dirty="0" smtClean="0"/>
              <a:t>Simulación de sistemas </a:t>
            </a:r>
            <a:r>
              <a:rPr lang="es-MX" dirty="0" err="1" smtClean="0"/>
              <a:t>mecatrónicos</a:t>
            </a:r>
            <a:r>
              <a:rPr lang="es-MX" dirty="0" smtClean="0"/>
              <a:t>. </a:t>
            </a:r>
            <a:r>
              <a:rPr lang="es-MX" dirty="0" err="1" smtClean="0"/>
              <a:t>Paraninfo.Grolemund</a:t>
            </a:r>
            <a:r>
              <a:rPr lang="es-MX" dirty="0" smtClean="0"/>
              <a:t>, G. (s. f.). Programación práctica con R.</a:t>
            </a:r>
          </a:p>
          <a:p>
            <a:endParaRPr lang="es-MX" dirty="0"/>
          </a:p>
          <a:p>
            <a:r>
              <a:rPr lang="es-MX" dirty="0" smtClean="0"/>
              <a:t>Barquilla Galeano, I. M. (2025). Programación (2.ª ed.). RA-</a:t>
            </a:r>
            <a:r>
              <a:rPr lang="es-MX" dirty="0" err="1" smtClean="0"/>
              <a:t>MA.Martínez</a:t>
            </a:r>
            <a:r>
              <a:rPr lang="es-MX" dirty="0" smtClean="0"/>
              <a:t> del Río, F. (2024). Programación con R. </a:t>
            </a:r>
            <a:r>
              <a:rPr lang="es-MX" dirty="0" err="1" smtClean="0"/>
              <a:t>OpenLibra</a:t>
            </a:r>
            <a:r>
              <a:rPr lang="es-MX" dirty="0" smtClean="0"/>
              <a:t>.</a:t>
            </a:r>
          </a:p>
        </p:txBody>
      </p:sp>
    </p:spTree>
    <p:extLst>
      <p:ext uri="{BB962C8B-B14F-4D97-AF65-F5344CB8AC3E}">
        <p14:creationId xmlns:p14="http://schemas.microsoft.com/office/powerpoint/2010/main" val="416739519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1301</Words>
  <Application>Microsoft Office PowerPoint</Application>
  <PresentationFormat>Panorámica</PresentationFormat>
  <Paragraphs>143</Paragraphs>
  <Slides>8</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Calibri</vt:lpstr>
      <vt:lpstr>Calibri Light</vt:lpstr>
      <vt:lpstr>Open Sans</vt:lpstr>
      <vt:lpstr>Open Sans Bold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Roberto Cahuare</dc:creator>
  <cp:lastModifiedBy>Roberto Cahuare</cp:lastModifiedBy>
  <cp:revision>14</cp:revision>
  <dcterms:created xsi:type="dcterms:W3CDTF">2026-10-02T06:43:00Z</dcterms:created>
  <dcterms:modified xsi:type="dcterms:W3CDTF">2026-10-03T13:21:50Z</dcterms:modified>
</cp:coreProperties>
</file>