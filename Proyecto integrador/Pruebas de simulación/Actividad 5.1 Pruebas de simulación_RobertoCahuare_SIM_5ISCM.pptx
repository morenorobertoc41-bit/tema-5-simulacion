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70" r:id="rId5"/>
    <p:sldId id="260" r:id="rId6"/>
    <p:sldId id="261" r:id="rId7"/>
    <p:sldId id="259" r:id="rId8"/>
    <p:sldId id="262" r:id="rId9"/>
    <p:sldId id="265" r:id="rId10"/>
    <p:sldId id="266" r:id="rId11"/>
    <p:sldId id="264" r:id="rId12"/>
    <p:sldId id="263" r:id="rId13"/>
    <p:sldId id="267" r:id="rId14"/>
    <p:sldId id="269" r:id="rId15"/>
    <p:sldId id="271" r:id="rId16"/>
    <p:sldId id="272"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253591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54600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87D50A45-A266-4CF2-B1E7-C22DFDCBFCE1}"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4110395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87D50A45-A266-4CF2-B1E7-C22DFDCBFCE1}"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633414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87D50A45-A266-4CF2-B1E7-C22DFDCBFCE1}" type="datetimeFigureOut">
              <a:rPr lang="es-MX" smtClean="0"/>
              <a:t>03/10/2026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354039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87D50A45-A266-4CF2-B1E7-C22DFDCBFCE1}" type="datetimeFigureOut">
              <a:rPr lang="es-MX" smtClean="0"/>
              <a:t>03/10/2026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948343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7D50A45-A266-4CF2-B1E7-C22DFDCBFCE1}" type="datetimeFigureOut">
              <a:rPr lang="es-MX" smtClean="0"/>
              <a:t>03/10/2026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3289443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87D50A45-A266-4CF2-B1E7-C22DFDCBFCE1}"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681908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87D50A45-A266-4CF2-B1E7-C22DFDCBFCE1}"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145045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421492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87D50A45-A266-4CF2-B1E7-C22DFDCBFCE1}"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00517D32-69A6-4F41-80DD-6EBDE641E64F}" type="slidenum">
              <a:rPr lang="es-MX" smtClean="0"/>
              <a:t>‹Nº›</a:t>
            </a:fld>
            <a:endParaRPr lang="es-MX"/>
          </a:p>
        </p:txBody>
      </p:sp>
    </p:spTree>
    <p:extLst>
      <p:ext uri="{BB962C8B-B14F-4D97-AF65-F5344CB8AC3E}">
        <p14:creationId xmlns:p14="http://schemas.microsoft.com/office/powerpoint/2010/main" val="228660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50A45-A266-4CF2-B1E7-C22DFDCBFCE1}" type="datetimeFigureOut">
              <a:rPr lang="es-MX" smtClean="0"/>
              <a:t>03/10/2026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17D32-69A6-4F41-80DD-6EBDE641E64F}" type="slidenum">
              <a:rPr lang="es-MX" smtClean="0"/>
              <a:t>‹Nº›</a:t>
            </a:fld>
            <a:endParaRPr lang="es-MX"/>
          </a:p>
        </p:txBody>
      </p:sp>
    </p:spTree>
    <p:extLst>
      <p:ext uri="{BB962C8B-B14F-4D97-AF65-F5344CB8AC3E}">
        <p14:creationId xmlns:p14="http://schemas.microsoft.com/office/powerpoint/2010/main" val="2321238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1661691970"/>
              </p:ext>
            </p:extLst>
          </p:nvPr>
        </p:nvGraphicFramePr>
        <p:xfrm>
          <a:off x="3025815" y="4355456"/>
          <a:ext cx="6407552" cy="621241"/>
        </p:xfrm>
        <a:graphic>
          <a:graphicData uri="http://schemas.openxmlformats.org/drawingml/2006/table">
            <a:tbl>
              <a:tblPr/>
              <a:tblGrid>
                <a:gridCol w="3203776">
                  <a:extLst>
                    <a:ext uri="{9D8B030D-6E8A-4147-A177-3AD203B41FA5}">
                      <a16:colId xmlns:a16="http://schemas.microsoft.com/office/drawing/2014/main" val="3868017447"/>
                    </a:ext>
                  </a:extLst>
                </a:gridCol>
                <a:gridCol w="3203776">
                  <a:extLst>
                    <a:ext uri="{9D8B030D-6E8A-4147-A177-3AD203B41FA5}">
                      <a16:colId xmlns:a16="http://schemas.microsoft.com/office/drawing/2014/main" val="590965609"/>
                    </a:ext>
                  </a:extLst>
                </a:gridCol>
              </a:tblGrid>
              <a:tr h="282067">
                <a:tc>
                  <a:txBody>
                    <a:bodyPr/>
                    <a:lstStyle/>
                    <a:p>
                      <a:r>
                        <a:rPr lang="es-MX" sz="1400"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tc>
                  <a:txBody>
                    <a:bodyPr/>
                    <a:lstStyle/>
                    <a:p>
                      <a:r>
                        <a:rPr lang="es-MX" sz="1400" b="1" dirty="0">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extLst>
                  <a:ext uri="{0D108BD9-81ED-4DB2-BD59-A6C34878D82A}">
                    <a16:rowId xmlns:a16="http://schemas.microsoft.com/office/drawing/2014/main" val="106463554"/>
                  </a:ext>
                </a:extLst>
              </a:tr>
              <a:tr h="316441">
                <a:tc>
                  <a:txBody>
                    <a:bodyPr/>
                    <a:lstStyle/>
                    <a:p>
                      <a:r>
                        <a:rPr lang="es-MX" sz="1400" b="1" dirty="0">
                          <a:effectLst/>
                        </a:rPr>
                        <a:t>ROBERTO CARLOS CAHUARE MORENO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400" b="1" dirty="0">
                          <a:effectLst/>
                        </a:rPr>
                        <a:t>241260048</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67146"/>
                  </a:ext>
                </a:extLst>
              </a:tr>
            </a:tbl>
          </a:graphicData>
        </a:graphic>
      </p:graphicFrame>
      <p:sp>
        <p:nvSpPr>
          <p:cNvPr id="3" name="Freeform 3"/>
          <p:cNvSpPr/>
          <p:nvPr/>
        </p:nvSpPr>
        <p:spPr>
          <a:xfrm>
            <a:off x="993976" y="277999"/>
            <a:ext cx="2490004" cy="983241"/>
          </a:xfrm>
          <a:custGeom>
            <a:avLst/>
            <a:gdLst/>
            <a:ahLst/>
            <a:cxnLst/>
            <a:rect l="l" t="t" r="r" b="b"/>
            <a:pathLst>
              <a:path w="3657995" h="1617378">
                <a:moveTo>
                  <a:pt x="0" y="0"/>
                </a:moveTo>
                <a:lnTo>
                  <a:pt x="3657995" y="0"/>
                </a:lnTo>
                <a:lnTo>
                  <a:pt x="3657995" y="1617378"/>
                </a:lnTo>
                <a:lnTo>
                  <a:pt x="0" y="1617378"/>
                </a:lnTo>
                <a:lnTo>
                  <a:pt x="0" y="0"/>
                </a:lnTo>
                <a:close/>
              </a:path>
            </a:pathLst>
          </a:custGeom>
          <a:blipFill>
            <a:blip r:embed="rId2"/>
            <a:stretch>
              <a:fillRect/>
            </a:stretch>
          </a:blipFill>
        </p:spPr>
      </p:sp>
      <p:sp>
        <p:nvSpPr>
          <p:cNvPr id="4" name="Freeform 4"/>
          <p:cNvSpPr/>
          <p:nvPr/>
        </p:nvSpPr>
        <p:spPr>
          <a:xfrm>
            <a:off x="9433367" y="433953"/>
            <a:ext cx="1569954" cy="1186503"/>
          </a:xfrm>
          <a:custGeom>
            <a:avLst/>
            <a:gdLst/>
            <a:ahLst/>
            <a:cxnLst/>
            <a:rect l="l" t="t" r="r" b="b"/>
            <a:pathLst>
              <a:path w="2777579" h="2263213">
                <a:moveTo>
                  <a:pt x="0" y="0"/>
                </a:moveTo>
                <a:lnTo>
                  <a:pt x="2777579" y="0"/>
                </a:lnTo>
                <a:lnTo>
                  <a:pt x="2777579" y="2263212"/>
                </a:lnTo>
                <a:lnTo>
                  <a:pt x="0" y="2263212"/>
                </a:lnTo>
                <a:lnTo>
                  <a:pt x="0" y="0"/>
                </a:lnTo>
                <a:close/>
              </a:path>
            </a:pathLst>
          </a:custGeom>
          <a:blipFill>
            <a:blip r:embed="rId3"/>
            <a:stretch>
              <a:fillRect/>
            </a:stretch>
          </a:blipFill>
        </p:spPr>
      </p:sp>
      <p:sp>
        <p:nvSpPr>
          <p:cNvPr id="5" name="TextBox 2"/>
          <p:cNvSpPr txBox="1"/>
          <p:nvPr/>
        </p:nvSpPr>
        <p:spPr>
          <a:xfrm>
            <a:off x="405114" y="769620"/>
            <a:ext cx="11460479" cy="6360716"/>
          </a:xfrm>
          <a:prstGeom prst="rect">
            <a:avLst/>
          </a:prstGeom>
        </p:spPr>
        <p:txBody>
          <a:bodyPr wrap="square" lIns="0" tIns="0" rIns="0" bIns="0" rtlCol="0" anchor="t">
            <a:spAutoFit/>
          </a:bodyPr>
          <a:lstStyle/>
          <a:p>
            <a:pPr algn="ctr">
              <a:lnSpc>
                <a:spcPts val="1563"/>
              </a:lnSpc>
            </a:pPr>
            <a:r>
              <a:rPr lang="en-US" sz="1050" b="1" dirty="0">
                <a:solidFill>
                  <a:srgbClr val="000000"/>
                </a:solidFill>
                <a:latin typeface="Open Sans Bold"/>
                <a:ea typeface="Open Sans Bold"/>
                <a:cs typeface="Open Sans Bold"/>
                <a:sym typeface="Open Sans Bold"/>
              </a:rPr>
              <a:t>                        </a:t>
            </a:r>
          </a:p>
          <a:p>
            <a:pPr algn="ctr">
              <a:lnSpc>
                <a:spcPts val="1563"/>
              </a:lnSpc>
            </a:pPr>
            <a:endParaRPr lang="en-US" sz="105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TECNOLÓGICO NACIONAL DE MÉXICO</a:t>
            </a:r>
          </a:p>
          <a:p>
            <a:pPr algn="ctr">
              <a:lnSpc>
                <a:spcPts val="2604"/>
              </a:lnSpc>
            </a:pPr>
            <a:r>
              <a:rPr lang="en-US" sz="1400" b="1" dirty="0">
                <a:solidFill>
                  <a:srgbClr val="000000"/>
                </a:solidFill>
                <a:latin typeface="Open Sans Bold"/>
                <a:ea typeface="Open Sans Bold"/>
                <a:cs typeface="Open Sans Bold"/>
                <a:sym typeface="Open Sans Bold"/>
              </a:rPr>
              <a:t>INSTITUTO TECNOLÓGICO DE FRONTERA COMALAPA</a:t>
            </a:r>
          </a:p>
          <a:p>
            <a:pPr algn="ctr">
              <a:lnSpc>
                <a:spcPts val="2604"/>
              </a:lnSpc>
            </a:pPr>
            <a:r>
              <a:rPr lang="en-US" sz="1400" b="1" dirty="0">
                <a:solidFill>
                  <a:srgbClr val="000000"/>
                </a:solidFill>
                <a:latin typeface="Open Sans Bold"/>
                <a:ea typeface="Open Sans Bold"/>
                <a:cs typeface="Open Sans Bold"/>
                <a:sym typeface="Open Sans Bold"/>
              </a:rPr>
              <a:t>UNIDAD VENUSTIANO CARRANZA</a:t>
            </a:r>
          </a:p>
          <a:p>
            <a:pPr algn="ctr">
              <a:lnSpc>
                <a:spcPts val="1563"/>
              </a:lnSpc>
            </a:pPr>
            <a:endParaRPr lang="en-US" sz="10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“INGENIERÍA EN SISTEMAS COMPUTACIONALES</a:t>
            </a:r>
            <a:r>
              <a:rPr lang="en-US" sz="1400" b="1" dirty="0" smtClean="0">
                <a:solidFill>
                  <a:srgbClr val="000000"/>
                </a:solidFill>
                <a:latin typeface="Open Sans Bold"/>
                <a:ea typeface="Open Sans Bold"/>
                <a:cs typeface="Open Sans Bold"/>
                <a:sym typeface="Open Sans Bold"/>
              </a:rPr>
              <a:t>”</a:t>
            </a:r>
          </a:p>
          <a:p>
            <a:pPr algn="ctr">
              <a:lnSpc>
                <a:spcPts val="2604"/>
              </a:lnSpc>
            </a:pP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“SIMULACION</a:t>
            </a:r>
            <a:r>
              <a:rPr lang="en-US" sz="1400" b="1" dirty="0" smtClean="0">
                <a:solidFill>
                  <a:srgbClr val="000000"/>
                </a:solidFill>
                <a:latin typeface="Open Sans Bold"/>
                <a:ea typeface="Open Sans Bold"/>
                <a:cs typeface="Open Sans Bold"/>
                <a:sym typeface="Open Sans Bold"/>
              </a:rPr>
              <a:t>”</a:t>
            </a: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dirty="0">
                <a:solidFill>
                  <a:srgbClr val="000000"/>
                </a:solidFill>
                <a:latin typeface="Open Sans"/>
                <a:ea typeface="Open Sans"/>
                <a:cs typeface="Open Sans"/>
                <a:sym typeface="Open Sans"/>
              </a:rPr>
              <a:t> QUINTO </a:t>
            </a:r>
            <a:r>
              <a:rPr lang="en-US" sz="1400" dirty="0" smtClean="0">
                <a:solidFill>
                  <a:srgbClr val="000000"/>
                </a:solidFill>
                <a:latin typeface="Open Sans"/>
                <a:ea typeface="Open Sans"/>
                <a:cs typeface="Open Sans"/>
                <a:sym typeface="Open Sans"/>
              </a:rPr>
              <a:t>SEMESTRE</a:t>
            </a:r>
            <a:endParaRPr lang="en-US" sz="14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ACTIVIDAD</a:t>
            </a:r>
          </a:p>
          <a:p>
            <a:pPr algn="ctr">
              <a:lnSpc>
                <a:spcPts val="2604"/>
              </a:lnSpc>
            </a:pPr>
            <a:r>
              <a:rPr lang="en-US" sz="1600" dirty="0" smtClean="0">
                <a:solidFill>
                  <a:srgbClr val="000000"/>
                </a:solidFill>
                <a:latin typeface="Open Sans"/>
                <a:ea typeface="Open Sans"/>
                <a:cs typeface="Open Sans"/>
                <a:sym typeface="Open Sans"/>
              </a:rPr>
              <a:t>PRUEBAS DEL ECENARIO ACTUAL Y DEL ECENARIO MEJORADO</a:t>
            </a: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PROFESOR</a:t>
            </a:r>
          </a:p>
          <a:p>
            <a:pPr algn="ctr">
              <a:lnSpc>
                <a:spcPts val="2604"/>
              </a:lnSpc>
            </a:pPr>
            <a:r>
              <a:rPr lang="en-US" sz="1400" dirty="0">
                <a:solidFill>
                  <a:srgbClr val="000000"/>
                </a:solidFill>
                <a:latin typeface="Open Sans"/>
                <a:ea typeface="Open Sans"/>
                <a:cs typeface="Open Sans"/>
                <a:sym typeface="Open Sans"/>
              </a:rPr>
              <a:t>ING. FRANCISCO JAVIER VELÁZQUEZ MINGO</a:t>
            </a: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                                                                                                  </a:t>
            </a:r>
            <a:r>
              <a:rPr lang="en-US" sz="1400" b="1" dirty="0">
                <a:solidFill>
                  <a:srgbClr val="000000"/>
                </a:solidFill>
                <a:latin typeface="Open Sans Bold"/>
                <a:ea typeface="Open Sans Bold"/>
                <a:cs typeface="Open Sans Bold"/>
                <a:sym typeface="Open Sans Bold"/>
              </a:rPr>
              <a:t>4</a:t>
            </a:r>
            <a:r>
              <a:rPr lang="en-US" sz="1400" b="1" dirty="0" smtClean="0">
                <a:solidFill>
                  <a:srgbClr val="000000"/>
                </a:solidFill>
                <a:latin typeface="Open Sans Bold"/>
                <a:ea typeface="Open Sans Bold"/>
                <a:cs typeface="Open Sans Bold"/>
                <a:sym typeface="Open Sans Bold"/>
              </a:rPr>
              <a:t> </a:t>
            </a:r>
            <a:r>
              <a:rPr lang="en-US" sz="1400" b="1" dirty="0" smtClean="0">
                <a:solidFill>
                  <a:srgbClr val="000000"/>
                </a:solidFill>
                <a:latin typeface="Open Sans Bold"/>
                <a:ea typeface="Open Sans Bold"/>
                <a:cs typeface="Open Sans Bold"/>
                <a:sym typeface="Open Sans Bold"/>
              </a:rPr>
              <a:t>DE OCTUBRE </a:t>
            </a:r>
            <a:r>
              <a:rPr lang="en-US" sz="1400" b="1" dirty="0">
                <a:solidFill>
                  <a:srgbClr val="000000"/>
                </a:solidFill>
                <a:latin typeface="Open Sans Bold"/>
                <a:ea typeface="Open Sans Bold"/>
                <a:cs typeface="Open Sans Bold"/>
                <a:sym typeface="Open Sans Bold"/>
              </a:rPr>
              <a:t>DEL 2026 VENUSTIANO CARRANZA, CHIAPAS</a:t>
            </a:r>
          </a:p>
          <a:p>
            <a:pPr algn="ctr">
              <a:lnSpc>
                <a:spcPts val="1563"/>
              </a:lnSpc>
            </a:pPr>
            <a:endParaRPr lang="en-US" sz="1600" b="1" dirty="0">
              <a:solidFill>
                <a:srgbClr val="000000"/>
              </a:solidFill>
              <a:latin typeface="Open Sans Bold"/>
              <a:ea typeface="Open Sans Bold"/>
              <a:cs typeface="Open Sans Bold"/>
              <a:sym typeface="Open Sans Bold"/>
            </a:endParaRPr>
          </a:p>
          <a:p>
            <a:pPr algn="ctr">
              <a:lnSpc>
                <a:spcPts val="1563"/>
              </a:lnSpc>
            </a:pPr>
            <a:endParaRPr lang="en-US" sz="1600" b="1" dirty="0">
              <a:solidFill>
                <a:srgbClr val="000000"/>
              </a:solidFill>
              <a:latin typeface="Open Sans Bold"/>
              <a:ea typeface="Open Sans Bold"/>
              <a:cs typeface="Open Sans Bold"/>
              <a:sym typeface="Open Sans Bold"/>
            </a:endParaRPr>
          </a:p>
        </p:txBody>
      </p:sp>
    </p:spTree>
    <p:extLst>
      <p:ext uri="{BB962C8B-B14F-4D97-AF65-F5344CB8AC3E}">
        <p14:creationId xmlns:p14="http://schemas.microsoft.com/office/powerpoint/2010/main" val="128483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INTRODUCCIÓN</a:t>
            </a:r>
            <a:endParaRPr lang="es-MX" sz="2800" b="1" dirty="0">
              <a:latin typeface="Arial" panose="020B0604020202020204" pitchFamily="34" charset="0"/>
              <a:cs typeface="Arial" panose="020B0604020202020204" pitchFamily="34" charset="0"/>
            </a:endParaRPr>
          </a:p>
        </p:txBody>
      </p:sp>
      <p:sp>
        <p:nvSpPr>
          <p:cNvPr id="5" name="CuadroTexto 4"/>
          <p:cNvSpPr txBox="1"/>
          <p:nvPr/>
        </p:nvSpPr>
        <p:spPr>
          <a:xfrm>
            <a:off x="1238491" y="141556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simulación de procesos es una herramienta metodológica fundamental en la gestión de operaciones, ya que permite modelar sistemas del mundo real para analizar su comportamiento dinámico bajo diferentes condiciones. En el ámbito de la gestión de talleres y centros de servicio tecnológico, la optimización del flujo de trabajo es clave para garantizar la eficiencia operativa. Mediante el uso de herramientas de modelado y simulación, este proyecto evalúa el rendimiento operativo de un taller de electrónica procesando un lote de dispositivos con una tasa de error o re-trabajo del 20%. A través de la comparación sistemática entre el escenario actual y un escenario mejorado enfocado en la reasignación de recursos y capacidad técnica, es posible evidenciar el impacto directo de las decisiones estratégicas sobre los tiempos de ciclo, la formación de colas, los niveles de utilización del personal y la disipación de cuellos de botella.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487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38491" y="1415560"/>
            <a:ext cx="9676436" cy="4247317"/>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la práctica profesional y académica, los procesos productivos o de servicio suelen presentar ineficiencias ocultas que no son evidentes a simple vista. Modificar la capacidad operativa de un taller en un entorno real conlleva costos financieros, riesgos de interrupción y pérdida de productividad. Por ello, la simulación de programas y procesos se vuelve indispensable: permite experimentar en un entorno virtual y seguro para justificar la necesidad de cambios estructurales. Analizar métricas cuantitativas como los tiempos totales de procesamiento, la reducción de colas en las estaciones de trabajo, el balance en la utilización del personal técnico y la resolución de cuellos de botella críticos (específicamente en el área de reparación) proporciona la evidencia empírica y formal necesaria para respaldar propuestas de mejora continua.</a:t>
            </a:r>
            <a:endParaRPr lang="es-MX" dirty="0">
              <a:latin typeface="Arial" panose="020B0604020202020204" pitchFamily="34" charset="0"/>
              <a:cs typeface="Arial" panose="020B0604020202020204" pitchFamily="34" charset="0"/>
            </a:endParaRPr>
          </a:p>
        </p:txBody>
      </p:sp>
      <p:sp>
        <p:nvSpPr>
          <p:cNvPr id="3" name="CuadroTexto 2"/>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JUSTIFICACIÓN</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32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7284" y="931982"/>
            <a:ext cx="9676436" cy="5493812"/>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Objetivo General: Evaluar y comparar el desempeño operativo de un taller de electrónica entre el escenario actual y un escenario mejorado mediante pruebas de simulación de procesos, con el fin de demostrar el impacto de la optimización de recursos en la eficiencia global del sistema.  </a:t>
            </a:r>
          </a:p>
          <a:p>
            <a:pPr algn="just">
              <a:lnSpc>
                <a:spcPct val="150000"/>
              </a:lnSpc>
            </a:pPr>
            <a:r>
              <a:rPr lang="es-MX" dirty="0" smtClean="0">
                <a:latin typeface="Arial" panose="020B0604020202020204" pitchFamily="34" charset="0"/>
                <a:cs typeface="Arial" panose="020B0604020202020204" pitchFamily="34" charset="0"/>
              </a:rPr>
              <a:t>Objetivos Específicos:</a:t>
            </a:r>
          </a:p>
          <a:p>
            <a:pPr algn="just">
              <a:lnSpc>
                <a:spcPct val="150000"/>
              </a:lnSpc>
            </a:pPr>
            <a:r>
              <a:rPr lang="es-MX" dirty="0" smtClean="0">
                <a:latin typeface="Arial" panose="020B0604020202020204" pitchFamily="34" charset="0"/>
                <a:cs typeface="Arial" panose="020B0604020202020204" pitchFamily="34" charset="0"/>
              </a:rPr>
              <a:t>Medir y contrastar los tiempos totales de completitud y los tiempos promedio de procesamiento de los dispositivos en ambos escenarios.  </a:t>
            </a:r>
          </a:p>
          <a:p>
            <a:pPr algn="just">
              <a:lnSpc>
                <a:spcPct val="150000"/>
              </a:lnSpc>
            </a:pPr>
            <a:r>
              <a:rPr lang="es-MX" dirty="0" smtClean="0">
                <a:latin typeface="Arial" panose="020B0604020202020204" pitchFamily="34" charset="0"/>
                <a:cs typeface="Arial" panose="020B0604020202020204" pitchFamily="34" charset="0"/>
              </a:rPr>
              <a:t>Analizar el comportamiento de las colas y filas de espera acumuladas en las diferentes estaciones del flujo de trabajo.   </a:t>
            </a:r>
          </a:p>
          <a:p>
            <a:pPr algn="just">
              <a:lnSpc>
                <a:spcPct val="150000"/>
              </a:lnSpc>
            </a:pPr>
            <a:r>
              <a:rPr lang="es-MX" dirty="0" smtClean="0">
                <a:latin typeface="Arial" panose="020B0604020202020204" pitchFamily="34" charset="0"/>
                <a:cs typeface="Arial" panose="020B0604020202020204" pitchFamily="34" charset="0"/>
              </a:rPr>
              <a:t>Examinar los niveles de utilización del personal técnico asignado para identificar desbalances en las cargas de trabajo.   </a:t>
            </a:r>
          </a:p>
          <a:p>
            <a:pPr algn="just">
              <a:lnSpc>
                <a:spcPct val="150000"/>
              </a:lnSpc>
            </a:pPr>
            <a:r>
              <a:rPr lang="es-MX" dirty="0" smtClean="0">
                <a:latin typeface="Arial" panose="020B0604020202020204" pitchFamily="34" charset="0"/>
                <a:cs typeface="Arial" panose="020B0604020202020204" pitchFamily="34" charset="0"/>
              </a:rPr>
              <a:t>Identificar y evaluar la mitigación de los cuellos de botella operativos, especialmente en las etapas de mayor exigencia como la reparación y el re-trabajo.</a:t>
            </a:r>
            <a:endParaRPr lang="es-MX" dirty="0">
              <a:latin typeface="Arial" panose="020B0604020202020204" pitchFamily="34" charset="0"/>
              <a:cs typeface="Arial" panose="020B0604020202020204" pitchFamily="34" charset="0"/>
            </a:endParaRPr>
          </a:p>
        </p:txBody>
      </p:sp>
      <p:sp>
        <p:nvSpPr>
          <p:cNvPr id="3" name="CuadroTexto 2"/>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OBJETIVOS</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3558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96816" y="29014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ECENARIO ACTUAL DEL TALLER DE ELECTRONICA</a:t>
            </a:r>
            <a:endParaRPr lang="es-MX" sz="2800" b="1" dirty="0">
              <a:latin typeface="Arial" panose="020B0604020202020204" pitchFamily="34" charset="0"/>
              <a:cs typeface="Arial" panose="020B0604020202020204" pitchFamily="34" charset="0"/>
            </a:endParaRPr>
          </a:p>
        </p:txBody>
      </p:sp>
      <p:pic>
        <p:nvPicPr>
          <p:cNvPr id="3" name="Imagen 2"/>
          <p:cNvPicPr/>
          <p:nvPr/>
        </p:nvPicPr>
        <p:blipFill>
          <a:blip r:embed="rId2" cstate="print">
            <a:extLst>
              <a:ext uri="{28A0092B-C50C-407E-A947-70E740481C1C}">
                <a14:useLocalDpi xmlns:a14="http://schemas.microsoft.com/office/drawing/2010/main" val="0"/>
              </a:ext>
            </a:extLst>
          </a:blip>
          <a:stretch>
            <a:fillRect/>
          </a:stretch>
        </p:blipFill>
        <p:spPr>
          <a:xfrm>
            <a:off x="2604461" y="963054"/>
            <a:ext cx="7284947" cy="3678393"/>
          </a:xfrm>
          <a:prstGeom prst="rect">
            <a:avLst/>
          </a:prstGeom>
        </p:spPr>
      </p:pic>
      <p:sp>
        <p:nvSpPr>
          <p:cNvPr id="4" name="CuadroTexto 3"/>
          <p:cNvSpPr txBox="1"/>
          <p:nvPr/>
        </p:nvSpPr>
        <p:spPr>
          <a:xfrm>
            <a:off x="2604460" y="4791135"/>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actual del taller de electrónica, se observa en ejecución la distribución de los recursos individuales (Técnico 1 en Recepción y Entrega, Técnico 2 en Diagnóstico y Pruebas de Calidad, y Técnico 3 en Reparación), mostrando de forma gráfica las filas de espera acumuladas entre las estaciones (como se aprecia en el flujo hacia la etapa de reparación) y un total de 2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9691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96816" y="29014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ECENARIO MEJORADO DEL TALLER DE ELECTRONICA</a:t>
            </a:r>
            <a:endParaRPr lang="es-MX" sz="2800" b="1" dirty="0">
              <a:latin typeface="Arial" panose="020B0604020202020204" pitchFamily="34" charset="0"/>
              <a:cs typeface="Arial" panose="020B0604020202020204" pitchFamily="34" charset="0"/>
            </a:endParaRPr>
          </a:p>
        </p:txBody>
      </p:sp>
      <p:pic>
        <p:nvPicPr>
          <p:cNvPr id="4" name="Imagen 3"/>
          <p:cNvPicPr/>
          <p:nvPr/>
        </p:nvPicPr>
        <p:blipFill>
          <a:blip r:embed="rId2" cstate="print">
            <a:extLst>
              <a:ext uri="{28A0092B-C50C-407E-A947-70E740481C1C}">
                <a14:useLocalDpi xmlns:a14="http://schemas.microsoft.com/office/drawing/2010/main" val="0"/>
              </a:ext>
            </a:extLst>
          </a:blip>
          <a:stretch>
            <a:fillRect/>
          </a:stretch>
        </p:blipFill>
        <p:spPr>
          <a:xfrm>
            <a:off x="2709496" y="997463"/>
            <a:ext cx="6896100" cy="3456305"/>
          </a:xfrm>
          <a:prstGeom prst="rect">
            <a:avLst/>
          </a:prstGeom>
        </p:spPr>
      </p:pic>
      <p:sp>
        <p:nvSpPr>
          <p:cNvPr id="6" name="CuadroTexto 5"/>
          <p:cNvSpPr txBox="1"/>
          <p:nvPr/>
        </p:nvSpPr>
        <p:spPr>
          <a:xfrm>
            <a:off x="2515072" y="4637865"/>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se observa en ejecución la optimización de los recursos (como la asignación de múltiples técnicos especializados en la estación de reparación), lo que permite procesar los equipos con mayor fluidez, reducir drásticamente las filas de espera acumuladas y alcanzar un rendimiento superior reflejado en los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88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Imagen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6200" y="994731"/>
            <a:ext cx="4528038" cy="366854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COMPARACIÓN DE TIEMPOS ECENARIO ACTUAL </a:t>
            </a:r>
            <a:endParaRPr lang="es-MX" sz="2800" b="1" dirty="0">
              <a:latin typeface="Arial" panose="020B0604020202020204" pitchFamily="34" charset="0"/>
              <a:cs typeface="Arial" panose="020B0604020202020204" pitchFamily="34" charset="0"/>
            </a:endParaRPr>
          </a:p>
        </p:txBody>
      </p:sp>
      <p:sp>
        <p:nvSpPr>
          <p:cNvPr id="6" name="CuadroTexto 5"/>
          <p:cNvSpPr txBox="1"/>
          <p:nvPr/>
        </p:nvSpPr>
        <p:spPr>
          <a:xfrm>
            <a:off x="2507745" y="4663274"/>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se observa en ejecución la optimización de los recursos (como la asignación de múltiples técnicos especializados en la estación de reparación), lo que permite procesar los equipos con mayor fluidez, reducir drásticamente las filas de espera acumuladas y alcanzar un rendimiento superior reflejado en los equipos completados en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389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COMPARACIÓN DE TIEMPOS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235621" y="760613"/>
            <a:ext cx="7829196" cy="3892065"/>
          </a:xfrm>
          <a:prstGeom prst="rect">
            <a:avLst/>
          </a:prstGeom>
        </p:spPr>
      </p:pic>
      <p:sp>
        <p:nvSpPr>
          <p:cNvPr id="4" name="CuadroTexto 3"/>
          <p:cNvSpPr txBox="1"/>
          <p:nvPr/>
        </p:nvSpPr>
        <p:spPr>
          <a:xfrm>
            <a:off x="2426722" y="4929492"/>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del taller de electrónica, procesar el lote completo de 50 equipos (manteniendo la misma estructura de etapas y el 20% de re-trabajo) arroja un tiempo promedio total optimizado de 141 min, lo que evidencia una mejora significativa en los tiempos de entrega en comparación con el escenario anterior.</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7934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COLAS ECENARIO ACTUAL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955100" y="760613"/>
            <a:ext cx="6390237" cy="4159291"/>
          </a:xfrm>
          <a:prstGeom prst="rect">
            <a:avLst/>
          </a:prstGeom>
        </p:spPr>
      </p:pic>
      <p:sp>
        <p:nvSpPr>
          <p:cNvPr id="4" name="CuadroTexto 3"/>
          <p:cNvSpPr txBox="1"/>
          <p:nvPr/>
        </p:nvSpPr>
        <p:spPr>
          <a:xfrm>
            <a:off x="2507744" y="5091538"/>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escenario actual del taller de electrónica, la visualización muestra una larga acumulación de colas y filas de espera en el flujo intermedio (específicamente antes de la estación de reparación), donde múltiples dispositivos quedan retenidos aguardando su turno para ser atendidos por el recurso disponible.</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6014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COLAS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1923399" y="942147"/>
            <a:ext cx="8453640" cy="3769492"/>
          </a:xfrm>
          <a:prstGeom prst="rect">
            <a:avLst/>
          </a:prstGeom>
        </p:spPr>
      </p:pic>
      <p:sp>
        <p:nvSpPr>
          <p:cNvPr id="4" name="CuadroTexto 3"/>
          <p:cNvSpPr txBox="1"/>
          <p:nvPr/>
        </p:nvSpPr>
        <p:spPr>
          <a:xfrm>
            <a:off x="2507745" y="4893173"/>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se observa una reducción notable en la acumulación de colas y filas de espera antes de la estación de reparación, donde un grupo mucho más reducido de dispositivos (como los números 16, 17 y 18) permanece en espera, lo que evidencia una mayor fluidez en el procesamiento del flujo de trabajo.</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5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UTILIZACIÓN ECENARIO ACTUAL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4822337" y="976232"/>
            <a:ext cx="2655764" cy="3826101"/>
          </a:xfrm>
          <a:prstGeom prst="rect">
            <a:avLst/>
          </a:prstGeom>
        </p:spPr>
      </p:pic>
      <p:sp>
        <p:nvSpPr>
          <p:cNvPr id="4" name="CuadroTexto 3"/>
          <p:cNvSpPr txBox="1"/>
          <p:nvPr/>
        </p:nvSpPr>
        <p:spPr>
          <a:xfrm>
            <a:off x="2426722" y="5017952"/>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panel de utilización del personal técnico para el escenario actual, se observa que el Técnico 1 (Recepción y Entrega) se encuentra libre con una carga actual nula, mientras que el Técnico 2 (Diagnóstico y Calidad) y el Técnico 3 (Especialista en Reparación) se encuentran ocupados atendiendo las tareas de diagnóstico técnico y de reparación o mantenimiento, respectivamente.</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330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UTILIZACIÓN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1989336" y="1471431"/>
            <a:ext cx="8321761" cy="2225233"/>
          </a:xfrm>
          <a:prstGeom prst="rect">
            <a:avLst/>
          </a:prstGeom>
        </p:spPr>
      </p:pic>
      <p:sp>
        <p:nvSpPr>
          <p:cNvPr id="4" name="CuadroTexto 3"/>
          <p:cNvSpPr txBox="1"/>
          <p:nvPr/>
        </p:nvSpPr>
        <p:spPr>
          <a:xfrm>
            <a:off x="2507742" y="4068828"/>
            <a:ext cx="7284947" cy="954107"/>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panel de utilización del personal técnico para el escenario mejorado, se refleja la distribución de las cargas de trabajo (manteniendo al Técnico 1 libre, al Técnico 2 ocupado en diagnóstico técnico y mostrando el soporte especializado en la estación de reparación y mantenimiento con la designación de múltiples recursos).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258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CUELLOS DE BOTELLA EN EL ECENARIO ACTUAL </a:t>
            </a:r>
            <a:endParaRPr lang="es-MX" sz="2800" b="1"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168834" y="760613"/>
            <a:ext cx="5962769" cy="4556868"/>
          </a:xfrm>
          <a:prstGeom prst="rect">
            <a:avLst/>
          </a:prstGeom>
        </p:spPr>
      </p:pic>
      <p:sp>
        <p:nvSpPr>
          <p:cNvPr id="5" name="CuadroTexto 4"/>
          <p:cNvSpPr txBox="1"/>
          <p:nvPr/>
        </p:nvSpPr>
        <p:spPr>
          <a:xfrm>
            <a:off x="2507744" y="5363647"/>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el escenario actual, la visualización del proceso muestra de forma evidente que el cuello de botella crítico se concentra en la estación de 3. Reparación, donde se genera una fuerte acumulación de dispositivos en espera debido a que el tiempo de procesamiento de esta etapa (45 minutos) supera la velocidad de flujo de las estaciones previas, evidenciando el punto de saturación del sistema.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3113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00100" y="23739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CUELLOS DE BOTELLA EN EL ECENARIO MEJORADO </a:t>
            </a:r>
            <a:endParaRPr lang="es-MX" sz="28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2444943" y="760613"/>
            <a:ext cx="7410552" cy="4380849"/>
          </a:xfrm>
          <a:prstGeom prst="rect">
            <a:avLst/>
          </a:prstGeom>
        </p:spPr>
      </p:pic>
      <p:sp>
        <p:nvSpPr>
          <p:cNvPr id="4" name="CuadroTexto 3"/>
          <p:cNvSpPr txBox="1"/>
          <p:nvPr/>
        </p:nvSpPr>
        <p:spPr>
          <a:xfrm>
            <a:off x="2507744" y="5363647"/>
            <a:ext cx="7284947" cy="1169551"/>
          </a:xfrm>
          <a:prstGeom prst="rect">
            <a:avLst/>
          </a:prstGeom>
          <a:noFill/>
        </p:spPr>
        <p:txBody>
          <a:bodyPr wrap="square" rtlCol="0">
            <a:spAutoFit/>
          </a:bodyPr>
          <a:lstStyle/>
          <a:p>
            <a:pPr algn="just"/>
            <a:r>
              <a:rPr lang="es-MX" sz="1400" dirty="0" smtClean="0">
                <a:latin typeface="Arial" panose="020B0604020202020204" pitchFamily="34" charset="0"/>
                <a:cs typeface="Arial" panose="020B0604020202020204" pitchFamily="34" charset="0"/>
              </a:rPr>
              <a:t>En la simulación del escenario mejorado, se observa que la asignación de múltiples recursos en la estación de 3. Reparación mitiga de manera efectiva el cuello de botella identificado en el escenario previo, logrando disipar las largas filas de espera y permitiendo un flujo de trabajo mucho más equilibrado hacia las pruebas de calidad y el área de salida.</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77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CONCLUSIÓN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247284" y="931982"/>
            <a:ext cx="9676436" cy="4196020"/>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conclusión, las pruebas de simulación realizadas demuestran de manera categórica que la configuración tradicional de los procesos es altamente vulnerable a la saturación operativa cuando se enfrenta a restricciones de personal y tasas de re-trabajo constantes. El análisis comparativo revela que el escenario mejorado no solo optimiza de forma drástica los tiempos de entrega y reduce las colas de espera, sino que también equilibra de manera eficiente la utilización de los recursos técnicos, disipando el cuello de botella crítico en la estación de reparación. En consecuencia, se concluye que el uso de modelos de simulación es una práctica metodológica vital para la ingeniería de procesos, ya que transforma datos operativos complejos en evidencia clara, facilitando la toma de decisiones informadas para el diseño de sistemas de trabajo más productivos, ágiles y rentables.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0444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0777" y="32531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FUENTES DE CONSULTA</a:t>
            </a:r>
            <a:endParaRPr lang="es-MX" sz="2800" b="1" dirty="0">
              <a:latin typeface="Arial" panose="020B0604020202020204" pitchFamily="34" charset="0"/>
              <a:cs typeface="Arial" panose="020B0604020202020204" pitchFamily="34" charset="0"/>
            </a:endParaRPr>
          </a:p>
        </p:txBody>
      </p:sp>
      <p:sp>
        <p:nvSpPr>
          <p:cNvPr id="5" name="CuadroTexto 4"/>
          <p:cNvSpPr txBox="1"/>
          <p:nvPr/>
        </p:nvSpPr>
        <p:spPr>
          <a:xfrm>
            <a:off x="1141775" y="1125413"/>
            <a:ext cx="10639917" cy="5078313"/>
          </a:xfrm>
          <a:prstGeom prst="rect">
            <a:avLst/>
          </a:prstGeom>
          <a:noFill/>
        </p:spPr>
        <p:txBody>
          <a:bodyPr wrap="square" rtlCol="0">
            <a:spAutoFit/>
          </a:bodyPr>
          <a:lstStyle/>
          <a:p>
            <a:pPr algn="just">
              <a:lnSpc>
                <a:spcPct val="150000"/>
              </a:lnSpc>
            </a:pPr>
            <a:r>
              <a:rPr lang="es-MX" dirty="0" smtClean="0">
                <a:cs typeface="Arial" panose="020B0604020202020204" pitchFamily="34" charset="0"/>
              </a:rPr>
              <a:t>Chase, R. B., </a:t>
            </a:r>
            <a:r>
              <a:rPr lang="es-MX" dirty="0" err="1" smtClean="0">
                <a:cs typeface="Arial" panose="020B0604020202020204" pitchFamily="34" charset="0"/>
              </a:rPr>
              <a:t>Jacobs</a:t>
            </a:r>
            <a:r>
              <a:rPr lang="es-MX" dirty="0" smtClean="0">
                <a:cs typeface="Arial" panose="020B0604020202020204" pitchFamily="34" charset="0"/>
              </a:rPr>
              <a:t>, F. R., &amp; </a:t>
            </a:r>
            <a:r>
              <a:rPr lang="es-MX" dirty="0" err="1" smtClean="0">
                <a:cs typeface="Arial" panose="020B0604020202020204" pitchFamily="34" charset="0"/>
              </a:rPr>
              <a:t>Aquilano</a:t>
            </a:r>
            <a:r>
              <a:rPr lang="es-MX" dirty="0" smtClean="0">
                <a:cs typeface="Arial" panose="020B0604020202020204" pitchFamily="34" charset="0"/>
              </a:rPr>
              <a:t>, N. J. (2009). Administración de operaciones: Producción y cadena de suministros (12.ª ed.). McGraw-Hill.</a:t>
            </a:r>
          </a:p>
          <a:p>
            <a:pPr algn="just">
              <a:lnSpc>
                <a:spcPct val="150000"/>
              </a:lnSpc>
            </a:pPr>
            <a:endParaRPr lang="es-MX" dirty="0">
              <a:cs typeface="Arial" panose="020B0604020202020204" pitchFamily="34" charset="0"/>
            </a:endParaRPr>
          </a:p>
          <a:p>
            <a:pPr algn="just">
              <a:lnSpc>
                <a:spcPct val="150000"/>
              </a:lnSpc>
            </a:pPr>
            <a:r>
              <a:rPr lang="es-MX" dirty="0" smtClean="0">
                <a:cs typeface="Arial" panose="020B0604020202020204" pitchFamily="34" charset="0"/>
              </a:rPr>
              <a:t>García </a:t>
            </a:r>
            <a:r>
              <a:rPr lang="es-MX" dirty="0" err="1" smtClean="0">
                <a:cs typeface="Arial" panose="020B0604020202020204" pitchFamily="34" charset="0"/>
              </a:rPr>
              <a:t>Dunna</a:t>
            </a:r>
            <a:r>
              <a:rPr lang="es-MX" dirty="0" smtClean="0">
                <a:cs typeface="Arial" panose="020B0604020202020204" pitchFamily="34" charset="0"/>
              </a:rPr>
              <a:t>, E. (2006). Simulación y análisis de modelos </a:t>
            </a:r>
            <a:r>
              <a:rPr lang="es-MX" dirty="0" err="1" smtClean="0">
                <a:cs typeface="Arial" panose="020B0604020202020204" pitchFamily="34" charset="0"/>
              </a:rPr>
              <a:t>stocásticos</a:t>
            </a:r>
            <a:r>
              <a:rPr lang="es-MX" dirty="0" smtClean="0">
                <a:cs typeface="Arial" panose="020B0604020202020204" pitchFamily="34" charset="0"/>
              </a:rPr>
              <a:t> (2.ª ed.) Thomson.</a:t>
            </a:r>
          </a:p>
          <a:p>
            <a:pPr algn="just">
              <a:lnSpc>
                <a:spcPct val="150000"/>
              </a:lnSpc>
            </a:pPr>
            <a:endParaRPr lang="es-MX" dirty="0" smtClean="0">
              <a:cs typeface="Arial" panose="020B0604020202020204" pitchFamily="34" charset="0"/>
            </a:endParaRPr>
          </a:p>
          <a:p>
            <a:pPr algn="just">
              <a:lnSpc>
                <a:spcPct val="150000"/>
              </a:lnSpc>
            </a:pPr>
            <a:r>
              <a:rPr lang="es-MX" dirty="0" err="1" smtClean="0">
                <a:cs typeface="Arial" panose="020B0604020202020204" pitchFamily="34" charset="0"/>
              </a:rPr>
              <a:t>Krajewski</a:t>
            </a:r>
            <a:r>
              <a:rPr lang="es-MX" dirty="0" smtClean="0">
                <a:cs typeface="Arial" panose="020B0604020202020204" pitchFamily="34" charset="0"/>
              </a:rPr>
              <a:t>, L. J., </a:t>
            </a:r>
            <a:r>
              <a:rPr lang="es-MX" dirty="0" err="1" smtClean="0">
                <a:cs typeface="Arial" panose="020B0604020202020204" pitchFamily="34" charset="0"/>
              </a:rPr>
              <a:t>Ritzman</a:t>
            </a:r>
            <a:r>
              <a:rPr lang="es-MX" dirty="0" smtClean="0">
                <a:cs typeface="Arial" panose="020B0604020202020204" pitchFamily="34" charset="0"/>
              </a:rPr>
              <a:t>, L. P., &amp; </a:t>
            </a:r>
            <a:r>
              <a:rPr lang="es-MX" dirty="0" err="1" smtClean="0">
                <a:cs typeface="Arial" panose="020B0604020202020204" pitchFamily="34" charset="0"/>
              </a:rPr>
              <a:t>Malhotra</a:t>
            </a:r>
            <a:r>
              <a:rPr lang="es-MX" dirty="0" smtClean="0">
                <a:cs typeface="Arial" panose="020B0604020202020204" pitchFamily="34" charset="0"/>
              </a:rPr>
              <a:t>, M. K. (2013). Administración de operaciones: Procesos y cadena de valor (10.ª ed.). Pearson Educación.</a:t>
            </a:r>
          </a:p>
          <a:p>
            <a:pPr algn="just">
              <a:lnSpc>
                <a:spcPct val="150000"/>
              </a:lnSpc>
            </a:pPr>
            <a:endParaRPr lang="es-MX" dirty="0">
              <a:cs typeface="Arial" panose="020B0604020202020204" pitchFamily="34" charset="0"/>
            </a:endParaRPr>
          </a:p>
          <a:p>
            <a:pPr algn="just">
              <a:lnSpc>
                <a:spcPct val="150000"/>
              </a:lnSpc>
            </a:pPr>
            <a:r>
              <a:rPr lang="es-MX" dirty="0" err="1" smtClean="0">
                <a:cs typeface="Arial" panose="020B0604020202020204" pitchFamily="34" charset="0"/>
              </a:rPr>
              <a:t>Nahmias</a:t>
            </a:r>
            <a:r>
              <a:rPr lang="es-MX" dirty="0" smtClean="0">
                <a:cs typeface="Arial" panose="020B0604020202020204" pitchFamily="34" charset="0"/>
              </a:rPr>
              <a:t>, S. (2014). Análisis de la producción y las operaciones (6.ª ed.). </a:t>
            </a:r>
            <a:r>
              <a:rPr lang="es-MX" dirty="0" err="1" smtClean="0">
                <a:cs typeface="Arial" panose="020B0604020202020204" pitchFamily="34" charset="0"/>
              </a:rPr>
              <a:t>Cengage</a:t>
            </a:r>
            <a:r>
              <a:rPr lang="es-MX" dirty="0" smtClean="0">
                <a:cs typeface="Arial" panose="020B0604020202020204" pitchFamily="34" charset="0"/>
              </a:rPr>
              <a:t> </a:t>
            </a:r>
            <a:r>
              <a:rPr lang="es-MX" dirty="0" err="1" smtClean="0">
                <a:cs typeface="Arial" panose="020B0604020202020204" pitchFamily="34" charset="0"/>
              </a:rPr>
              <a:t>Learning</a:t>
            </a:r>
            <a:r>
              <a:rPr lang="es-MX" dirty="0" smtClean="0">
                <a:cs typeface="Arial" panose="020B0604020202020204" pitchFamily="34" charset="0"/>
              </a:rPr>
              <a:t>.</a:t>
            </a:r>
          </a:p>
          <a:p>
            <a:pPr algn="just">
              <a:lnSpc>
                <a:spcPct val="150000"/>
              </a:lnSpc>
            </a:pPr>
            <a:endParaRPr lang="es-MX" dirty="0">
              <a:cs typeface="Arial" panose="020B0604020202020204" pitchFamily="34" charset="0"/>
            </a:endParaRPr>
          </a:p>
          <a:p>
            <a:pPr algn="just">
              <a:lnSpc>
                <a:spcPct val="150000"/>
              </a:lnSpc>
            </a:pPr>
            <a:r>
              <a:rPr lang="es-MX" dirty="0" err="1" smtClean="0">
                <a:cs typeface="Arial" panose="020B0604020202020204" pitchFamily="34" charset="0"/>
              </a:rPr>
              <a:t>Render</a:t>
            </a:r>
            <a:r>
              <a:rPr lang="es-MX" dirty="0" smtClean="0">
                <a:cs typeface="Arial" panose="020B0604020202020204" pitchFamily="34" charset="0"/>
              </a:rPr>
              <a:t>, B., </a:t>
            </a:r>
            <a:r>
              <a:rPr lang="es-MX" dirty="0" err="1" smtClean="0">
                <a:cs typeface="Arial" panose="020B0604020202020204" pitchFamily="34" charset="0"/>
              </a:rPr>
              <a:t>Stair</a:t>
            </a:r>
            <a:r>
              <a:rPr lang="es-MX" dirty="0" smtClean="0">
                <a:cs typeface="Arial" panose="020B0604020202020204" pitchFamily="34" charset="0"/>
              </a:rPr>
              <a:t>, R. M., &amp; </a:t>
            </a:r>
            <a:r>
              <a:rPr lang="es-MX" dirty="0" err="1" smtClean="0">
                <a:cs typeface="Arial" panose="020B0604020202020204" pitchFamily="34" charset="0"/>
              </a:rPr>
              <a:t>Hanna</a:t>
            </a:r>
            <a:r>
              <a:rPr lang="es-MX" dirty="0" smtClean="0">
                <a:cs typeface="Arial" panose="020B0604020202020204" pitchFamily="34" charset="0"/>
              </a:rPr>
              <a:t>, M. E. (2012). Métodos cuantitativos para los negocios (11.ª ed.). Pearson Educación.</a:t>
            </a:r>
            <a:endParaRPr lang="es-MX" dirty="0">
              <a:cs typeface="Arial" panose="020B0604020202020204" pitchFamily="34" charset="0"/>
            </a:endParaRPr>
          </a:p>
        </p:txBody>
      </p:sp>
    </p:spTree>
    <p:extLst>
      <p:ext uri="{BB962C8B-B14F-4D97-AF65-F5344CB8AC3E}">
        <p14:creationId xmlns:p14="http://schemas.microsoft.com/office/powerpoint/2010/main" val="287290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TotalTime>
  <Words>1480</Words>
  <Application>Microsoft Office PowerPoint</Application>
  <PresentationFormat>Panorámica</PresentationFormat>
  <Paragraphs>66</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Open Sans</vt:lpstr>
      <vt:lpstr>Open Sans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Roberto Cahuare</dc:creator>
  <cp:lastModifiedBy>Roberto Cahuare</cp:lastModifiedBy>
  <cp:revision>19</cp:revision>
  <dcterms:created xsi:type="dcterms:W3CDTF">2026-10-01T14:32:01Z</dcterms:created>
  <dcterms:modified xsi:type="dcterms:W3CDTF">2026-10-03T13:29:18Z</dcterms:modified>
</cp:coreProperties>
</file>